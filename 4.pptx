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idea: we are not building another navigation app. We are building a safety layer that predicts when an ambulance mission is about to miss its arrival target, explains why, and recommends an intervention while it can still be prevented. The card on the right is a preview of the core demo: the same ambulance moving from stable to critical before it is actually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Delay is not one event. It accumulates across dispatch, travel to scene, scene time, travel to hospital, and handover. Indian 108 data shows scene-to-hospital travel averaging 39 minutes against a 30-minute benchmark, and handover alone averaging 11 minutes. Routing tools only optimise the route term. The opportunity is to detect that a mission is drifting toward failure before the target is actually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user is the dispatcher in the command centre, because they can act on a warning. Crews, ED teams, traffic authorities and administrators each receive a different slice of the output. On why it matters: be careful with the claim. We do not say each minute causes a fixed mortality rise. We say time-critical conditions lose treatment window to delay, and handover delay is common and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Google Maps and Apple Maps already use live traffic, so we never claim they don't. OSRM is our routing foundation, not a competitor. Fleet tracking shows where a vehicle is, and ETA models say when it arrives. None of them combine the mission target, hospital queue, clinical priority and a recommended action. That gap is our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is four AI layers on top of an existing routing engine: predict, explain, simulate what-ifs, and recommend an action. Arrival failure is defined probabilistically, so we can raise a flag before the ETA itself crosses the target. The model stays binary, and the dashboard converts probability into three operational states. Targets are parameters, not hard-coded rules; the 15% threshold is our prototype setting, not a statutory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loop left to right, then prove it with one scenario. At dispatch the stroke mission looks fine. Five minutes later a downstream slowdown starts propagating and risk rises to 58 percent. Three minutes after that, the destination ED reports a queue, and risk hits 87 percent, while the ambulance is still technically on time. The system compares drive time plus handover for eligible hospitals and recommends a stroke-capable alternative that saves about 16 minutes to care. The dispatcher approves, and the loop keeps re-predicting.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differentiation is the question we answer. Routing answers where to go and ETA models answer when you arrive. We answer whether the mission will fail, why, by how much, whether a route or hospital change prevents it, and what to do now. The matrix is deliberately fair: maps do handle live traffic and show alternatives. The unique parts are destination-aware estimates that include ED handover, cause attribution, and clinically constrained hospital options.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build the prototype on a real road network and real weather, with historical or simulated ambulance traces and synthetic hospital congestion, so we don't need a live fleet. One network outputs failure probability, minutes late, and cause scores, with losses chosen for rare failures and noisy ETAs. We don't just claim the GNN is better: we compare against median ETA, XGBoost and LSTM baselines, and replay historical trips as if live. The headline metric is lead time: how many minutes before the real failure did we warn, and how much delay would the recommendation have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image" Target="../media/image-7-18.png"/><Relationship Id="rId19" Type="http://schemas.openxmlformats.org/officeDocument/2006/relationships/image" Target="../media/image-7-19.png"/><Relationship Id="rId20" Type="http://schemas.openxmlformats.org/officeDocument/2006/relationships/image" Target="../media/image-7-20.png"/><Relationship Id="rId21" Type="http://schemas.openxmlformats.org/officeDocument/2006/relationships/image" Target="../media/image-7-21.png"/><Relationship Id="rId22" Type="http://schemas.openxmlformats.org/officeDocument/2006/relationships/image" Target="../media/image-7-22.png"/><Relationship Id="rId23" Type="http://schemas.openxmlformats.org/officeDocument/2006/relationships/image" Target="../media/image-7-23.png"/><Relationship Id="rId24" Type="http://schemas.openxmlformats.org/officeDocument/2006/relationships/image" Target="../media/image-7-24.png"/><Relationship Id="rId25" Type="http://schemas.openxmlformats.org/officeDocument/2006/relationships/image" Target="../media/image-7-25.png"/><Relationship Id="rId26" Type="http://schemas.openxmlformats.org/officeDocument/2006/relationships/image" Target="../media/image-7-26.png"/><Relationship Id="rId27" Type="http://schemas.openxmlformats.org/officeDocument/2006/relationships/image" Target="../media/image-7-27.png"/><Relationship Id="rId28" Type="http://schemas.openxmlformats.org/officeDocument/2006/relationships/slideLayout" Target="../slideLayouts/slideLayout1.xml"/><Relationship Id="rId2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61C"/>
        </a:solidFill>
      </p:bgPr>
    </p:bg>
    <p:spTree>
      <p:nvGrpSpPr>
        <p:cNvPr id="1" name=""/>
        <p:cNvGrpSpPr/>
        <p:nvPr/>
      </p:nvGrpSpPr>
      <p:grpSpPr>
        <a:xfrm>
          <a:off x="0" y="0"/>
          <a:ext cx="0" cy="0"/>
          <a:chOff x="0" y="0"/>
          <a:chExt cx="0" cy="0"/>
        </a:xfrm>
      </p:grpSpPr>
      <p:sp>
        <p:nvSpPr>
          <p:cNvPr id="2" name="Shape 0"/>
          <p:cNvSpPr/>
          <p:nvPr/>
        </p:nvSpPr>
        <p:spPr>
          <a:xfrm>
            <a:off x="548640" y="457200"/>
            <a:ext cx="109728" cy="109728"/>
          </a:xfrm>
          <a:prstGeom prst="ellipse">
            <a:avLst/>
          </a:prstGeom>
          <a:solidFill>
            <a:srgbClr val="2FA36B"/>
          </a:solidFill>
          <a:ln w="12700">
            <a:solidFill>
              <a:srgbClr val="2FA36B"/>
            </a:solidFill>
            <a:prstDash val="solid"/>
          </a:ln>
        </p:spPr>
      </p:sp>
      <p:sp>
        <p:nvSpPr>
          <p:cNvPr id="3" name="Shape 1"/>
          <p:cNvSpPr/>
          <p:nvPr/>
        </p:nvSpPr>
        <p:spPr>
          <a:xfrm>
            <a:off x="722376" y="457200"/>
            <a:ext cx="109728" cy="109728"/>
          </a:xfrm>
          <a:prstGeom prst="ellipse">
            <a:avLst/>
          </a:prstGeom>
          <a:solidFill>
            <a:srgbClr val="F2A52B"/>
          </a:solidFill>
          <a:ln w="12700">
            <a:solidFill>
              <a:srgbClr val="F2A52B"/>
            </a:solidFill>
            <a:prstDash val="solid"/>
          </a:ln>
        </p:spPr>
      </p:sp>
      <p:sp>
        <p:nvSpPr>
          <p:cNvPr id="4" name="Shape 2"/>
          <p:cNvSpPr/>
          <p:nvPr/>
        </p:nvSpPr>
        <p:spPr>
          <a:xfrm>
            <a:off x="896112" y="457200"/>
            <a:ext cx="109728" cy="109728"/>
          </a:xfrm>
          <a:prstGeom prst="ellipse">
            <a:avLst/>
          </a:prstGeom>
          <a:solidFill>
            <a:srgbClr val="E03E3E"/>
          </a:solidFill>
          <a:ln w="12700">
            <a:solidFill>
              <a:srgbClr val="E03E3E"/>
            </a:solidFill>
            <a:prstDash val="solid"/>
          </a:ln>
        </p:spPr>
      </p:sp>
      <p:sp>
        <p:nvSpPr>
          <p:cNvPr id="5" name="Text 3"/>
          <p:cNvSpPr txBox="1"/>
          <p:nvPr/>
        </p:nvSpPr>
        <p:spPr>
          <a:xfrm>
            <a:off x="1170432" y="393192"/>
            <a:ext cx="7315200" cy="237744"/>
          </a:xfrm>
          <a:prstGeom prst="rect">
            <a:avLst/>
          </a:prstGeom>
          <a:noFill/>
          <a:ln/>
        </p:spPr>
        <p:txBody>
          <a:bodyPr wrap="square" lIns="0" tIns="0" rIns="0" bIns="0" rtlCol="0" anchor="ctr"/>
          <a:lstStyle/>
          <a:p>
            <a:pPr indent="0" marL="0">
              <a:buNone/>
            </a:pPr>
            <a:r>
              <a:rPr lang="en-US" sz="1100" b="1" spc="200" kern="0" dirty="0">
                <a:solidFill>
                  <a:srgbClr val="9DA7B3"/>
                </a:solidFill>
                <a:latin typeface="Arial" pitchFamily="34" charset="0"/>
                <a:ea typeface="Arial" pitchFamily="34" charset="-122"/>
                <a:cs typeface="Arial" pitchFamily="34" charset="-120"/>
              </a:rPr>
              <a:t>HEALTHCARE  ·  MOBILITY  ·  AI</a:t>
            </a:r>
            <a:endParaRPr lang="en-US" sz="1100" dirty="0"/>
          </a:p>
        </p:txBody>
      </p:sp>
      <p:sp>
        <p:nvSpPr>
          <p:cNvPr id="6" name="Text 4"/>
          <p:cNvSpPr txBox="1"/>
          <p:nvPr/>
        </p:nvSpPr>
        <p:spPr>
          <a:xfrm>
            <a:off x="548640" y="1234440"/>
            <a:ext cx="6949440" cy="14173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Predict Ambulance Arrival Failure Before It Happens</a:t>
            </a:r>
            <a:endParaRPr lang="en-US" sz="4000" dirty="0"/>
          </a:p>
        </p:txBody>
      </p:sp>
      <p:sp>
        <p:nvSpPr>
          <p:cNvPr id="7" name="Text 5"/>
          <p:cNvSpPr txBox="1"/>
          <p:nvPr/>
        </p:nvSpPr>
        <p:spPr>
          <a:xfrm>
            <a:off x="548640" y="2834640"/>
            <a:ext cx="6583680" cy="914400"/>
          </a:xfrm>
          <a:prstGeom prst="rect">
            <a:avLst/>
          </a:prstGeom>
          <a:noFill/>
          <a:ln/>
        </p:spPr>
        <p:txBody>
          <a:bodyPr wrap="square" lIns="0" tIns="0" rIns="0" bIns="0" rtlCol="0" anchor="t"/>
          <a:lstStyle/>
          <a:p>
            <a:pPr indent="0" marL="0">
              <a:buNone/>
            </a:pPr>
            <a:r>
              <a:rPr lang="en-US" sz="1800" dirty="0">
                <a:solidFill>
                  <a:srgbClr val="9DA7B3"/>
                </a:solidFill>
                <a:latin typeface="Calibri" pitchFamily="34" charset="0"/>
                <a:ea typeface="Calibri" pitchFamily="34" charset="-122"/>
                <a:cs typeface="Calibri" pitchFamily="34" charset="-120"/>
              </a:rPr>
              <a:t>A predictive EMS safety layer that forecasts a missed arrival target, explains why, and recommends an intervention while there is still time to act.</a:t>
            </a:r>
            <a:endParaRPr lang="en-US" sz="1800" dirty="0"/>
          </a:p>
        </p:txBody>
      </p:sp>
      <p:sp>
        <p:nvSpPr>
          <p:cNvPr id="8" name="Text 6"/>
          <p:cNvSpPr txBox="1"/>
          <p:nvPr/>
        </p:nvSpPr>
        <p:spPr>
          <a:xfrm>
            <a:off x="548640" y="4114800"/>
            <a:ext cx="3108960" cy="228600"/>
          </a:xfrm>
          <a:prstGeom prst="rect">
            <a:avLst/>
          </a:prstGeom>
          <a:noFill/>
          <a:ln/>
        </p:spPr>
        <p:txBody>
          <a:bodyPr wrap="square" lIns="0" tIns="0" rIns="0" bIns="0" rtlCol="0" anchor="ctr"/>
          <a:lstStyle/>
          <a:p>
            <a:pPr indent="0" marL="0">
              <a:buNone/>
            </a:pPr>
            <a:r>
              <a:rPr lang="en-US" sz="1000" b="1" spc="200" kern="0" dirty="0">
                <a:solidFill>
                  <a:srgbClr val="9DA7B3"/>
                </a:solidFill>
                <a:latin typeface="Arial" pitchFamily="34" charset="0"/>
                <a:ea typeface="Arial" pitchFamily="34" charset="-122"/>
                <a:cs typeface="Arial" pitchFamily="34" charset="-120"/>
              </a:rPr>
              <a:t>THEME / TRACK</a:t>
            </a:r>
            <a:endParaRPr lang="en-US" sz="1000" dirty="0"/>
          </a:p>
        </p:txBody>
      </p:sp>
      <p:sp>
        <p:nvSpPr>
          <p:cNvPr id="9" name="Text 7"/>
          <p:cNvSpPr txBox="1"/>
          <p:nvPr/>
        </p:nvSpPr>
        <p:spPr>
          <a:xfrm>
            <a:off x="548640" y="4370832"/>
            <a:ext cx="310896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Healthcare / Mobility / AI</a:t>
            </a:r>
            <a:endParaRPr lang="en-US" sz="1800" dirty="0"/>
          </a:p>
        </p:txBody>
      </p:sp>
      <p:sp>
        <p:nvSpPr>
          <p:cNvPr id="10" name="Text 8"/>
          <p:cNvSpPr txBox="1"/>
          <p:nvPr/>
        </p:nvSpPr>
        <p:spPr>
          <a:xfrm>
            <a:off x="3840480" y="4114800"/>
            <a:ext cx="3108960" cy="228600"/>
          </a:xfrm>
          <a:prstGeom prst="rect">
            <a:avLst/>
          </a:prstGeom>
          <a:noFill/>
          <a:ln/>
        </p:spPr>
        <p:txBody>
          <a:bodyPr wrap="square" lIns="0" tIns="0" rIns="0" bIns="0" rtlCol="0" anchor="ctr"/>
          <a:lstStyle/>
          <a:p>
            <a:pPr indent="0" marL="0">
              <a:buNone/>
            </a:pPr>
            <a:r>
              <a:rPr lang="en-US" sz="1000" b="1" spc="200" kern="0" dirty="0">
                <a:solidFill>
                  <a:srgbClr val="9DA7B3"/>
                </a:solidFill>
                <a:latin typeface="Arial" pitchFamily="34" charset="0"/>
                <a:ea typeface="Arial" pitchFamily="34" charset="-122"/>
                <a:cs typeface="Arial" pitchFamily="34" charset="-120"/>
              </a:rPr>
              <a:t>TEAM NAME</a:t>
            </a:r>
            <a:endParaRPr lang="en-US" sz="1000" dirty="0"/>
          </a:p>
        </p:txBody>
      </p:sp>
      <p:sp>
        <p:nvSpPr>
          <p:cNvPr id="11" name="Text 9"/>
          <p:cNvSpPr txBox="1"/>
          <p:nvPr/>
        </p:nvSpPr>
        <p:spPr>
          <a:xfrm>
            <a:off x="3840480" y="4370832"/>
            <a:ext cx="310896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Your Team Name</a:t>
            </a:r>
            <a:endParaRPr lang="en-US" sz="1800" dirty="0"/>
          </a:p>
        </p:txBody>
      </p:sp>
      <p:sp>
        <p:nvSpPr>
          <p:cNvPr id="12" name="Text 10"/>
          <p:cNvSpPr txBox="1"/>
          <p:nvPr/>
        </p:nvSpPr>
        <p:spPr>
          <a:xfrm>
            <a:off x="548640" y="4983480"/>
            <a:ext cx="3108960" cy="228600"/>
          </a:xfrm>
          <a:prstGeom prst="rect">
            <a:avLst/>
          </a:prstGeom>
          <a:noFill/>
          <a:ln/>
        </p:spPr>
        <p:txBody>
          <a:bodyPr wrap="square" lIns="0" tIns="0" rIns="0" bIns="0" rtlCol="0" anchor="ctr"/>
          <a:lstStyle/>
          <a:p>
            <a:pPr indent="0" marL="0">
              <a:buNone/>
            </a:pPr>
            <a:r>
              <a:rPr lang="en-US" sz="1000" b="1" spc="200" kern="0" dirty="0">
                <a:solidFill>
                  <a:srgbClr val="9DA7B3"/>
                </a:solidFill>
                <a:latin typeface="Arial" pitchFamily="34" charset="0"/>
                <a:ea typeface="Arial" pitchFamily="34" charset="-122"/>
                <a:cs typeface="Arial" pitchFamily="34" charset="-120"/>
              </a:rPr>
              <a:t>TEAM MEMBERS</a:t>
            </a:r>
            <a:endParaRPr lang="en-US" sz="1000" dirty="0"/>
          </a:p>
        </p:txBody>
      </p:sp>
      <p:sp>
        <p:nvSpPr>
          <p:cNvPr id="13" name="Text 11"/>
          <p:cNvSpPr txBox="1"/>
          <p:nvPr/>
        </p:nvSpPr>
        <p:spPr>
          <a:xfrm>
            <a:off x="548640" y="5239512"/>
            <a:ext cx="6766560" cy="3657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Pramod Sai Tavva   ·   Member 2   ·   Member 3   ·   Member 4</a:t>
            </a:r>
            <a:endParaRPr lang="en-US" sz="1600" dirty="0"/>
          </a:p>
        </p:txBody>
      </p:sp>
      <p:sp>
        <p:nvSpPr>
          <p:cNvPr id="14" name="Shape 12"/>
          <p:cNvSpPr/>
          <p:nvPr/>
        </p:nvSpPr>
        <p:spPr>
          <a:xfrm>
            <a:off x="7818120" y="1051560"/>
            <a:ext cx="3822192" cy="5029200"/>
          </a:xfrm>
          <a:prstGeom prst="roundRect">
            <a:avLst>
              <a:gd name="adj" fmla="val 2871"/>
            </a:avLst>
          </a:prstGeom>
          <a:solidFill>
            <a:srgbClr val="1E252E"/>
          </a:solidFill>
          <a:ln w="12700">
            <a:solidFill>
              <a:srgbClr val="2C3440"/>
            </a:solidFill>
            <a:prstDash val="solid"/>
          </a:ln>
        </p:spPr>
      </p:sp>
      <p:sp>
        <p:nvSpPr>
          <p:cNvPr id="15" name="Shape 13"/>
          <p:cNvSpPr/>
          <p:nvPr/>
        </p:nvSpPr>
        <p:spPr>
          <a:xfrm>
            <a:off x="8092440" y="1325880"/>
            <a:ext cx="566928" cy="566928"/>
          </a:xfrm>
          <a:prstGeom prst="ellipse">
            <a:avLst/>
          </a:prstGeom>
          <a:solidFill>
            <a:srgbClr val="E03E3E"/>
          </a:solidFill>
          <a:ln w="12700">
            <a:solidFill>
              <a:srgbClr val="E03E3E"/>
            </a:solidFill>
            <a:prstDash val="solid"/>
          </a:ln>
        </p:spPr>
      </p:sp>
      <p:pic>
        <p:nvPicPr>
          <p:cNvPr id="16" name="Image 0" descr="preencoded.png">    </p:cNvPr>
          <p:cNvPicPr>
            <a:picLocks noChangeAspect="1"/>
          </p:cNvPicPr>
          <p:nvPr/>
        </p:nvPicPr>
        <p:blipFill>
          <a:blip r:embed="rId1"/>
          <a:stretch>
            <a:fillRect/>
          </a:stretch>
        </p:blipFill>
        <p:spPr>
          <a:xfrm>
            <a:off x="8234172" y="1467612"/>
            <a:ext cx="283464" cy="283464"/>
          </a:xfrm>
          <a:prstGeom prst="rect">
            <a:avLst/>
          </a:prstGeom>
        </p:spPr>
      </p:pic>
      <p:sp>
        <p:nvSpPr>
          <p:cNvPr id="17" name="Text 14"/>
          <p:cNvSpPr txBox="1"/>
          <p:nvPr/>
        </p:nvSpPr>
        <p:spPr>
          <a:xfrm>
            <a:off x="8823960" y="1325880"/>
            <a:ext cx="2560320" cy="310896"/>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AMB-204</a:t>
            </a:r>
            <a:endParaRPr lang="en-US" sz="1800" dirty="0"/>
          </a:p>
        </p:txBody>
      </p:sp>
      <p:sp>
        <p:nvSpPr>
          <p:cNvPr id="18" name="Text 15"/>
          <p:cNvSpPr txBox="1"/>
          <p:nvPr/>
        </p:nvSpPr>
        <p:spPr>
          <a:xfrm>
            <a:off x="8823960" y="1636776"/>
            <a:ext cx="2651760" cy="256032"/>
          </a:xfrm>
          <a:prstGeom prst="rect">
            <a:avLst/>
          </a:prstGeom>
          <a:noFill/>
          <a:ln/>
        </p:spPr>
        <p:txBody>
          <a:bodyPr wrap="square" lIns="0" tIns="0" rIns="0" bIns="0" rtlCol="0" anchor="ctr"/>
          <a:lstStyle/>
          <a:p>
            <a:pPr indent="0" marL="0">
              <a:buNone/>
            </a:pPr>
            <a:r>
              <a:rPr lang="en-US" sz="1250" dirty="0">
                <a:solidFill>
                  <a:srgbClr val="9DA7B3"/>
                </a:solidFill>
                <a:latin typeface="Calibri" pitchFamily="34" charset="0"/>
                <a:ea typeface="Calibri" pitchFamily="34" charset="-122"/>
                <a:cs typeface="Calibri" pitchFamily="34" charset="-120"/>
              </a:rPr>
              <a:t>Suspected stroke  ·  Target 20 min</a:t>
            </a:r>
            <a:endParaRPr lang="en-US" sz="1250" dirty="0"/>
          </a:p>
        </p:txBody>
      </p:sp>
      <p:sp>
        <p:nvSpPr>
          <p:cNvPr id="19" name="Shape 16"/>
          <p:cNvSpPr/>
          <p:nvPr/>
        </p:nvSpPr>
        <p:spPr>
          <a:xfrm>
            <a:off x="8193024" y="2468880"/>
            <a:ext cx="0" cy="1280160"/>
          </a:xfrm>
          <a:prstGeom prst="line">
            <a:avLst/>
          </a:prstGeom>
          <a:noFill/>
          <a:ln w="25400">
            <a:solidFill>
              <a:srgbClr val="2C3440"/>
            </a:solidFill>
            <a:prstDash val="solid"/>
          </a:ln>
        </p:spPr>
      </p:sp>
      <p:sp>
        <p:nvSpPr>
          <p:cNvPr id="20" name="Shape 17"/>
          <p:cNvSpPr/>
          <p:nvPr/>
        </p:nvSpPr>
        <p:spPr>
          <a:xfrm>
            <a:off x="8092440" y="2331720"/>
            <a:ext cx="201168" cy="201168"/>
          </a:xfrm>
          <a:prstGeom prst="ellipse">
            <a:avLst/>
          </a:prstGeom>
          <a:solidFill>
            <a:srgbClr val="2FA36B"/>
          </a:solidFill>
          <a:ln w="25400">
            <a:solidFill>
              <a:srgbClr val="1E252E"/>
            </a:solidFill>
            <a:prstDash val="solid"/>
          </a:ln>
        </p:spPr>
      </p:sp>
      <p:sp>
        <p:nvSpPr>
          <p:cNvPr id="21" name="Text 18"/>
          <p:cNvSpPr txBox="1"/>
          <p:nvPr/>
        </p:nvSpPr>
        <p:spPr>
          <a:xfrm>
            <a:off x="8503920" y="2295144"/>
            <a:ext cx="1005840" cy="274320"/>
          </a:xfrm>
          <a:prstGeom prst="rect">
            <a:avLst/>
          </a:prstGeom>
          <a:noFill/>
          <a:ln/>
        </p:spPr>
        <p:txBody>
          <a:bodyPr wrap="square" lIns="0" tIns="0" rIns="0" bIns="0" rtlCol="0" anchor="ctr"/>
          <a:lstStyle/>
          <a:p>
            <a:pPr indent="0" marL="0">
              <a:buNone/>
            </a:pPr>
            <a:r>
              <a:rPr lang="en-US" sz="1250" dirty="0">
                <a:solidFill>
                  <a:srgbClr val="9DA7B3"/>
                </a:solidFill>
                <a:latin typeface="Calibri" pitchFamily="34" charset="0"/>
                <a:ea typeface="Calibri" pitchFamily="34" charset="-122"/>
                <a:cs typeface="Calibri" pitchFamily="34" charset="-120"/>
              </a:rPr>
              <a:t>Dispatch</a:t>
            </a:r>
            <a:endParaRPr lang="en-US" sz="1250" dirty="0"/>
          </a:p>
        </p:txBody>
      </p:sp>
      <p:sp>
        <p:nvSpPr>
          <p:cNvPr id="22" name="Text 19"/>
          <p:cNvSpPr txBox="1"/>
          <p:nvPr/>
        </p:nvSpPr>
        <p:spPr>
          <a:xfrm>
            <a:off x="9555480" y="2295144"/>
            <a:ext cx="1097280" cy="274320"/>
          </a:xfrm>
          <a:prstGeom prst="rect">
            <a:avLst/>
          </a:prstGeom>
          <a:noFill/>
          <a:ln/>
        </p:spPr>
        <p:txBody>
          <a:bodyPr wrap="square" lIns="0" tIns="0" rIns="0" bIns="0" rtlCol="0" anchor="ctr"/>
          <a:lstStyle/>
          <a:p>
            <a:pPr indent="0" marL="0">
              <a:buNone/>
            </a:pPr>
            <a:r>
              <a:rPr lang="en-US" sz="1400" b="1" dirty="0">
                <a:solidFill>
                  <a:srgbClr val="2FA36B"/>
                </a:solidFill>
                <a:latin typeface="Calibri" pitchFamily="34" charset="0"/>
                <a:ea typeface="Calibri" pitchFamily="34" charset="-122"/>
                <a:cs typeface="Calibri" pitchFamily="34" charset="-120"/>
              </a:rPr>
              <a:t>Stable</a:t>
            </a:r>
            <a:endParaRPr lang="en-US" sz="1400" dirty="0"/>
          </a:p>
        </p:txBody>
      </p:sp>
      <p:sp>
        <p:nvSpPr>
          <p:cNvPr id="23" name="Text 20"/>
          <p:cNvSpPr txBox="1"/>
          <p:nvPr/>
        </p:nvSpPr>
        <p:spPr>
          <a:xfrm>
            <a:off x="10561320" y="2295144"/>
            <a:ext cx="804672" cy="274320"/>
          </a:xfrm>
          <a:prstGeom prst="rect">
            <a:avLst/>
          </a:prstGeom>
          <a:noFill/>
          <a:ln/>
        </p:spPr>
        <p:txBody>
          <a:bodyPr wrap="square" lIns="0" tIns="0" rIns="0" bIns="0" rtlCol="0" anchor="ctr"/>
          <a:lstStyle/>
          <a:p>
            <a:pPr algn="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4" name="Shape 21"/>
          <p:cNvSpPr/>
          <p:nvPr/>
        </p:nvSpPr>
        <p:spPr>
          <a:xfrm>
            <a:off x="8092440" y="2971800"/>
            <a:ext cx="201168" cy="201168"/>
          </a:xfrm>
          <a:prstGeom prst="ellipse">
            <a:avLst/>
          </a:prstGeom>
          <a:solidFill>
            <a:srgbClr val="F2A52B"/>
          </a:solidFill>
          <a:ln w="25400">
            <a:solidFill>
              <a:srgbClr val="1E252E"/>
            </a:solidFill>
            <a:prstDash val="solid"/>
          </a:ln>
        </p:spPr>
      </p:sp>
      <p:sp>
        <p:nvSpPr>
          <p:cNvPr id="25" name="Text 22"/>
          <p:cNvSpPr txBox="1"/>
          <p:nvPr/>
        </p:nvSpPr>
        <p:spPr>
          <a:xfrm>
            <a:off x="8503920" y="2935224"/>
            <a:ext cx="1005840" cy="274320"/>
          </a:xfrm>
          <a:prstGeom prst="rect">
            <a:avLst/>
          </a:prstGeom>
          <a:noFill/>
          <a:ln/>
        </p:spPr>
        <p:txBody>
          <a:bodyPr wrap="square" lIns="0" tIns="0" rIns="0" bIns="0" rtlCol="0" anchor="ctr"/>
          <a:lstStyle/>
          <a:p>
            <a:pPr indent="0" marL="0">
              <a:buNone/>
            </a:pPr>
            <a:r>
              <a:rPr lang="en-US" sz="1250" dirty="0">
                <a:solidFill>
                  <a:srgbClr val="9DA7B3"/>
                </a:solidFill>
                <a:latin typeface="Calibri" pitchFamily="34" charset="0"/>
                <a:ea typeface="Calibri" pitchFamily="34" charset="-122"/>
                <a:cs typeface="Calibri" pitchFamily="34" charset="-120"/>
              </a:rPr>
              <a:t>+5 min</a:t>
            </a:r>
            <a:endParaRPr lang="en-US" sz="1250" dirty="0"/>
          </a:p>
        </p:txBody>
      </p:sp>
      <p:sp>
        <p:nvSpPr>
          <p:cNvPr id="26" name="Text 23"/>
          <p:cNvSpPr txBox="1"/>
          <p:nvPr/>
        </p:nvSpPr>
        <p:spPr>
          <a:xfrm>
            <a:off x="9555480" y="2935224"/>
            <a:ext cx="1097280" cy="274320"/>
          </a:xfrm>
          <a:prstGeom prst="rect">
            <a:avLst/>
          </a:prstGeom>
          <a:noFill/>
          <a:ln/>
        </p:spPr>
        <p:txBody>
          <a:bodyPr wrap="square" lIns="0" tIns="0" rIns="0" bIns="0" rtlCol="0" anchor="ctr"/>
          <a:lstStyle/>
          <a:p>
            <a:pPr indent="0" marL="0">
              <a:buNone/>
            </a:pPr>
            <a:r>
              <a:rPr lang="en-US" sz="1400" b="1" dirty="0">
                <a:solidFill>
                  <a:srgbClr val="F2A52B"/>
                </a:solidFill>
                <a:latin typeface="Calibri" pitchFamily="34" charset="0"/>
                <a:ea typeface="Calibri" pitchFamily="34" charset="-122"/>
                <a:cs typeface="Calibri" pitchFamily="34" charset="-120"/>
              </a:rPr>
              <a:t>At risk</a:t>
            </a:r>
            <a:endParaRPr lang="en-US" sz="1400" dirty="0"/>
          </a:p>
        </p:txBody>
      </p:sp>
      <p:sp>
        <p:nvSpPr>
          <p:cNvPr id="27" name="Text 24"/>
          <p:cNvSpPr txBox="1"/>
          <p:nvPr/>
        </p:nvSpPr>
        <p:spPr>
          <a:xfrm>
            <a:off x="10561320" y="2935224"/>
            <a:ext cx="804672" cy="274320"/>
          </a:xfrm>
          <a:prstGeom prst="rect">
            <a:avLst/>
          </a:prstGeom>
          <a:noFill/>
          <a:ln/>
        </p:spPr>
        <p:txBody>
          <a:bodyPr wrap="square" lIns="0" tIns="0" rIns="0" bIns="0" rtlCol="0" anchor="ctr"/>
          <a:lstStyle/>
          <a:p>
            <a:pPr algn="r" indent="0" marL="0">
              <a:buNone/>
            </a:pPr>
            <a:r>
              <a:rPr lang="en-US" sz="1500" b="1" dirty="0">
                <a:solidFill>
                  <a:srgbClr val="FFFFFF"/>
                </a:solidFill>
                <a:latin typeface="Calibri" pitchFamily="34" charset="0"/>
                <a:ea typeface="Calibri" pitchFamily="34" charset="-122"/>
                <a:cs typeface="Calibri" pitchFamily="34" charset="-120"/>
              </a:rPr>
              <a:t>58%</a:t>
            </a:r>
            <a:endParaRPr lang="en-US" sz="1500" dirty="0"/>
          </a:p>
        </p:txBody>
      </p:sp>
      <p:sp>
        <p:nvSpPr>
          <p:cNvPr id="28" name="Shape 25"/>
          <p:cNvSpPr/>
          <p:nvPr/>
        </p:nvSpPr>
        <p:spPr>
          <a:xfrm>
            <a:off x="8092440" y="3611880"/>
            <a:ext cx="201168" cy="201168"/>
          </a:xfrm>
          <a:prstGeom prst="ellipse">
            <a:avLst/>
          </a:prstGeom>
          <a:solidFill>
            <a:srgbClr val="E03E3E"/>
          </a:solidFill>
          <a:ln w="25400">
            <a:solidFill>
              <a:srgbClr val="1E252E"/>
            </a:solidFill>
            <a:prstDash val="solid"/>
          </a:ln>
        </p:spPr>
      </p:sp>
      <p:sp>
        <p:nvSpPr>
          <p:cNvPr id="29" name="Text 26"/>
          <p:cNvSpPr txBox="1"/>
          <p:nvPr/>
        </p:nvSpPr>
        <p:spPr>
          <a:xfrm>
            <a:off x="8503920" y="3575304"/>
            <a:ext cx="1005840" cy="274320"/>
          </a:xfrm>
          <a:prstGeom prst="rect">
            <a:avLst/>
          </a:prstGeom>
          <a:noFill/>
          <a:ln/>
        </p:spPr>
        <p:txBody>
          <a:bodyPr wrap="square" lIns="0" tIns="0" rIns="0" bIns="0" rtlCol="0" anchor="ctr"/>
          <a:lstStyle/>
          <a:p>
            <a:pPr indent="0" marL="0">
              <a:buNone/>
            </a:pPr>
            <a:r>
              <a:rPr lang="en-US" sz="1250" dirty="0">
                <a:solidFill>
                  <a:srgbClr val="9DA7B3"/>
                </a:solidFill>
                <a:latin typeface="Calibri" pitchFamily="34" charset="0"/>
                <a:ea typeface="Calibri" pitchFamily="34" charset="-122"/>
                <a:cs typeface="Calibri" pitchFamily="34" charset="-120"/>
              </a:rPr>
              <a:t>+8 min</a:t>
            </a:r>
            <a:endParaRPr lang="en-US" sz="1250" dirty="0"/>
          </a:p>
        </p:txBody>
      </p:sp>
      <p:sp>
        <p:nvSpPr>
          <p:cNvPr id="30" name="Text 27"/>
          <p:cNvSpPr txBox="1"/>
          <p:nvPr/>
        </p:nvSpPr>
        <p:spPr>
          <a:xfrm>
            <a:off x="9555480" y="3575304"/>
            <a:ext cx="1097280" cy="274320"/>
          </a:xfrm>
          <a:prstGeom prst="rect">
            <a:avLst/>
          </a:prstGeom>
          <a:noFill/>
          <a:ln/>
        </p:spPr>
        <p:txBody>
          <a:bodyPr wrap="square" lIns="0" tIns="0" rIns="0" bIns="0" rtlCol="0" anchor="ctr"/>
          <a:lstStyle/>
          <a:p>
            <a:pPr indent="0" marL="0">
              <a:buNone/>
            </a:pPr>
            <a:r>
              <a:rPr lang="en-US" sz="1400" b="1" dirty="0">
                <a:solidFill>
                  <a:srgbClr val="E03E3E"/>
                </a:solidFill>
                <a:latin typeface="Calibri" pitchFamily="34" charset="0"/>
                <a:ea typeface="Calibri" pitchFamily="34" charset="-122"/>
                <a:cs typeface="Calibri" pitchFamily="34" charset="-120"/>
              </a:rPr>
              <a:t>Critical</a:t>
            </a:r>
            <a:endParaRPr lang="en-US" sz="1400" dirty="0"/>
          </a:p>
        </p:txBody>
      </p:sp>
      <p:sp>
        <p:nvSpPr>
          <p:cNvPr id="31" name="Text 28"/>
          <p:cNvSpPr txBox="1"/>
          <p:nvPr/>
        </p:nvSpPr>
        <p:spPr>
          <a:xfrm>
            <a:off x="10561320" y="3575304"/>
            <a:ext cx="804672" cy="274320"/>
          </a:xfrm>
          <a:prstGeom prst="rect">
            <a:avLst/>
          </a:prstGeom>
          <a:noFill/>
          <a:ln/>
        </p:spPr>
        <p:txBody>
          <a:bodyPr wrap="square" lIns="0" tIns="0" rIns="0" bIns="0" rtlCol="0" anchor="ctr"/>
          <a:lstStyle/>
          <a:p>
            <a:pPr algn="r" indent="0" marL="0">
              <a:buNone/>
            </a:pPr>
            <a:r>
              <a:rPr lang="en-US" sz="1500" b="1" dirty="0">
                <a:solidFill>
                  <a:srgbClr val="FFFFFF"/>
                </a:solidFill>
                <a:latin typeface="Calibri" pitchFamily="34" charset="0"/>
                <a:ea typeface="Calibri" pitchFamily="34" charset="-122"/>
                <a:cs typeface="Calibri" pitchFamily="34" charset="-120"/>
              </a:rPr>
              <a:t>87%</a:t>
            </a:r>
            <a:endParaRPr lang="en-US" sz="1500" dirty="0"/>
          </a:p>
        </p:txBody>
      </p:sp>
      <p:sp>
        <p:nvSpPr>
          <p:cNvPr id="32" name="Shape 29"/>
          <p:cNvSpPr/>
          <p:nvPr/>
        </p:nvSpPr>
        <p:spPr>
          <a:xfrm>
            <a:off x="8092440" y="4297680"/>
            <a:ext cx="3273552" cy="0"/>
          </a:xfrm>
          <a:prstGeom prst="line">
            <a:avLst/>
          </a:prstGeom>
          <a:noFill/>
          <a:ln w="12700">
            <a:solidFill>
              <a:srgbClr val="2C3440"/>
            </a:solidFill>
            <a:prstDash val="solid"/>
          </a:ln>
        </p:spPr>
      </p:sp>
      <p:sp>
        <p:nvSpPr>
          <p:cNvPr id="33" name="Text 30"/>
          <p:cNvSpPr txBox="1"/>
          <p:nvPr/>
        </p:nvSpPr>
        <p:spPr>
          <a:xfrm>
            <a:off x="8092440" y="4480560"/>
            <a:ext cx="1828800" cy="228600"/>
          </a:xfrm>
          <a:prstGeom prst="rect">
            <a:avLst/>
          </a:prstGeom>
          <a:noFill/>
          <a:ln/>
        </p:spPr>
        <p:txBody>
          <a:bodyPr wrap="square" lIns="0" tIns="0" rIns="0" bIns="0" rtlCol="0" anchor="ctr"/>
          <a:lstStyle/>
          <a:p>
            <a:pPr indent="0" marL="0">
              <a:buNone/>
            </a:pPr>
            <a:r>
              <a:rPr lang="en-US" sz="1000" b="1" spc="200" kern="0" dirty="0">
                <a:solidFill>
                  <a:srgbClr val="9DA7B3"/>
                </a:solidFill>
                <a:latin typeface="Arial" pitchFamily="34" charset="0"/>
                <a:ea typeface="Arial" pitchFamily="34" charset="-122"/>
                <a:cs typeface="Arial" pitchFamily="34" charset="-120"/>
              </a:rPr>
              <a:t>FAILURE RISK</a:t>
            </a:r>
            <a:endParaRPr lang="en-US" sz="1000" dirty="0"/>
          </a:p>
        </p:txBody>
      </p:sp>
      <p:sp>
        <p:nvSpPr>
          <p:cNvPr id="34" name="Text 31"/>
          <p:cNvSpPr txBox="1"/>
          <p:nvPr/>
        </p:nvSpPr>
        <p:spPr>
          <a:xfrm>
            <a:off x="8092440" y="4709160"/>
            <a:ext cx="1737360" cy="868680"/>
          </a:xfrm>
          <a:prstGeom prst="rect">
            <a:avLst/>
          </a:prstGeom>
          <a:noFill/>
          <a:ln/>
        </p:spPr>
        <p:txBody>
          <a:bodyPr wrap="square" lIns="0" tIns="0" rIns="0" bIns="0" rtlCol="0" anchor="ctr"/>
          <a:lstStyle/>
          <a:p>
            <a:pPr indent="0" marL="0">
              <a:buNone/>
            </a:pPr>
            <a:r>
              <a:rPr lang="en-US" sz="5000" b="1" dirty="0">
                <a:solidFill>
                  <a:srgbClr val="E03E3E"/>
                </a:solidFill>
                <a:latin typeface="Arial" pitchFamily="34" charset="0"/>
                <a:ea typeface="Arial" pitchFamily="34" charset="-122"/>
                <a:cs typeface="Arial" pitchFamily="34" charset="-120"/>
              </a:rPr>
              <a:t>87%</a:t>
            </a:r>
            <a:endParaRPr lang="en-US" sz="5000" dirty="0"/>
          </a:p>
        </p:txBody>
      </p:sp>
      <p:sp>
        <p:nvSpPr>
          <p:cNvPr id="35" name="Text 32"/>
          <p:cNvSpPr txBox="1"/>
          <p:nvPr/>
        </p:nvSpPr>
        <p:spPr>
          <a:xfrm>
            <a:off x="9829800" y="4663440"/>
            <a:ext cx="1600200" cy="1097280"/>
          </a:xfrm>
          <a:prstGeom prst="rect">
            <a:avLst/>
          </a:prstGeom>
          <a:noFill/>
          <a:ln/>
        </p:spPr>
        <p:txBody>
          <a:bodyPr wrap="square" lIns="0" tIns="0" rIns="0" bIns="0" rtlCol="0" anchor="ctr"/>
          <a:lstStyle/>
          <a:p>
            <a:pPr indent="0" marL="0">
              <a:spcAft>
                <a:spcPts val="200"/>
              </a:spcAft>
              <a:buNone/>
            </a:pPr>
            <a:r>
              <a:rPr lang="en-US" sz="1100" dirty="0">
                <a:solidFill>
                  <a:srgbClr val="9DA7B3"/>
                </a:solidFill>
                <a:latin typeface="Calibri" pitchFamily="34" charset="0"/>
                <a:ea typeface="Calibri" pitchFamily="34" charset="-122"/>
                <a:cs typeface="Calibri" pitchFamily="34" charset="-120"/>
              </a:rPr>
              <a:t>Predicted arrival</a:t>
            </a:r>
            <a:endParaRPr lang="en-US" sz="1100" dirty="0"/>
          </a:p>
          <a:p>
            <a:pPr indent="0" marL="0">
              <a:spcAft>
                <a:spcPts val="200"/>
              </a:spcAft>
              <a:buNone/>
            </a:pPr>
            <a:r>
              <a:rPr lang="en-US" sz="1600" b="1" dirty="0">
                <a:solidFill>
                  <a:srgbClr val="FFFFFF"/>
                </a:solidFill>
                <a:latin typeface="Calibri" pitchFamily="34" charset="0"/>
                <a:ea typeface="Calibri" pitchFamily="34" charset="-122"/>
                <a:cs typeface="Calibri" pitchFamily="34" charset="-120"/>
              </a:rPr>
              <a:t>27 min</a:t>
            </a:r>
            <a:endParaRPr lang="en-US" sz="1100" dirty="0"/>
          </a:p>
          <a:p>
            <a:pPr indent="0" marL="0">
              <a:spcAft>
                <a:spcPts val="200"/>
              </a:spcAft>
              <a:buNone/>
            </a:pPr>
            <a:r>
              <a:rPr lang="en-US" sz="1100" dirty="0">
                <a:solidFill>
                  <a:srgbClr val="9DA7B3"/>
                </a:solidFill>
                <a:latin typeface="Calibri" pitchFamily="34" charset="0"/>
                <a:ea typeface="Calibri" pitchFamily="34" charset="-122"/>
                <a:cs typeface="Calibri" pitchFamily="34" charset="-120"/>
              </a:rPr>
              <a:t>Warning issued before the target is missed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09728" cy="109728"/>
          </a:xfrm>
          <a:prstGeom prst="ellipse">
            <a:avLst/>
          </a:prstGeom>
          <a:solidFill>
            <a:srgbClr val="2FA36B"/>
          </a:solidFill>
          <a:ln w="12700">
            <a:solidFill>
              <a:srgbClr val="2FA36B"/>
            </a:solidFill>
            <a:prstDash val="solid"/>
          </a:ln>
        </p:spPr>
      </p:sp>
      <p:sp>
        <p:nvSpPr>
          <p:cNvPr id="3" name="Shape 1"/>
          <p:cNvSpPr/>
          <p:nvPr/>
        </p:nvSpPr>
        <p:spPr>
          <a:xfrm>
            <a:off x="722376" y="457200"/>
            <a:ext cx="109728" cy="109728"/>
          </a:xfrm>
          <a:prstGeom prst="ellipse">
            <a:avLst/>
          </a:prstGeom>
          <a:solidFill>
            <a:srgbClr val="F2A52B"/>
          </a:solidFill>
          <a:ln w="12700">
            <a:solidFill>
              <a:srgbClr val="F2A52B"/>
            </a:solidFill>
            <a:prstDash val="solid"/>
          </a:ln>
        </p:spPr>
      </p:sp>
      <p:sp>
        <p:nvSpPr>
          <p:cNvPr id="4" name="Shape 2"/>
          <p:cNvSpPr/>
          <p:nvPr/>
        </p:nvSpPr>
        <p:spPr>
          <a:xfrm>
            <a:off x="896112" y="457200"/>
            <a:ext cx="109728" cy="109728"/>
          </a:xfrm>
          <a:prstGeom prst="ellipse">
            <a:avLst/>
          </a:prstGeom>
          <a:solidFill>
            <a:srgbClr val="E03E3E"/>
          </a:solidFill>
          <a:ln w="12700">
            <a:solidFill>
              <a:srgbClr val="E03E3E"/>
            </a:solidFill>
            <a:prstDash val="solid"/>
          </a:ln>
        </p:spPr>
      </p:sp>
      <p:sp>
        <p:nvSpPr>
          <p:cNvPr id="5" name="Text 3"/>
          <p:cNvSpPr txBox="1"/>
          <p:nvPr/>
        </p:nvSpPr>
        <p:spPr>
          <a:xfrm>
            <a:off x="1170432" y="393192"/>
            <a:ext cx="7315200" cy="237744"/>
          </a:xfrm>
          <a:prstGeom prst="rect">
            <a:avLst/>
          </a:prstGeom>
          <a:noFill/>
          <a:ln/>
        </p:spPr>
        <p:txBody>
          <a:bodyPr wrap="square" lIns="0" tIns="0" rIns="0" bIns="0" rtlCol="0" anchor="ctr"/>
          <a:lstStyle/>
          <a:p>
            <a:pPr indent="0" marL="0">
              <a:buNone/>
            </a:pPr>
            <a:r>
              <a:rPr lang="en-US" sz="1100" b="1" spc="200" kern="0" dirty="0">
                <a:solidFill>
                  <a:srgbClr val="5E6875"/>
                </a:solidFill>
                <a:latin typeface="Arial" pitchFamily="34" charset="0"/>
                <a:ea typeface="Arial" pitchFamily="34" charset="-122"/>
                <a:cs typeface="Arial" pitchFamily="34" charset="-120"/>
              </a:rPr>
              <a:t>THE PROBLEM / OPPORTUNITY</a:t>
            </a:r>
            <a:endParaRPr lang="en-US" sz="1100" dirty="0"/>
          </a:p>
        </p:txBody>
      </p:sp>
      <p:sp>
        <p:nvSpPr>
          <p:cNvPr id="6" name="Text 4"/>
          <p:cNvSpPr txBox="1"/>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5E6875"/>
                </a:solidFill>
                <a:latin typeface="Calibri" pitchFamily="34" charset="0"/>
                <a:ea typeface="Calibri" pitchFamily="34" charset="-122"/>
                <a:cs typeface="Calibri" pitchFamily="34" charset="-120"/>
              </a:rPr>
              <a:t>02</a:t>
            </a:r>
            <a:endParaRPr lang="en-US" sz="1000" dirty="0"/>
          </a:p>
        </p:txBody>
      </p:sp>
      <p:sp>
        <p:nvSpPr>
          <p:cNvPr id="7" name="Text 5"/>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200" b="1" dirty="0">
                <a:solidFill>
                  <a:srgbClr val="1B1F24"/>
                </a:solidFill>
                <a:latin typeface="Arial" pitchFamily="34" charset="0"/>
                <a:ea typeface="Arial" pitchFamily="34" charset="-122"/>
                <a:cs typeface="Arial" pitchFamily="34" charset="-120"/>
              </a:rPr>
              <a:t>Delay builds silently across the mission</a:t>
            </a:r>
            <a:endParaRPr lang="en-US" sz="3200" dirty="0"/>
          </a:p>
        </p:txBody>
      </p:sp>
      <p:sp>
        <p:nvSpPr>
          <p:cNvPr id="8" name="Text 6"/>
          <p:cNvSpPr txBox="1"/>
          <p:nvPr/>
        </p:nvSpPr>
        <p:spPr>
          <a:xfrm>
            <a:off x="548640" y="1783080"/>
            <a:ext cx="6583680" cy="320040"/>
          </a:xfrm>
          <a:prstGeom prst="rect">
            <a:avLst/>
          </a:prstGeom>
          <a:noFill/>
          <a:ln/>
        </p:spPr>
        <p:txBody>
          <a:bodyPr wrap="square" lIns="0" tIns="0" rIns="0" bIns="0" rtlCol="0" anchor="ctr"/>
          <a:lstStyle/>
          <a:p>
            <a:pPr indent="0" marL="0">
              <a:buNone/>
            </a:pPr>
            <a:r>
              <a:rPr lang="en-US" sz="1600" b="1" dirty="0">
                <a:solidFill>
                  <a:srgbClr val="1B1F24"/>
                </a:solidFill>
                <a:latin typeface="Arial" pitchFamily="34" charset="0"/>
                <a:ea typeface="Arial" pitchFamily="34" charset="-122"/>
                <a:cs typeface="Arial" pitchFamily="34" charset="-120"/>
              </a:rPr>
              <a:t>An ambulance trip is a chain of phases, not a single route</a:t>
            </a:r>
            <a:endParaRPr lang="en-US" sz="1600" dirty="0"/>
          </a:p>
        </p:txBody>
      </p:sp>
      <p:sp>
        <p:nvSpPr>
          <p:cNvPr id="9" name="Text 7"/>
          <p:cNvSpPr txBox="1"/>
          <p:nvPr/>
        </p:nvSpPr>
        <p:spPr>
          <a:xfrm>
            <a:off x="548640" y="2148840"/>
            <a:ext cx="6583680" cy="256032"/>
          </a:xfrm>
          <a:prstGeom prst="rect">
            <a:avLst/>
          </a:prstGeom>
          <a:noFill/>
          <a:ln/>
        </p:spPr>
        <p:txBody>
          <a:bodyPr wrap="square" lIns="0" tIns="0" rIns="0" bIns="0" rtlCol="0" anchor="ctr"/>
          <a:lstStyle/>
          <a:p>
            <a:pPr indent="0" marL="0">
              <a:buNone/>
            </a:pPr>
            <a:r>
              <a:rPr lang="en-US" sz="1200" dirty="0">
                <a:solidFill>
                  <a:srgbClr val="5E6875"/>
                </a:solidFill>
                <a:latin typeface="Calibri" pitchFamily="34" charset="0"/>
                <a:ea typeface="Calibri" pitchFamily="34" charset="-122"/>
                <a:cs typeface="Calibri" pitchFamily="34" charset="-120"/>
              </a:rPr>
              <a:t>Average phase times, Maharashtra 108 EMS data (minutes)</a:t>
            </a:r>
            <a:endParaRPr lang="en-US" sz="1200" dirty="0"/>
          </a:p>
        </p:txBody>
      </p:sp>
      <p:sp>
        <p:nvSpPr>
          <p:cNvPr id="10" name="Shape 8"/>
          <p:cNvSpPr/>
          <p:nvPr/>
        </p:nvSpPr>
        <p:spPr>
          <a:xfrm>
            <a:off x="548640" y="2514600"/>
            <a:ext cx="1720148" cy="548640"/>
          </a:xfrm>
          <a:prstGeom prst="rect">
            <a:avLst/>
          </a:prstGeom>
          <a:solidFill>
            <a:srgbClr val="3A4350"/>
          </a:solidFill>
          <a:ln w="12700">
            <a:solidFill>
              <a:srgbClr val="3A4350"/>
            </a:solidFill>
            <a:prstDash val="solid"/>
          </a:ln>
        </p:spPr>
      </p:sp>
      <p:sp>
        <p:nvSpPr>
          <p:cNvPr id="11" name="Text 9"/>
          <p:cNvSpPr txBox="1"/>
          <p:nvPr/>
        </p:nvSpPr>
        <p:spPr>
          <a:xfrm>
            <a:off x="548640" y="2514600"/>
            <a:ext cx="1720148"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23</a:t>
            </a:r>
            <a:endParaRPr lang="en-US" sz="1600" dirty="0"/>
          </a:p>
        </p:txBody>
      </p:sp>
      <p:sp>
        <p:nvSpPr>
          <p:cNvPr id="12" name="Text 10"/>
          <p:cNvSpPr txBox="1"/>
          <p:nvPr/>
        </p:nvSpPr>
        <p:spPr>
          <a:xfrm>
            <a:off x="548640" y="3127248"/>
            <a:ext cx="1720148" cy="256032"/>
          </a:xfrm>
          <a:prstGeom prst="rect">
            <a:avLst/>
          </a:prstGeom>
          <a:noFill/>
          <a:ln/>
        </p:spPr>
        <p:txBody>
          <a:bodyPr wrap="square" lIns="0" tIns="0" rIns="0" bIns="0" rtlCol="0" anchor="ctr"/>
          <a:lstStyle/>
          <a:p>
            <a:pPr algn="ctr" indent="0" marL="0">
              <a:buNone/>
            </a:pPr>
            <a:r>
              <a:rPr lang="en-US" sz="1200" dirty="0">
                <a:solidFill>
                  <a:srgbClr val="5E6875"/>
                </a:solidFill>
                <a:latin typeface="Calibri" pitchFamily="34" charset="0"/>
                <a:ea typeface="Calibri" pitchFamily="34" charset="-122"/>
                <a:cs typeface="Calibri" pitchFamily="34" charset="-120"/>
              </a:rPr>
              <a:t>To scene</a:t>
            </a:r>
            <a:endParaRPr lang="en-US" sz="1200" dirty="0"/>
          </a:p>
        </p:txBody>
      </p:sp>
      <p:sp>
        <p:nvSpPr>
          <p:cNvPr id="13" name="Shape 11"/>
          <p:cNvSpPr/>
          <p:nvPr/>
        </p:nvSpPr>
        <p:spPr>
          <a:xfrm>
            <a:off x="2305364" y="2514600"/>
            <a:ext cx="879976" cy="548640"/>
          </a:xfrm>
          <a:prstGeom prst="rect">
            <a:avLst/>
          </a:prstGeom>
          <a:solidFill>
            <a:srgbClr val="7A8594"/>
          </a:solidFill>
          <a:ln w="12700">
            <a:solidFill>
              <a:srgbClr val="7A8594"/>
            </a:solidFill>
            <a:prstDash val="solid"/>
          </a:ln>
        </p:spPr>
      </p:sp>
      <p:sp>
        <p:nvSpPr>
          <p:cNvPr id="14" name="Text 12"/>
          <p:cNvSpPr txBox="1"/>
          <p:nvPr/>
        </p:nvSpPr>
        <p:spPr>
          <a:xfrm>
            <a:off x="2305364" y="2514600"/>
            <a:ext cx="879976"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12</a:t>
            </a:r>
            <a:endParaRPr lang="en-US" sz="1600" dirty="0"/>
          </a:p>
        </p:txBody>
      </p:sp>
      <p:sp>
        <p:nvSpPr>
          <p:cNvPr id="15" name="Text 13"/>
          <p:cNvSpPr txBox="1"/>
          <p:nvPr/>
        </p:nvSpPr>
        <p:spPr>
          <a:xfrm>
            <a:off x="2305364" y="3127248"/>
            <a:ext cx="879976" cy="256032"/>
          </a:xfrm>
          <a:prstGeom prst="rect">
            <a:avLst/>
          </a:prstGeom>
          <a:noFill/>
          <a:ln/>
        </p:spPr>
        <p:txBody>
          <a:bodyPr wrap="square" lIns="0" tIns="0" rIns="0" bIns="0" rtlCol="0" anchor="ctr"/>
          <a:lstStyle/>
          <a:p>
            <a:pPr algn="ctr" indent="0" marL="0">
              <a:buNone/>
            </a:pPr>
            <a:r>
              <a:rPr lang="en-US" sz="1200" dirty="0">
                <a:solidFill>
                  <a:srgbClr val="5E6875"/>
                </a:solidFill>
                <a:latin typeface="Calibri" pitchFamily="34" charset="0"/>
                <a:ea typeface="Calibri" pitchFamily="34" charset="-122"/>
                <a:cs typeface="Calibri" pitchFamily="34" charset="-120"/>
              </a:rPr>
              <a:t>At scene</a:t>
            </a:r>
            <a:endParaRPr lang="en-US" sz="1200" dirty="0"/>
          </a:p>
        </p:txBody>
      </p:sp>
      <p:sp>
        <p:nvSpPr>
          <p:cNvPr id="16" name="Shape 14"/>
          <p:cNvSpPr/>
          <p:nvPr/>
        </p:nvSpPr>
        <p:spPr>
          <a:xfrm>
            <a:off x="3221915" y="2514600"/>
            <a:ext cx="2942216" cy="548640"/>
          </a:xfrm>
          <a:prstGeom prst="rect">
            <a:avLst/>
          </a:prstGeom>
          <a:solidFill>
            <a:srgbClr val="E03E3E"/>
          </a:solidFill>
          <a:ln w="12700">
            <a:solidFill>
              <a:srgbClr val="E03E3E"/>
            </a:solidFill>
            <a:prstDash val="solid"/>
          </a:ln>
        </p:spPr>
      </p:sp>
      <p:sp>
        <p:nvSpPr>
          <p:cNvPr id="17" name="Text 15"/>
          <p:cNvSpPr txBox="1"/>
          <p:nvPr/>
        </p:nvSpPr>
        <p:spPr>
          <a:xfrm>
            <a:off x="3221915" y="2514600"/>
            <a:ext cx="2942216"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39</a:t>
            </a:r>
            <a:endParaRPr lang="en-US" sz="1600" dirty="0"/>
          </a:p>
        </p:txBody>
      </p:sp>
      <p:sp>
        <p:nvSpPr>
          <p:cNvPr id="18" name="Text 16"/>
          <p:cNvSpPr txBox="1"/>
          <p:nvPr/>
        </p:nvSpPr>
        <p:spPr>
          <a:xfrm>
            <a:off x="3221915" y="3127248"/>
            <a:ext cx="2942216" cy="256032"/>
          </a:xfrm>
          <a:prstGeom prst="rect">
            <a:avLst/>
          </a:prstGeom>
          <a:noFill/>
          <a:ln/>
        </p:spPr>
        <p:txBody>
          <a:bodyPr wrap="square" lIns="0" tIns="0" rIns="0" bIns="0" rtlCol="0" anchor="ctr"/>
          <a:lstStyle/>
          <a:p>
            <a:pPr algn="ctr" indent="0" marL="0">
              <a:buNone/>
            </a:pPr>
            <a:r>
              <a:rPr lang="en-US" sz="1200" dirty="0">
                <a:solidFill>
                  <a:srgbClr val="5E6875"/>
                </a:solidFill>
                <a:latin typeface="Calibri" pitchFamily="34" charset="0"/>
                <a:ea typeface="Calibri" pitchFamily="34" charset="-122"/>
                <a:cs typeface="Calibri" pitchFamily="34" charset="-120"/>
              </a:rPr>
              <a:t>To hospital</a:t>
            </a:r>
            <a:endParaRPr lang="en-US" sz="1200" dirty="0"/>
          </a:p>
        </p:txBody>
      </p:sp>
      <p:sp>
        <p:nvSpPr>
          <p:cNvPr id="19" name="Shape 17"/>
          <p:cNvSpPr/>
          <p:nvPr/>
        </p:nvSpPr>
        <p:spPr>
          <a:xfrm>
            <a:off x="6200708" y="2514600"/>
            <a:ext cx="803596" cy="548640"/>
          </a:xfrm>
          <a:prstGeom prst="rect">
            <a:avLst/>
          </a:prstGeom>
          <a:solidFill>
            <a:srgbClr val="F2A52B"/>
          </a:solidFill>
          <a:ln w="12700">
            <a:solidFill>
              <a:srgbClr val="F2A52B"/>
            </a:solidFill>
            <a:prstDash val="solid"/>
          </a:ln>
        </p:spPr>
      </p:sp>
      <p:sp>
        <p:nvSpPr>
          <p:cNvPr id="20" name="Text 18"/>
          <p:cNvSpPr txBox="1"/>
          <p:nvPr/>
        </p:nvSpPr>
        <p:spPr>
          <a:xfrm>
            <a:off x="6200708" y="2514600"/>
            <a:ext cx="803596"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11</a:t>
            </a:r>
            <a:endParaRPr lang="en-US" sz="1600" dirty="0"/>
          </a:p>
        </p:txBody>
      </p:sp>
      <p:sp>
        <p:nvSpPr>
          <p:cNvPr id="21" name="Text 19"/>
          <p:cNvSpPr txBox="1"/>
          <p:nvPr/>
        </p:nvSpPr>
        <p:spPr>
          <a:xfrm>
            <a:off x="6200708" y="3127248"/>
            <a:ext cx="803596" cy="256032"/>
          </a:xfrm>
          <a:prstGeom prst="rect">
            <a:avLst/>
          </a:prstGeom>
          <a:noFill/>
          <a:ln/>
        </p:spPr>
        <p:txBody>
          <a:bodyPr wrap="square" lIns="0" tIns="0" rIns="0" bIns="0" rtlCol="0" anchor="ctr"/>
          <a:lstStyle/>
          <a:p>
            <a:pPr algn="ctr" indent="0" marL="0">
              <a:buNone/>
            </a:pPr>
            <a:r>
              <a:rPr lang="en-US" sz="1200" dirty="0">
                <a:solidFill>
                  <a:srgbClr val="5E6875"/>
                </a:solidFill>
                <a:latin typeface="Calibri" pitchFamily="34" charset="0"/>
                <a:ea typeface="Calibri" pitchFamily="34" charset="-122"/>
                <a:cs typeface="Calibri" pitchFamily="34" charset="-120"/>
              </a:rPr>
              <a:t>Handover</a:t>
            </a:r>
            <a:endParaRPr lang="en-US" sz="1200" dirty="0"/>
          </a:p>
        </p:txBody>
      </p:sp>
      <p:sp>
        <p:nvSpPr>
          <p:cNvPr id="22" name="Text 20"/>
          <p:cNvSpPr txBox="1"/>
          <p:nvPr/>
        </p:nvSpPr>
        <p:spPr>
          <a:xfrm>
            <a:off x="548640" y="3566160"/>
            <a:ext cx="6492240" cy="502920"/>
          </a:xfrm>
          <a:prstGeom prst="rect">
            <a:avLst/>
          </a:prstGeom>
          <a:noFill/>
          <a:ln/>
        </p:spPr>
        <p:txBody>
          <a:bodyPr wrap="square" lIns="0" tIns="0" rIns="0" bIns="0" rtlCol="0" anchor="t"/>
          <a:lstStyle/>
          <a:p>
            <a:pPr indent="0" marL="0">
              <a:buNone/>
            </a:pPr>
            <a:r>
              <a:rPr lang="en-US" sz="1300" dirty="0">
                <a:solidFill>
                  <a:srgbClr val="1B1F24"/>
                </a:solidFill>
                <a:latin typeface="Calibri" pitchFamily="34" charset="0"/>
                <a:ea typeface="Calibri" pitchFamily="34" charset="-122"/>
                <a:cs typeface="Calibri" pitchFamily="34" charset="-120"/>
              </a:rPr>
              <a:t>NHM quality benchmarks: reach the patient within 20 min (urban) or 30 min (rural), then a health facility within the next 30 min.</a:t>
            </a:r>
            <a:endParaRPr lang="en-US" sz="1300" dirty="0"/>
          </a:p>
        </p:txBody>
      </p:sp>
      <p:sp>
        <p:nvSpPr>
          <p:cNvPr id="23" name="Shape 21"/>
          <p:cNvSpPr/>
          <p:nvPr/>
        </p:nvSpPr>
        <p:spPr>
          <a:xfrm>
            <a:off x="548640" y="4297680"/>
            <a:ext cx="6492240" cy="1417320"/>
          </a:xfrm>
          <a:prstGeom prst="roundRect">
            <a:avLst>
              <a:gd name="adj" fmla="val 5161"/>
            </a:avLst>
          </a:prstGeom>
          <a:solidFill>
            <a:srgbClr val="F3F5F7"/>
          </a:solidFill>
          <a:ln w="12700">
            <a:solidFill>
              <a:srgbClr val="F3F5F7"/>
            </a:solidFill>
            <a:prstDash val="solid"/>
          </a:ln>
        </p:spPr>
      </p:sp>
      <p:sp>
        <p:nvSpPr>
          <p:cNvPr id="24" name="Text 22"/>
          <p:cNvSpPr txBox="1"/>
          <p:nvPr/>
        </p:nvSpPr>
        <p:spPr>
          <a:xfrm>
            <a:off x="822960" y="4434840"/>
            <a:ext cx="5943600" cy="502920"/>
          </a:xfrm>
          <a:prstGeom prst="rect">
            <a:avLst/>
          </a:prstGeom>
          <a:noFill/>
          <a:ln/>
        </p:spPr>
        <p:txBody>
          <a:bodyPr wrap="square" lIns="0" tIns="0" rIns="0" bIns="0" rtlCol="0" anchor="ctr"/>
          <a:lstStyle/>
          <a:p>
            <a:pPr indent="0" marL="0">
              <a:buNone/>
            </a:pPr>
            <a:r>
              <a:rPr lang="en-US" sz="2200" dirty="0">
                <a:solidFill>
                  <a:srgbClr val="1B1F24"/>
                </a:solidFill>
                <a:latin typeface="Cambria" pitchFamily="34" charset="0"/>
                <a:ea typeface="Cambria" pitchFamily="34" charset="-122"/>
                <a:cs typeface="Cambria" pitchFamily="34" charset="-120"/>
              </a:rPr>
              <a:t>T</a:t>
            </a:r>
            <a:pPr indent="0" marL="0">
              <a:buNone/>
            </a:pPr>
            <a:r>
              <a:rPr lang="en-US" sz="2200" baseline="-40000" dirty="0">
                <a:solidFill>
                  <a:srgbClr val="1B1F24"/>
                </a:solidFill>
                <a:latin typeface="Cambria" pitchFamily="34" charset="0"/>
                <a:ea typeface="Cambria" pitchFamily="34" charset="-122"/>
                <a:cs typeface="Cambria" pitchFamily="34" charset="-120"/>
              </a:rPr>
              <a:t>total</a:t>
            </a:r>
            <a:pPr indent="0" marL="0">
              <a:buNone/>
            </a:pPr>
            <a:r>
              <a:rPr lang="en-US" sz="2200" dirty="0">
                <a:solidFill>
                  <a:srgbClr val="1B1F24"/>
                </a:solidFill>
                <a:latin typeface="Cambria" pitchFamily="34" charset="0"/>
                <a:ea typeface="Cambria" pitchFamily="34" charset="-122"/>
                <a:cs typeface="Cambria" pitchFamily="34" charset="-120"/>
              </a:rPr>
              <a:t>  =  T</a:t>
            </a:r>
            <a:pPr indent="0" marL="0">
              <a:buNone/>
            </a:pPr>
            <a:r>
              <a:rPr lang="en-US" sz="2200" baseline="-40000" dirty="0">
                <a:solidFill>
                  <a:srgbClr val="1B1F24"/>
                </a:solidFill>
                <a:latin typeface="Cambria" pitchFamily="34" charset="0"/>
                <a:ea typeface="Cambria" pitchFamily="34" charset="-122"/>
                <a:cs typeface="Cambria" pitchFamily="34" charset="-120"/>
              </a:rPr>
              <a:t>dispatch</a:t>
            </a:r>
            <a:pPr indent="0" marL="0">
              <a:buNone/>
            </a:pPr>
            <a:r>
              <a:rPr lang="en-US" sz="2200" dirty="0">
                <a:solidFill>
                  <a:srgbClr val="1B1F24"/>
                </a:solidFill>
                <a:latin typeface="Cambria" pitchFamily="34" charset="0"/>
                <a:ea typeface="Cambria" pitchFamily="34" charset="-122"/>
                <a:cs typeface="Cambria" pitchFamily="34" charset="-120"/>
              </a:rPr>
              <a:t>  +  T</a:t>
            </a:r>
            <a:pPr indent="0" marL="0">
              <a:buNone/>
            </a:pPr>
            <a:r>
              <a:rPr lang="en-US" sz="2200" baseline="-40000" dirty="0">
                <a:solidFill>
                  <a:srgbClr val="1B1F24"/>
                </a:solidFill>
                <a:latin typeface="Cambria" pitchFamily="34" charset="0"/>
                <a:ea typeface="Cambria" pitchFamily="34" charset="-122"/>
                <a:cs typeface="Cambria" pitchFamily="34" charset="-120"/>
              </a:rPr>
              <a:t>scene</a:t>
            </a:r>
            <a:pPr indent="0" marL="0">
              <a:buNone/>
            </a:pPr>
            <a:r>
              <a:rPr lang="en-US" sz="2200" dirty="0">
                <a:solidFill>
                  <a:srgbClr val="1B1F24"/>
                </a:solidFill>
                <a:latin typeface="Cambria" pitchFamily="34" charset="0"/>
                <a:ea typeface="Cambria" pitchFamily="34" charset="-122"/>
                <a:cs typeface="Cambria" pitchFamily="34" charset="-120"/>
              </a:rPr>
              <a:t>  +  T</a:t>
            </a:r>
            <a:pPr indent="0" marL="0">
              <a:buNone/>
            </a:pPr>
            <a:r>
              <a:rPr lang="en-US" sz="2200" baseline="-40000" dirty="0">
                <a:solidFill>
                  <a:srgbClr val="1B1F24"/>
                </a:solidFill>
                <a:latin typeface="Cambria" pitchFamily="34" charset="0"/>
                <a:ea typeface="Cambria" pitchFamily="34" charset="-122"/>
                <a:cs typeface="Cambria" pitchFamily="34" charset="-120"/>
              </a:rPr>
              <a:t>route</a:t>
            </a:r>
            <a:pPr indent="0" marL="0">
              <a:buNone/>
            </a:pPr>
            <a:r>
              <a:rPr lang="en-US" sz="2200" dirty="0">
                <a:solidFill>
                  <a:srgbClr val="1B1F24"/>
                </a:solidFill>
                <a:latin typeface="Cambria" pitchFamily="34" charset="0"/>
                <a:ea typeface="Cambria" pitchFamily="34" charset="-122"/>
                <a:cs typeface="Cambria" pitchFamily="34" charset="-120"/>
              </a:rPr>
              <a:t>  +  T</a:t>
            </a:r>
            <a:pPr indent="0" marL="0">
              <a:buNone/>
            </a:pPr>
            <a:r>
              <a:rPr lang="en-US" sz="2200" baseline="-40000" dirty="0">
                <a:solidFill>
                  <a:srgbClr val="1B1F24"/>
                </a:solidFill>
                <a:latin typeface="Cambria" pitchFamily="34" charset="0"/>
                <a:ea typeface="Cambria" pitchFamily="34" charset="-122"/>
                <a:cs typeface="Cambria" pitchFamily="34" charset="-120"/>
              </a:rPr>
              <a:t>handover</a:t>
            </a:r>
            <a:endParaRPr lang="en-US" sz="2200" dirty="0"/>
          </a:p>
        </p:txBody>
      </p:sp>
      <p:sp>
        <p:nvSpPr>
          <p:cNvPr id="25" name="Text 23"/>
          <p:cNvSpPr txBox="1"/>
          <p:nvPr/>
        </p:nvSpPr>
        <p:spPr>
          <a:xfrm>
            <a:off x="822960" y="4983480"/>
            <a:ext cx="5943600" cy="594360"/>
          </a:xfrm>
          <a:prstGeom prst="rect">
            <a:avLst/>
          </a:prstGeom>
          <a:noFill/>
          <a:ln/>
        </p:spPr>
        <p:txBody>
          <a:bodyPr wrap="square" lIns="0" tIns="0" rIns="0" bIns="0" rtlCol="0" anchor="t"/>
          <a:lstStyle/>
          <a:p>
            <a:pPr indent="0" marL="0">
              <a:buNone/>
            </a:pPr>
            <a:r>
              <a:rPr lang="en-US" sz="1400" dirty="0">
                <a:solidFill>
                  <a:srgbClr val="5E6875"/>
                </a:solidFill>
                <a:latin typeface="Calibri" pitchFamily="34" charset="0"/>
                <a:ea typeface="Calibri" pitchFamily="34" charset="-122"/>
                <a:cs typeface="Calibri" pitchFamily="34" charset="-120"/>
              </a:rPr>
              <a:t>Navigation apps optimise only T</a:t>
            </a:r>
            <a:pPr indent="0" marL="0">
              <a:buNone/>
            </a:pPr>
            <a:r>
              <a:rPr lang="en-US" sz="1400" baseline="-40000" dirty="0">
                <a:solidFill>
                  <a:srgbClr val="5E6875"/>
                </a:solidFill>
                <a:latin typeface="Calibri" pitchFamily="34" charset="0"/>
                <a:ea typeface="Calibri" pitchFamily="34" charset="-122"/>
                <a:cs typeface="Calibri" pitchFamily="34" charset="-120"/>
              </a:rPr>
              <a:t>route</a:t>
            </a:r>
            <a:pPr indent="0" marL="0">
              <a:buNone/>
            </a:pPr>
            <a:r>
              <a:rPr lang="en-US" sz="1400" dirty="0">
                <a:solidFill>
                  <a:srgbClr val="5E6875"/>
                </a:solidFill>
                <a:latin typeface="Calibri" pitchFamily="34" charset="0"/>
                <a:ea typeface="Calibri" pitchFamily="34" charset="-122"/>
                <a:cs typeface="Calibri" pitchFamily="34" charset="-120"/>
              </a:rPr>
              <a:t>. Nobody watches whether the whole mission is drifting toward a missed target.</a:t>
            </a:r>
            <a:endParaRPr lang="en-US" sz="1400" dirty="0"/>
          </a:p>
        </p:txBody>
      </p:sp>
      <p:sp>
        <p:nvSpPr>
          <p:cNvPr id="26" name="Shape 24"/>
          <p:cNvSpPr/>
          <p:nvPr/>
        </p:nvSpPr>
        <p:spPr>
          <a:xfrm>
            <a:off x="7498080" y="1783080"/>
            <a:ext cx="4144975" cy="1188720"/>
          </a:xfrm>
          <a:prstGeom prst="roundRect">
            <a:avLst>
              <a:gd name="adj" fmla="val 6154"/>
            </a:avLst>
          </a:prstGeom>
          <a:solidFill>
            <a:srgbClr val="F3F5F7"/>
          </a:solidFill>
          <a:ln w="12700">
            <a:solidFill>
              <a:srgbClr val="F3F5F7"/>
            </a:solidFill>
            <a:prstDash val="solid"/>
          </a:ln>
        </p:spPr>
      </p:sp>
      <p:sp>
        <p:nvSpPr>
          <p:cNvPr id="27" name="Text 25"/>
          <p:cNvSpPr txBox="1"/>
          <p:nvPr/>
        </p:nvSpPr>
        <p:spPr>
          <a:xfrm>
            <a:off x="7772400" y="1920240"/>
            <a:ext cx="3596335" cy="594360"/>
          </a:xfrm>
          <a:prstGeom prst="rect">
            <a:avLst/>
          </a:prstGeom>
          <a:noFill/>
          <a:ln/>
        </p:spPr>
        <p:txBody>
          <a:bodyPr wrap="square" lIns="0" tIns="0" rIns="0" bIns="0" rtlCol="0" anchor="ctr"/>
          <a:lstStyle/>
          <a:p>
            <a:pPr indent="0" marL="0">
              <a:buNone/>
            </a:pPr>
            <a:r>
              <a:rPr lang="en-US" sz="3600" b="1" dirty="0">
                <a:solidFill>
                  <a:srgbClr val="1B1F24"/>
                </a:solidFill>
                <a:latin typeface="Arial" pitchFamily="34" charset="0"/>
                <a:ea typeface="Arial" pitchFamily="34" charset="-122"/>
                <a:cs typeface="Arial" pitchFamily="34" charset="-120"/>
              </a:rPr>
              <a:t>134.5 min</a:t>
            </a:r>
            <a:endParaRPr lang="en-US" sz="3600" dirty="0"/>
          </a:p>
        </p:txBody>
      </p:sp>
      <p:sp>
        <p:nvSpPr>
          <p:cNvPr id="28" name="Text 26"/>
          <p:cNvSpPr txBox="1"/>
          <p:nvPr/>
        </p:nvSpPr>
        <p:spPr>
          <a:xfrm>
            <a:off x="7772400" y="2514600"/>
            <a:ext cx="3596335" cy="365760"/>
          </a:xfrm>
          <a:prstGeom prst="rect">
            <a:avLst/>
          </a:prstGeom>
          <a:noFill/>
          <a:ln/>
        </p:spPr>
        <p:txBody>
          <a:bodyPr wrap="square" lIns="0" tIns="0" rIns="0" bIns="0" rtlCol="0" anchor="t"/>
          <a:lstStyle/>
          <a:p>
            <a:pPr indent="0" marL="0">
              <a:buNone/>
            </a:pPr>
            <a:r>
              <a:rPr lang="en-US" sz="1300" dirty="0">
                <a:solidFill>
                  <a:srgbClr val="5E6875"/>
                </a:solidFill>
                <a:latin typeface="Calibri" pitchFamily="34" charset="0"/>
                <a:ea typeface="Calibri" pitchFamily="34" charset="-122"/>
                <a:cs typeface="Calibri" pitchFamily="34" charset="-120"/>
              </a:rPr>
              <a:t>average emergency episode time across a full 108 mission</a:t>
            </a:r>
            <a:endParaRPr lang="en-US" sz="1300" dirty="0"/>
          </a:p>
        </p:txBody>
      </p:sp>
      <p:sp>
        <p:nvSpPr>
          <p:cNvPr id="29" name="Shape 27"/>
          <p:cNvSpPr/>
          <p:nvPr/>
        </p:nvSpPr>
        <p:spPr>
          <a:xfrm>
            <a:off x="7498080" y="3154680"/>
            <a:ext cx="4144975" cy="1188720"/>
          </a:xfrm>
          <a:prstGeom prst="roundRect">
            <a:avLst>
              <a:gd name="adj" fmla="val 6154"/>
            </a:avLst>
          </a:prstGeom>
          <a:solidFill>
            <a:srgbClr val="F3F5F7"/>
          </a:solidFill>
          <a:ln w="12700">
            <a:solidFill>
              <a:srgbClr val="F3F5F7"/>
            </a:solidFill>
            <a:prstDash val="solid"/>
          </a:ln>
        </p:spPr>
      </p:sp>
      <p:sp>
        <p:nvSpPr>
          <p:cNvPr id="30" name="Text 28"/>
          <p:cNvSpPr txBox="1"/>
          <p:nvPr/>
        </p:nvSpPr>
        <p:spPr>
          <a:xfrm>
            <a:off x="7772400" y="3291840"/>
            <a:ext cx="3596335" cy="594360"/>
          </a:xfrm>
          <a:prstGeom prst="rect">
            <a:avLst/>
          </a:prstGeom>
          <a:noFill/>
          <a:ln/>
        </p:spPr>
        <p:txBody>
          <a:bodyPr wrap="square" lIns="0" tIns="0" rIns="0" bIns="0" rtlCol="0" anchor="ctr"/>
          <a:lstStyle/>
          <a:p>
            <a:pPr indent="0" marL="0">
              <a:buNone/>
            </a:pPr>
            <a:r>
              <a:rPr lang="en-US" sz="3600" b="1" dirty="0">
                <a:solidFill>
                  <a:srgbClr val="E03E3E"/>
                </a:solidFill>
                <a:latin typeface="Arial" pitchFamily="34" charset="0"/>
                <a:ea typeface="Arial" pitchFamily="34" charset="-122"/>
                <a:cs typeface="Arial" pitchFamily="34" charset="-120"/>
              </a:rPr>
              <a:t>39 min</a:t>
            </a:r>
            <a:endParaRPr lang="en-US" sz="3600" dirty="0"/>
          </a:p>
        </p:txBody>
      </p:sp>
      <p:sp>
        <p:nvSpPr>
          <p:cNvPr id="31" name="Text 29"/>
          <p:cNvSpPr txBox="1"/>
          <p:nvPr/>
        </p:nvSpPr>
        <p:spPr>
          <a:xfrm>
            <a:off x="7772400" y="3886200"/>
            <a:ext cx="3596335" cy="365760"/>
          </a:xfrm>
          <a:prstGeom prst="rect">
            <a:avLst/>
          </a:prstGeom>
          <a:noFill/>
          <a:ln/>
        </p:spPr>
        <p:txBody>
          <a:bodyPr wrap="square" lIns="0" tIns="0" rIns="0" bIns="0" rtlCol="0" anchor="t"/>
          <a:lstStyle/>
          <a:p>
            <a:pPr indent="0" marL="0">
              <a:buNone/>
            </a:pPr>
            <a:r>
              <a:rPr lang="en-US" sz="1300" dirty="0">
                <a:solidFill>
                  <a:srgbClr val="5E6875"/>
                </a:solidFill>
                <a:latin typeface="Calibri" pitchFamily="34" charset="0"/>
                <a:ea typeface="Calibri" pitchFamily="34" charset="-122"/>
                <a:cs typeface="Calibri" pitchFamily="34" charset="-120"/>
              </a:rPr>
              <a:t>average scene-to-hospital travel, against a 30-minute benchmark</a:t>
            </a:r>
            <a:endParaRPr lang="en-US" sz="1300" dirty="0"/>
          </a:p>
        </p:txBody>
      </p:sp>
      <p:sp>
        <p:nvSpPr>
          <p:cNvPr id="32" name="Shape 30"/>
          <p:cNvSpPr/>
          <p:nvPr/>
        </p:nvSpPr>
        <p:spPr>
          <a:xfrm>
            <a:off x="7498080" y="4526280"/>
            <a:ext cx="4144975" cy="1188720"/>
          </a:xfrm>
          <a:prstGeom prst="roundRect">
            <a:avLst>
              <a:gd name="adj" fmla="val 6154"/>
            </a:avLst>
          </a:prstGeom>
          <a:solidFill>
            <a:srgbClr val="12161C"/>
          </a:solidFill>
          <a:ln w="12700">
            <a:solidFill>
              <a:srgbClr val="12161C"/>
            </a:solidFill>
            <a:prstDash val="solid"/>
          </a:ln>
        </p:spPr>
      </p:sp>
      <p:sp>
        <p:nvSpPr>
          <p:cNvPr id="33" name="Text 31"/>
          <p:cNvSpPr txBox="1"/>
          <p:nvPr/>
        </p:nvSpPr>
        <p:spPr>
          <a:xfrm>
            <a:off x="7772400" y="4617720"/>
            <a:ext cx="3596335" cy="1005840"/>
          </a:xfrm>
          <a:prstGeom prst="rect">
            <a:avLst/>
          </a:prstGeom>
          <a:noFill/>
          <a:ln/>
        </p:spPr>
        <p:txBody>
          <a:bodyPr wrap="square" lIns="0" tIns="0" rIns="0" bIns="0" rtlCol="0" anchor="ctr"/>
          <a:lstStyle/>
          <a:p>
            <a:pPr indent="0" marL="0">
              <a:spcAft>
                <a:spcPts val="400"/>
              </a:spcAft>
              <a:buNone/>
            </a:pPr>
            <a:r>
              <a:rPr lang="en-US" sz="1000" b="1" spc="200" kern="0" dirty="0">
                <a:solidFill>
                  <a:srgbClr val="F2A52B"/>
                </a:solidFill>
                <a:latin typeface="Arial" pitchFamily="34" charset="0"/>
                <a:ea typeface="Arial" pitchFamily="34" charset="-122"/>
                <a:cs typeface="Arial" pitchFamily="34" charset="-120"/>
              </a:rPr>
              <a:t>THE OPPORTUNITY</a:t>
            </a:r>
            <a:endParaRPr lang="en-US" sz="1000" dirty="0"/>
          </a:p>
          <a:p>
            <a:pPr indent="0" marL="0">
              <a:spcAft>
                <a:spcPts val="400"/>
              </a:spcAft>
              <a:buNone/>
            </a:pPr>
            <a:r>
              <a:rPr lang="en-US" sz="1500" dirty="0">
                <a:solidFill>
                  <a:srgbClr val="FFFFFF"/>
                </a:solidFill>
                <a:latin typeface="Calibri" pitchFamily="34" charset="0"/>
                <a:ea typeface="Calibri" pitchFamily="34" charset="-122"/>
                <a:cs typeface="Calibri" pitchFamily="34" charset="-120"/>
              </a:rPr>
              <a:t>Flag the failure while it is still preventable, minutes before the ETA crosses the target.</a:t>
            </a:r>
            <a:endParaRPr lang="en-US" sz="1000" dirty="0"/>
          </a:p>
        </p:txBody>
      </p:sp>
      <p:sp>
        <p:nvSpPr>
          <p:cNvPr id="34" name="Text 32"/>
          <p:cNvSpPr txBox="1"/>
          <p:nvPr/>
        </p:nvSpPr>
        <p:spPr>
          <a:xfrm>
            <a:off x="548640" y="6126480"/>
            <a:ext cx="9601200" cy="274320"/>
          </a:xfrm>
          <a:prstGeom prst="rect">
            <a:avLst/>
          </a:prstGeom>
          <a:noFill/>
          <a:ln/>
        </p:spPr>
        <p:txBody>
          <a:bodyPr wrap="square" lIns="0" tIns="0" rIns="0" bIns="0" rtlCol="0" anchor="ctr"/>
          <a:lstStyle/>
          <a:p>
            <a:pPr indent="0" marL="0">
              <a:buNone/>
            </a:pPr>
            <a:r>
              <a:rPr lang="en-US" sz="1000" dirty="0">
                <a:solidFill>
                  <a:srgbClr val="5E6875"/>
                </a:solidFill>
                <a:latin typeface="Calibri" pitchFamily="34" charset="0"/>
                <a:ea typeface="Calibri" pitchFamily="34" charset="-122"/>
                <a:cs typeface="Calibri" pitchFamily="34" charset="-120"/>
              </a:rPr>
              <a:t>Source: analysis of Maharashtra 108 EMS data (PubMed Central); NHM benchmarks as reported in that study. Episode time also includes phases not shown in the bar.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7"/>
        </a:solidFill>
      </p:bgPr>
    </p:bg>
    <p:spTree>
      <p:nvGrpSpPr>
        <p:cNvPr id="1" name=""/>
        <p:cNvGrpSpPr/>
        <p:nvPr/>
      </p:nvGrpSpPr>
      <p:grpSpPr>
        <a:xfrm>
          <a:off x="0" y="0"/>
          <a:ext cx="0" cy="0"/>
          <a:chOff x="0" y="0"/>
          <a:chExt cx="0" cy="0"/>
        </a:xfrm>
      </p:grpSpPr>
      <p:sp>
        <p:nvSpPr>
          <p:cNvPr id="2" name="Shape 0"/>
          <p:cNvSpPr/>
          <p:nvPr/>
        </p:nvSpPr>
        <p:spPr>
          <a:xfrm>
            <a:off x="548640" y="457200"/>
            <a:ext cx="109728" cy="109728"/>
          </a:xfrm>
          <a:prstGeom prst="ellipse">
            <a:avLst/>
          </a:prstGeom>
          <a:solidFill>
            <a:srgbClr val="2FA36B"/>
          </a:solidFill>
          <a:ln w="12700">
            <a:solidFill>
              <a:srgbClr val="2FA36B"/>
            </a:solidFill>
            <a:prstDash val="solid"/>
          </a:ln>
        </p:spPr>
      </p:sp>
      <p:sp>
        <p:nvSpPr>
          <p:cNvPr id="3" name="Shape 1"/>
          <p:cNvSpPr/>
          <p:nvPr/>
        </p:nvSpPr>
        <p:spPr>
          <a:xfrm>
            <a:off x="722376" y="457200"/>
            <a:ext cx="109728" cy="109728"/>
          </a:xfrm>
          <a:prstGeom prst="ellipse">
            <a:avLst/>
          </a:prstGeom>
          <a:solidFill>
            <a:srgbClr val="F2A52B"/>
          </a:solidFill>
          <a:ln w="12700">
            <a:solidFill>
              <a:srgbClr val="F2A52B"/>
            </a:solidFill>
            <a:prstDash val="solid"/>
          </a:ln>
        </p:spPr>
      </p:sp>
      <p:sp>
        <p:nvSpPr>
          <p:cNvPr id="4" name="Shape 2"/>
          <p:cNvSpPr/>
          <p:nvPr/>
        </p:nvSpPr>
        <p:spPr>
          <a:xfrm>
            <a:off x="896112" y="457200"/>
            <a:ext cx="109728" cy="109728"/>
          </a:xfrm>
          <a:prstGeom prst="ellipse">
            <a:avLst/>
          </a:prstGeom>
          <a:solidFill>
            <a:srgbClr val="E03E3E"/>
          </a:solidFill>
          <a:ln w="12700">
            <a:solidFill>
              <a:srgbClr val="E03E3E"/>
            </a:solidFill>
            <a:prstDash val="solid"/>
          </a:ln>
        </p:spPr>
      </p:sp>
      <p:sp>
        <p:nvSpPr>
          <p:cNvPr id="5" name="Text 3"/>
          <p:cNvSpPr txBox="1"/>
          <p:nvPr/>
        </p:nvSpPr>
        <p:spPr>
          <a:xfrm>
            <a:off x="1170432" y="393192"/>
            <a:ext cx="7315200" cy="237744"/>
          </a:xfrm>
          <a:prstGeom prst="rect">
            <a:avLst/>
          </a:prstGeom>
          <a:noFill/>
          <a:ln/>
        </p:spPr>
        <p:txBody>
          <a:bodyPr wrap="square" lIns="0" tIns="0" rIns="0" bIns="0" rtlCol="0" anchor="ctr"/>
          <a:lstStyle/>
          <a:p>
            <a:pPr indent="0" marL="0">
              <a:buNone/>
            </a:pPr>
            <a:r>
              <a:rPr lang="en-US" sz="1100" b="1" spc="200" kern="0" dirty="0">
                <a:solidFill>
                  <a:srgbClr val="5E6875"/>
                </a:solidFill>
                <a:latin typeface="Arial" pitchFamily="34" charset="0"/>
                <a:ea typeface="Arial" pitchFamily="34" charset="-122"/>
                <a:cs typeface="Arial" pitchFamily="34" charset="-120"/>
              </a:rPr>
              <a:t>TARGET USERS &amp; WHY IT MATTERS</a:t>
            </a:r>
            <a:endParaRPr lang="en-US" sz="1100" dirty="0"/>
          </a:p>
        </p:txBody>
      </p:sp>
      <p:sp>
        <p:nvSpPr>
          <p:cNvPr id="6" name="Text 4"/>
          <p:cNvSpPr txBox="1"/>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5E6875"/>
                </a:solidFill>
                <a:latin typeface="Calibri" pitchFamily="34" charset="0"/>
                <a:ea typeface="Calibri" pitchFamily="34" charset="-122"/>
                <a:cs typeface="Calibri" pitchFamily="34" charset="-120"/>
              </a:rPr>
              <a:t>03</a:t>
            </a:r>
            <a:endParaRPr lang="en-US" sz="1000" dirty="0"/>
          </a:p>
        </p:txBody>
      </p:sp>
      <p:sp>
        <p:nvSpPr>
          <p:cNvPr id="7" name="Text 5"/>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200" b="1" dirty="0">
                <a:solidFill>
                  <a:srgbClr val="1B1F24"/>
                </a:solidFill>
                <a:latin typeface="Arial" pitchFamily="34" charset="0"/>
                <a:ea typeface="Arial" pitchFamily="34" charset="-122"/>
                <a:cs typeface="Arial" pitchFamily="34" charset="-120"/>
              </a:rPr>
              <a:t>Built for the people racing the clock</a:t>
            </a:r>
            <a:endParaRPr lang="en-US" sz="3200" dirty="0"/>
          </a:p>
        </p:txBody>
      </p:sp>
      <p:sp>
        <p:nvSpPr>
          <p:cNvPr id="8" name="Shape 6"/>
          <p:cNvSpPr/>
          <p:nvPr/>
        </p:nvSpPr>
        <p:spPr>
          <a:xfrm>
            <a:off x="548640" y="1783080"/>
            <a:ext cx="6858000" cy="713232"/>
          </a:xfrm>
          <a:prstGeom prst="roundRect">
            <a:avLst>
              <a:gd name="adj" fmla="val 10256"/>
            </a:avLst>
          </a:prstGeom>
          <a:solidFill>
            <a:srgbClr val="FFFFFF"/>
          </a:solidFill>
          <a:ln w="12700">
            <a:solidFill>
              <a:srgbClr val="FFFFFF"/>
            </a:solidFill>
            <a:prstDash val="solid"/>
          </a:ln>
          <a:effectLst>
            <a:outerShdw sx="100000" sy="100000" kx="0" ky="0" algn="bl" rotWithShape="0" blurRad="76200" dist="19050" dir="5400000">
              <a:srgbClr val="000000">
                <a:alpha val="8000"/>
              </a:srgbClr>
            </a:outerShdw>
          </a:effectLst>
        </p:spPr>
      </p:sp>
      <p:sp>
        <p:nvSpPr>
          <p:cNvPr id="9" name="Shape 7"/>
          <p:cNvSpPr/>
          <p:nvPr/>
        </p:nvSpPr>
        <p:spPr>
          <a:xfrm>
            <a:off x="713232" y="1911096"/>
            <a:ext cx="457200" cy="457200"/>
          </a:xfrm>
          <a:prstGeom prst="ellipse">
            <a:avLst/>
          </a:prstGeom>
          <a:solidFill>
            <a:srgbClr val="E03E3E"/>
          </a:solidFill>
          <a:ln w="12700">
            <a:solidFill>
              <a:srgbClr val="E03E3E"/>
            </a:solidFill>
            <a:prstDash val="solid"/>
          </a:ln>
        </p:spPr>
      </p:sp>
      <p:pic>
        <p:nvPicPr>
          <p:cNvPr id="10" name="Image 0" descr="preencoded.png">    </p:cNvPr>
          <p:cNvPicPr>
            <a:picLocks noChangeAspect="1"/>
          </p:cNvPicPr>
          <p:nvPr/>
        </p:nvPicPr>
        <p:blipFill>
          <a:blip r:embed="rId1"/>
          <a:stretch>
            <a:fillRect/>
          </a:stretch>
        </p:blipFill>
        <p:spPr>
          <a:xfrm>
            <a:off x="827532" y="2025396"/>
            <a:ext cx="228600" cy="228600"/>
          </a:xfrm>
          <a:prstGeom prst="rect">
            <a:avLst/>
          </a:prstGeom>
        </p:spPr>
      </p:pic>
      <p:sp>
        <p:nvSpPr>
          <p:cNvPr id="11" name="Text 8"/>
          <p:cNvSpPr txBox="1"/>
          <p:nvPr/>
        </p:nvSpPr>
        <p:spPr>
          <a:xfrm>
            <a:off x="1353312" y="1874520"/>
            <a:ext cx="5852160" cy="274320"/>
          </a:xfrm>
          <a:prstGeom prst="rect">
            <a:avLst/>
          </a:prstGeom>
          <a:noFill/>
          <a:ln/>
        </p:spPr>
        <p:txBody>
          <a:bodyPr wrap="square" lIns="0" tIns="0" rIns="0" bIns="0" rtlCol="0" anchor="ctr"/>
          <a:lstStyle/>
          <a:p>
            <a:pPr indent="0" marL="0">
              <a:buNone/>
            </a:pPr>
            <a:r>
              <a:rPr lang="en-US" sz="1400" b="1" dirty="0">
                <a:solidFill>
                  <a:srgbClr val="1B1F24"/>
                </a:solidFill>
                <a:latin typeface="Arial" pitchFamily="34" charset="0"/>
                <a:ea typeface="Arial" pitchFamily="34" charset="-122"/>
                <a:cs typeface="Arial" pitchFamily="34" charset="-120"/>
              </a:rPr>
              <a:t>EMS dispatchers &amp; 108 command centres</a:t>
            </a:r>
            <a:endParaRPr lang="en-US" sz="1400" dirty="0"/>
          </a:p>
        </p:txBody>
      </p:sp>
      <p:sp>
        <p:nvSpPr>
          <p:cNvPr id="12" name="Text 9"/>
          <p:cNvSpPr txBox="1"/>
          <p:nvPr/>
        </p:nvSpPr>
        <p:spPr>
          <a:xfrm>
            <a:off x="1353312" y="2148840"/>
            <a:ext cx="5897880" cy="274320"/>
          </a:xfrm>
          <a:prstGeom prst="rect">
            <a:avLst/>
          </a:prstGeom>
          <a:noFill/>
          <a:ln/>
        </p:spPr>
        <p:txBody>
          <a:bodyPr wrap="square" lIns="0" tIns="0" rIns="0" bIns="0" rtlCol="0" anchor="ctr"/>
          <a:lstStyle/>
          <a:p>
            <a:pPr indent="0" marL="0">
              <a:buNone/>
            </a:pPr>
            <a:r>
              <a:rPr lang="en-US" sz="1300" dirty="0">
                <a:solidFill>
                  <a:srgbClr val="5E6875"/>
                </a:solidFill>
                <a:latin typeface="Calibri" pitchFamily="34" charset="0"/>
                <a:ea typeface="Calibri" pitchFamily="34" charset="-122"/>
                <a:cs typeface="Calibri" pitchFamily="34" charset="-120"/>
              </a:rPr>
              <a:t>Primary user: early warning on at-risk missions, with an explained, ranked action.</a:t>
            </a:r>
            <a:endParaRPr lang="en-US" sz="1300" dirty="0"/>
          </a:p>
        </p:txBody>
      </p:sp>
      <p:sp>
        <p:nvSpPr>
          <p:cNvPr id="13" name="Shape 10"/>
          <p:cNvSpPr/>
          <p:nvPr/>
        </p:nvSpPr>
        <p:spPr>
          <a:xfrm>
            <a:off x="548640" y="2633472"/>
            <a:ext cx="6858000" cy="713232"/>
          </a:xfrm>
          <a:prstGeom prst="roundRect">
            <a:avLst>
              <a:gd name="adj" fmla="val 10256"/>
            </a:avLst>
          </a:prstGeom>
          <a:solidFill>
            <a:srgbClr val="FFFFFF"/>
          </a:solidFill>
          <a:ln w="12700">
            <a:solidFill>
              <a:srgbClr val="FFFFFF"/>
            </a:solidFill>
            <a:prstDash val="solid"/>
          </a:ln>
          <a:effectLst>
            <a:outerShdw sx="100000" sy="100000" kx="0" ky="0" algn="bl" rotWithShape="0" blurRad="76200" dist="19050" dir="5400000">
              <a:srgbClr val="000000">
                <a:alpha val="8000"/>
              </a:srgbClr>
            </a:outerShdw>
          </a:effectLst>
        </p:spPr>
      </p:sp>
      <p:sp>
        <p:nvSpPr>
          <p:cNvPr id="14" name="Shape 11"/>
          <p:cNvSpPr/>
          <p:nvPr/>
        </p:nvSpPr>
        <p:spPr>
          <a:xfrm>
            <a:off x="713232" y="2761488"/>
            <a:ext cx="457200" cy="457200"/>
          </a:xfrm>
          <a:prstGeom prst="ellipse">
            <a:avLst/>
          </a:prstGeom>
          <a:solidFill>
            <a:srgbClr val="12161C"/>
          </a:solidFill>
          <a:ln w="12700">
            <a:solidFill>
              <a:srgbClr val="12161C"/>
            </a:solidFill>
            <a:prstDash val="solid"/>
          </a:ln>
        </p:spPr>
      </p:sp>
      <p:pic>
        <p:nvPicPr>
          <p:cNvPr id="15" name="Image 1" descr="preencoded.png">    </p:cNvPr>
          <p:cNvPicPr>
            <a:picLocks noChangeAspect="1"/>
          </p:cNvPicPr>
          <p:nvPr/>
        </p:nvPicPr>
        <p:blipFill>
          <a:blip r:embed="rId2"/>
          <a:stretch>
            <a:fillRect/>
          </a:stretch>
        </p:blipFill>
        <p:spPr>
          <a:xfrm>
            <a:off x="827532" y="2875788"/>
            <a:ext cx="228600" cy="228600"/>
          </a:xfrm>
          <a:prstGeom prst="rect">
            <a:avLst/>
          </a:prstGeom>
        </p:spPr>
      </p:pic>
      <p:sp>
        <p:nvSpPr>
          <p:cNvPr id="16" name="Text 12"/>
          <p:cNvSpPr txBox="1"/>
          <p:nvPr/>
        </p:nvSpPr>
        <p:spPr>
          <a:xfrm>
            <a:off x="1353312" y="2724912"/>
            <a:ext cx="5852160" cy="274320"/>
          </a:xfrm>
          <a:prstGeom prst="rect">
            <a:avLst/>
          </a:prstGeom>
          <a:noFill/>
          <a:ln/>
        </p:spPr>
        <p:txBody>
          <a:bodyPr wrap="square" lIns="0" tIns="0" rIns="0" bIns="0" rtlCol="0" anchor="ctr"/>
          <a:lstStyle/>
          <a:p>
            <a:pPr indent="0" marL="0">
              <a:buNone/>
            </a:pPr>
            <a:r>
              <a:rPr lang="en-US" sz="1400" b="1" dirty="0">
                <a:solidFill>
                  <a:srgbClr val="1B1F24"/>
                </a:solidFill>
                <a:latin typeface="Arial" pitchFamily="34" charset="0"/>
                <a:ea typeface="Arial" pitchFamily="34" charset="-122"/>
                <a:cs typeface="Arial" pitchFamily="34" charset="-120"/>
              </a:rPr>
              <a:t>Ambulance crews</a:t>
            </a:r>
            <a:endParaRPr lang="en-US" sz="1400" dirty="0"/>
          </a:p>
        </p:txBody>
      </p:sp>
      <p:sp>
        <p:nvSpPr>
          <p:cNvPr id="17" name="Text 13"/>
          <p:cNvSpPr txBox="1"/>
          <p:nvPr/>
        </p:nvSpPr>
        <p:spPr>
          <a:xfrm>
            <a:off x="1353312" y="2999232"/>
            <a:ext cx="5897880" cy="274320"/>
          </a:xfrm>
          <a:prstGeom prst="rect">
            <a:avLst/>
          </a:prstGeom>
          <a:noFill/>
          <a:ln/>
        </p:spPr>
        <p:txBody>
          <a:bodyPr wrap="square" lIns="0" tIns="0" rIns="0" bIns="0" rtlCol="0" anchor="ctr"/>
          <a:lstStyle/>
          <a:p>
            <a:pPr indent="0" marL="0">
              <a:buNone/>
            </a:pPr>
            <a:r>
              <a:rPr lang="en-US" sz="1300" dirty="0">
                <a:solidFill>
                  <a:srgbClr val="5E6875"/>
                </a:solidFill>
                <a:latin typeface="Calibri" pitchFamily="34" charset="0"/>
                <a:ea typeface="Calibri" pitchFamily="34" charset="-122"/>
                <a:cs typeface="Calibri" pitchFamily="34" charset="-120"/>
              </a:rPr>
              <a:t>Approved reroute or destination changes delivered straight to the vehicle.</a:t>
            </a:r>
            <a:endParaRPr lang="en-US" sz="1300" dirty="0"/>
          </a:p>
        </p:txBody>
      </p:sp>
      <p:sp>
        <p:nvSpPr>
          <p:cNvPr id="18" name="Shape 14"/>
          <p:cNvSpPr/>
          <p:nvPr/>
        </p:nvSpPr>
        <p:spPr>
          <a:xfrm>
            <a:off x="548640" y="3483864"/>
            <a:ext cx="6858000" cy="713232"/>
          </a:xfrm>
          <a:prstGeom prst="roundRect">
            <a:avLst>
              <a:gd name="adj" fmla="val 10256"/>
            </a:avLst>
          </a:prstGeom>
          <a:solidFill>
            <a:srgbClr val="FFFFFF"/>
          </a:solidFill>
          <a:ln w="12700">
            <a:solidFill>
              <a:srgbClr val="FFFFFF"/>
            </a:solidFill>
            <a:prstDash val="solid"/>
          </a:ln>
          <a:effectLst>
            <a:outerShdw sx="100000" sy="100000" kx="0" ky="0" algn="bl" rotWithShape="0" blurRad="76200" dist="19050" dir="5400000">
              <a:srgbClr val="000000">
                <a:alpha val="8000"/>
              </a:srgbClr>
            </a:outerShdw>
          </a:effectLst>
        </p:spPr>
      </p:sp>
      <p:sp>
        <p:nvSpPr>
          <p:cNvPr id="19" name="Shape 15"/>
          <p:cNvSpPr/>
          <p:nvPr/>
        </p:nvSpPr>
        <p:spPr>
          <a:xfrm>
            <a:off x="713232" y="3611880"/>
            <a:ext cx="457200" cy="457200"/>
          </a:xfrm>
          <a:prstGeom prst="ellipse">
            <a:avLst/>
          </a:prstGeom>
          <a:solidFill>
            <a:srgbClr val="12161C"/>
          </a:solidFill>
          <a:ln w="12700">
            <a:solidFill>
              <a:srgbClr val="12161C"/>
            </a:solidFill>
            <a:prstDash val="solid"/>
          </a:ln>
        </p:spPr>
      </p:sp>
      <p:pic>
        <p:nvPicPr>
          <p:cNvPr id="20" name="Image 2" descr="preencoded.png">    </p:cNvPr>
          <p:cNvPicPr>
            <a:picLocks noChangeAspect="1"/>
          </p:cNvPicPr>
          <p:nvPr/>
        </p:nvPicPr>
        <p:blipFill>
          <a:blip r:embed="rId3"/>
          <a:stretch>
            <a:fillRect/>
          </a:stretch>
        </p:blipFill>
        <p:spPr>
          <a:xfrm>
            <a:off x="827532" y="3726180"/>
            <a:ext cx="228600" cy="228600"/>
          </a:xfrm>
          <a:prstGeom prst="rect">
            <a:avLst/>
          </a:prstGeom>
        </p:spPr>
      </p:pic>
      <p:sp>
        <p:nvSpPr>
          <p:cNvPr id="21" name="Text 16"/>
          <p:cNvSpPr txBox="1"/>
          <p:nvPr/>
        </p:nvSpPr>
        <p:spPr>
          <a:xfrm>
            <a:off x="1353312" y="3575304"/>
            <a:ext cx="5852160" cy="274320"/>
          </a:xfrm>
          <a:prstGeom prst="rect">
            <a:avLst/>
          </a:prstGeom>
          <a:noFill/>
          <a:ln/>
        </p:spPr>
        <p:txBody>
          <a:bodyPr wrap="square" lIns="0" tIns="0" rIns="0" bIns="0" rtlCol="0" anchor="ctr"/>
          <a:lstStyle/>
          <a:p>
            <a:pPr indent="0" marL="0">
              <a:buNone/>
            </a:pPr>
            <a:r>
              <a:rPr lang="en-US" sz="1400" b="1" dirty="0">
                <a:solidFill>
                  <a:srgbClr val="1B1F24"/>
                </a:solidFill>
                <a:latin typeface="Arial" pitchFamily="34" charset="0"/>
                <a:ea typeface="Arial" pitchFamily="34" charset="-122"/>
                <a:cs typeface="Arial" pitchFamily="34" charset="-120"/>
              </a:rPr>
              <a:t>Emergency department teams</a:t>
            </a:r>
            <a:endParaRPr lang="en-US" sz="1400" dirty="0"/>
          </a:p>
        </p:txBody>
      </p:sp>
      <p:sp>
        <p:nvSpPr>
          <p:cNvPr id="22" name="Text 17"/>
          <p:cNvSpPr txBox="1"/>
          <p:nvPr/>
        </p:nvSpPr>
        <p:spPr>
          <a:xfrm>
            <a:off x="1353312" y="3849624"/>
            <a:ext cx="5897880" cy="274320"/>
          </a:xfrm>
          <a:prstGeom prst="rect">
            <a:avLst/>
          </a:prstGeom>
          <a:noFill/>
          <a:ln/>
        </p:spPr>
        <p:txBody>
          <a:bodyPr wrap="square" lIns="0" tIns="0" rIns="0" bIns="0" rtlCol="0" anchor="ctr"/>
          <a:lstStyle/>
          <a:p>
            <a:pPr indent="0" marL="0">
              <a:buNone/>
            </a:pPr>
            <a:r>
              <a:rPr lang="en-US" sz="1300" dirty="0">
                <a:solidFill>
                  <a:srgbClr val="5E6875"/>
                </a:solidFill>
                <a:latin typeface="Calibri" pitchFamily="34" charset="0"/>
                <a:ea typeface="Calibri" pitchFamily="34" charset="-122"/>
                <a:cs typeface="Calibri" pitchFamily="34" charset="-120"/>
              </a:rPr>
              <a:t>Pre-alerts and queue visibility so a bay is ready when the patient arrives.</a:t>
            </a:r>
            <a:endParaRPr lang="en-US" sz="1300" dirty="0"/>
          </a:p>
        </p:txBody>
      </p:sp>
      <p:sp>
        <p:nvSpPr>
          <p:cNvPr id="23" name="Shape 18"/>
          <p:cNvSpPr/>
          <p:nvPr/>
        </p:nvSpPr>
        <p:spPr>
          <a:xfrm>
            <a:off x="548640" y="4334256"/>
            <a:ext cx="6858000" cy="713232"/>
          </a:xfrm>
          <a:prstGeom prst="roundRect">
            <a:avLst>
              <a:gd name="adj" fmla="val 10256"/>
            </a:avLst>
          </a:prstGeom>
          <a:solidFill>
            <a:srgbClr val="FFFFFF"/>
          </a:solidFill>
          <a:ln w="12700">
            <a:solidFill>
              <a:srgbClr val="FFFFFF"/>
            </a:solidFill>
            <a:prstDash val="solid"/>
          </a:ln>
          <a:effectLst>
            <a:outerShdw sx="100000" sy="100000" kx="0" ky="0" algn="bl" rotWithShape="0" blurRad="76200" dist="19050" dir="5400000">
              <a:srgbClr val="000000">
                <a:alpha val="8000"/>
              </a:srgbClr>
            </a:outerShdw>
          </a:effectLst>
        </p:spPr>
      </p:sp>
      <p:sp>
        <p:nvSpPr>
          <p:cNvPr id="24" name="Shape 19"/>
          <p:cNvSpPr/>
          <p:nvPr/>
        </p:nvSpPr>
        <p:spPr>
          <a:xfrm>
            <a:off x="713232" y="4462272"/>
            <a:ext cx="457200" cy="457200"/>
          </a:xfrm>
          <a:prstGeom prst="ellipse">
            <a:avLst/>
          </a:prstGeom>
          <a:solidFill>
            <a:srgbClr val="12161C"/>
          </a:solidFill>
          <a:ln w="12700">
            <a:solidFill>
              <a:srgbClr val="12161C"/>
            </a:solidFill>
            <a:prstDash val="solid"/>
          </a:ln>
        </p:spPr>
      </p:sp>
      <p:pic>
        <p:nvPicPr>
          <p:cNvPr id="25" name="Image 3" descr="preencoded.png">    </p:cNvPr>
          <p:cNvPicPr>
            <a:picLocks noChangeAspect="1"/>
          </p:cNvPicPr>
          <p:nvPr/>
        </p:nvPicPr>
        <p:blipFill>
          <a:blip r:embed="rId4"/>
          <a:stretch>
            <a:fillRect/>
          </a:stretch>
        </p:blipFill>
        <p:spPr>
          <a:xfrm>
            <a:off x="827532" y="4576572"/>
            <a:ext cx="228600" cy="228600"/>
          </a:xfrm>
          <a:prstGeom prst="rect">
            <a:avLst/>
          </a:prstGeom>
        </p:spPr>
      </p:pic>
      <p:sp>
        <p:nvSpPr>
          <p:cNvPr id="26" name="Text 20"/>
          <p:cNvSpPr txBox="1"/>
          <p:nvPr/>
        </p:nvSpPr>
        <p:spPr>
          <a:xfrm>
            <a:off x="1353312" y="4425696"/>
            <a:ext cx="5852160" cy="274320"/>
          </a:xfrm>
          <a:prstGeom prst="rect">
            <a:avLst/>
          </a:prstGeom>
          <a:noFill/>
          <a:ln/>
        </p:spPr>
        <p:txBody>
          <a:bodyPr wrap="square" lIns="0" tIns="0" rIns="0" bIns="0" rtlCol="0" anchor="ctr"/>
          <a:lstStyle/>
          <a:p>
            <a:pPr indent="0" marL="0">
              <a:buNone/>
            </a:pPr>
            <a:r>
              <a:rPr lang="en-US" sz="1400" b="1" dirty="0">
                <a:solidFill>
                  <a:srgbClr val="1B1F24"/>
                </a:solidFill>
                <a:latin typeface="Arial" pitchFamily="34" charset="0"/>
                <a:ea typeface="Arial" pitchFamily="34" charset="-122"/>
                <a:cs typeface="Arial" pitchFamily="34" charset="-120"/>
              </a:rPr>
              <a:t>Traffic &amp; municipal authorities</a:t>
            </a:r>
            <a:endParaRPr lang="en-US" sz="1400" dirty="0"/>
          </a:p>
        </p:txBody>
      </p:sp>
      <p:sp>
        <p:nvSpPr>
          <p:cNvPr id="27" name="Text 21"/>
          <p:cNvSpPr txBox="1"/>
          <p:nvPr/>
        </p:nvSpPr>
        <p:spPr>
          <a:xfrm>
            <a:off x="1353312" y="4700016"/>
            <a:ext cx="5897880" cy="274320"/>
          </a:xfrm>
          <a:prstGeom prst="rect">
            <a:avLst/>
          </a:prstGeom>
          <a:noFill/>
          <a:ln/>
        </p:spPr>
        <p:txBody>
          <a:bodyPr wrap="square" lIns="0" tIns="0" rIns="0" bIns="0" rtlCol="0" anchor="ctr"/>
          <a:lstStyle/>
          <a:p>
            <a:pPr indent="0" marL="0">
              <a:buNone/>
            </a:pPr>
            <a:r>
              <a:rPr lang="en-US" sz="1300" dirty="0">
                <a:solidFill>
                  <a:srgbClr val="5E6875"/>
                </a:solidFill>
                <a:latin typeface="Calibri" pitchFamily="34" charset="0"/>
                <a:ea typeface="Calibri" pitchFamily="34" charset="-122"/>
                <a:cs typeface="Calibri" pitchFamily="34" charset="-120"/>
              </a:rPr>
              <a:t>Corridor alerts routed through existing, authorised traffic-control systems.</a:t>
            </a:r>
            <a:endParaRPr lang="en-US" sz="1300" dirty="0"/>
          </a:p>
        </p:txBody>
      </p:sp>
      <p:sp>
        <p:nvSpPr>
          <p:cNvPr id="28" name="Shape 22"/>
          <p:cNvSpPr/>
          <p:nvPr/>
        </p:nvSpPr>
        <p:spPr>
          <a:xfrm>
            <a:off x="548640" y="5184648"/>
            <a:ext cx="6858000" cy="713232"/>
          </a:xfrm>
          <a:prstGeom prst="roundRect">
            <a:avLst>
              <a:gd name="adj" fmla="val 10256"/>
            </a:avLst>
          </a:prstGeom>
          <a:solidFill>
            <a:srgbClr val="FFFFFF"/>
          </a:solidFill>
          <a:ln w="12700">
            <a:solidFill>
              <a:srgbClr val="FFFFFF"/>
            </a:solidFill>
            <a:prstDash val="solid"/>
          </a:ln>
          <a:effectLst>
            <a:outerShdw sx="100000" sy="100000" kx="0" ky="0" algn="bl" rotWithShape="0" blurRad="76200" dist="19050" dir="5400000">
              <a:srgbClr val="000000">
                <a:alpha val="8000"/>
              </a:srgbClr>
            </a:outerShdw>
          </a:effectLst>
        </p:spPr>
      </p:sp>
      <p:sp>
        <p:nvSpPr>
          <p:cNvPr id="29" name="Shape 23"/>
          <p:cNvSpPr/>
          <p:nvPr/>
        </p:nvSpPr>
        <p:spPr>
          <a:xfrm>
            <a:off x="713232" y="5312664"/>
            <a:ext cx="457200" cy="457200"/>
          </a:xfrm>
          <a:prstGeom prst="ellipse">
            <a:avLst/>
          </a:prstGeom>
          <a:solidFill>
            <a:srgbClr val="12161C"/>
          </a:solidFill>
          <a:ln w="12700">
            <a:solidFill>
              <a:srgbClr val="12161C"/>
            </a:solidFill>
            <a:prstDash val="solid"/>
          </a:ln>
        </p:spPr>
      </p:sp>
      <p:pic>
        <p:nvPicPr>
          <p:cNvPr id="30" name="Image 4" descr="preencoded.png">    </p:cNvPr>
          <p:cNvPicPr>
            <a:picLocks noChangeAspect="1"/>
          </p:cNvPicPr>
          <p:nvPr/>
        </p:nvPicPr>
        <p:blipFill>
          <a:blip r:embed="rId5"/>
          <a:stretch>
            <a:fillRect/>
          </a:stretch>
        </p:blipFill>
        <p:spPr>
          <a:xfrm>
            <a:off x="827532" y="5426964"/>
            <a:ext cx="228600" cy="228600"/>
          </a:xfrm>
          <a:prstGeom prst="rect">
            <a:avLst/>
          </a:prstGeom>
        </p:spPr>
      </p:pic>
      <p:sp>
        <p:nvSpPr>
          <p:cNvPr id="31" name="Text 24"/>
          <p:cNvSpPr txBox="1"/>
          <p:nvPr/>
        </p:nvSpPr>
        <p:spPr>
          <a:xfrm>
            <a:off x="1353312" y="5276088"/>
            <a:ext cx="5852160" cy="274320"/>
          </a:xfrm>
          <a:prstGeom prst="rect">
            <a:avLst/>
          </a:prstGeom>
          <a:noFill/>
          <a:ln/>
        </p:spPr>
        <p:txBody>
          <a:bodyPr wrap="square" lIns="0" tIns="0" rIns="0" bIns="0" rtlCol="0" anchor="ctr"/>
          <a:lstStyle/>
          <a:p>
            <a:pPr indent="0" marL="0">
              <a:buNone/>
            </a:pPr>
            <a:r>
              <a:rPr lang="en-US" sz="1400" b="1" dirty="0">
                <a:solidFill>
                  <a:srgbClr val="1B1F24"/>
                </a:solidFill>
                <a:latin typeface="Arial" pitchFamily="34" charset="0"/>
                <a:ea typeface="Arial" pitchFamily="34" charset="-122"/>
                <a:cs typeface="Arial" pitchFamily="34" charset="-120"/>
              </a:rPr>
              <a:t>EMS administrators &amp; health departments</a:t>
            </a:r>
            <a:endParaRPr lang="en-US" sz="1400" dirty="0"/>
          </a:p>
        </p:txBody>
      </p:sp>
      <p:sp>
        <p:nvSpPr>
          <p:cNvPr id="32" name="Text 25"/>
          <p:cNvSpPr txBox="1"/>
          <p:nvPr/>
        </p:nvSpPr>
        <p:spPr>
          <a:xfrm>
            <a:off x="1353312" y="5550408"/>
            <a:ext cx="5897880" cy="274320"/>
          </a:xfrm>
          <a:prstGeom prst="rect">
            <a:avLst/>
          </a:prstGeom>
          <a:noFill/>
          <a:ln/>
        </p:spPr>
        <p:txBody>
          <a:bodyPr wrap="square" lIns="0" tIns="0" rIns="0" bIns="0" rtlCol="0" anchor="ctr"/>
          <a:lstStyle/>
          <a:p>
            <a:pPr indent="0" marL="0">
              <a:buNone/>
            </a:pPr>
            <a:r>
              <a:rPr lang="en-US" sz="1300" dirty="0">
                <a:solidFill>
                  <a:srgbClr val="5E6875"/>
                </a:solidFill>
                <a:latin typeface="Calibri" pitchFamily="34" charset="0"/>
                <a:ea typeface="Calibri" pitchFamily="34" charset="-122"/>
                <a:cs typeface="Calibri" pitchFamily="34" charset="-120"/>
              </a:rPr>
              <a:t>Response-time compliance and recurring-bottleneck analytics.</a:t>
            </a:r>
            <a:endParaRPr lang="en-US" sz="1300" dirty="0"/>
          </a:p>
        </p:txBody>
      </p:sp>
      <p:sp>
        <p:nvSpPr>
          <p:cNvPr id="33" name="Shape 26"/>
          <p:cNvSpPr/>
          <p:nvPr/>
        </p:nvSpPr>
        <p:spPr>
          <a:xfrm>
            <a:off x="7772400" y="1783080"/>
            <a:ext cx="3870655" cy="4114800"/>
          </a:xfrm>
          <a:prstGeom prst="roundRect">
            <a:avLst>
              <a:gd name="adj" fmla="val 2362"/>
            </a:avLst>
          </a:prstGeom>
          <a:solidFill>
            <a:srgbClr val="12161C"/>
          </a:solidFill>
          <a:ln w="12700">
            <a:solidFill>
              <a:srgbClr val="12161C"/>
            </a:solidFill>
            <a:prstDash val="solid"/>
          </a:ln>
        </p:spPr>
      </p:sp>
      <p:sp>
        <p:nvSpPr>
          <p:cNvPr id="34" name="Text 27"/>
          <p:cNvSpPr txBox="1"/>
          <p:nvPr/>
        </p:nvSpPr>
        <p:spPr>
          <a:xfrm>
            <a:off x="8092440" y="2011680"/>
            <a:ext cx="3230575" cy="228600"/>
          </a:xfrm>
          <a:prstGeom prst="rect">
            <a:avLst/>
          </a:prstGeom>
          <a:noFill/>
          <a:ln/>
        </p:spPr>
        <p:txBody>
          <a:bodyPr wrap="square" lIns="0" tIns="0" rIns="0" bIns="0" rtlCol="0" anchor="ctr"/>
          <a:lstStyle/>
          <a:p>
            <a:pPr indent="0" marL="0">
              <a:buNone/>
            </a:pPr>
            <a:r>
              <a:rPr lang="en-US" sz="1000" b="1" spc="200" kern="0" dirty="0">
                <a:solidFill>
                  <a:srgbClr val="F2A52B"/>
                </a:solidFill>
                <a:latin typeface="Arial" pitchFamily="34" charset="0"/>
                <a:ea typeface="Arial" pitchFamily="34" charset="-122"/>
                <a:cs typeface="Arial" pitchFamily="34" charset="-120"/>
              </a:rPr>
              <a:t>WHY IT MATTERS</a:t>
            </a:r>
            <a:endParaRPr lang="en-US" sz="1000" dirty="0"/>
          </a:p>
        </p:txBody>
      </p:sp>
      <p:sp>
        <p:nvSpPr>
          <p:cNvPr id="35" name="Text 28"/>
          <p:cNvSpPr txBox="1"/>
          <p:nvPr/>
        </p:nvSpPr>
        <p:spPr>
          <a:xfrm>
            <a:off x="8092440" y="2286000"/>
            <a:ext cx="3230575" cy="59436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14,132</a:t>
            </a:r>
            <a:endParaRPr lang="en-US" sz="3600" dirty="0"/>
          </a:p>
        </p:txBody>
      </p:sp>
      <p:sp>
        <p:nvSpPr>
          <p:cNvPr id="36" name="Text 29"/>
          <p:cNvSpPr txBox="1"/>
          <p:nvPr/>
        </p:nvSpPr>
        <p:spPr>
          <a:xfrm>
            <a:off x="8092440" y="2880360"/>
            <a:ext cx="3230575" cy="777240"/>
          </a:xfrm>
          <a:prstGeom prst="rect">
            <a:avLst/>
          </a:prstGeom>
          <a:noFill/>
          <a:ln/>
        </p:spPr>
        <p:txBody>
          <a:bodyPr wrap="square" lIns="0" tIns="0" rIns="0" bIns="0" rtlCol="0" anchor="t"/>
          <a:lstStyle/>
          <a:p>
            <a:pPr indent="0" marL="0">
              <a:buNone/>
            </a:pPr>
            <a:r>
              <a:rPr lang="en-US" sz="1300" dirty="0">
                <a:solidFill>
                  <a:srgbClr val="9DA7B3"/>
                </a:solidFill>
                <a:latin typeface="Calibri" pitchFamily="34" charset="0"/>
                <a:ea typeface="Calibri" pitchFamily="34" charset="-122"/>
                <a:cs typeface="Calibri" pitchFamily="34" charset="-120"/>
              </a:rPr>
              <a:t>stroke thrombolysis patients studied: every extra minute of door-to-needle delay was linked to lower survival odds and worse function.</a:t>
            </a:r>
            <a:endParaRPr lang="en-US" sz="1300" dirty="0"/>
          </a:p>
        </p:txBody>
      </p:sp>
      <p:sp>
        <p:nvSpPr>
          <p:cNvPr id="37" name="Text 30"/>
          <p:cNvSpPr txBox="1"/>
          <p:nvPr/>
        </p:nvSpPr>
        <p:spPr>
          <a:xfrm>
            <a:off x="8092440" y="3703320"/>
            <a:ext cx="3230575" cy="594360"/>
          </a:xfrm>
          <a:prstGeom prst="rect">
            <a:avLst/>
          </a:prstGeom>
          <a:noFill/>
          <a:ln/>
        </p:spPr>
        <p:txBody>
          <a:bodyPr wrap="square" lIns="0" tIns="0" rIns="0" bIns="0" rtlCol="0" anchor="ctr"/>
          <a:lstStyle/>
          <a:p>
            <a:pPr indent="0" marL="0">
              <a:buNone/>
            </a:pPr>
            <a:r>
              <a:rPr lang="en-US" sz="3600" b="1" dirty="0">
                <a:solidFill>
                  <a:srgbClr val="E03E3E"/>
                </a:solidFill>
                <a:latin typeface="Arial" pitchFamily="34" charset="0"/>
                <a:ea typeface="Arial" pitchFamily="34" charset="-122"/>
                <a:cs typeface="Arial" pitchFamily="34" charset="-120"/>
              </a:rPr>
              <a:t>17.5%</a:t>
            </a:r>
            <a:endParaRPr lang="en-US" sz="3600" dirty="0"/>
          </a:p>
        </p:txBody>
      </p:sp>
      <p:sp>
        <p:nvSpPr>
          <p:cNvPr id="38" name="Text 31"/>
          <p:cNvSpPr txBox="1"/>
          <p:nvPr/>
        </p:nvSpPr>
        <p:spPr>
          <a:xfrm>
            <a:off x="8092440" y="4297680"/>
            <a:ext cx="3230575" cy="640080"/>
          </a:xfrm>
          <a:prstGeom prst="rect">
            <a:avLst/>
          </a:prstGeom>
          <a:noFill/>
          <a:ln/>
        </p:spPr>
        <p:txBody>
          <a:bodyPr wrap="square" lIns="0" tIns="0" rIns="0" bIns="0" rtlCol="0" anchor="t"/>
          <a:lstStyle/>
          <a:p>
            <a:pPr indent="0" marL="0">
              <a:buNone/>
            </a:pPr>
            <a:r>
              <a:rPr lang="en-US" sz="1300" dirty="0">
                <a:solidFill>
                  <a:srgbClr val="9DA7B3"/>
                </a:solidFill>
                <a:latin typeface="Calibri" pitchFamily="34" charset="0"/>
                <a:ea typeface="Calibri" pitchFamily="34" charset="-122"/>
                <a:cs typeface="Calibri" pitchFamily="34" charset="-120"/>
              </a:rPr>
              <a:t>of 141,000+ ambulance transports had handover delays of 30 min or more (12.5% at 30–60 min, 5% at 60+).</a:t>
            </a:r>
            <a:endParaRPr lang="en-US" sz="1300" dirty="0"/>
          </a:p>
        </p:txBody>
      </p:sp>
      <p:sp>
        <p:nvSpPr>
          <p:cNvPr id="39" name="Shape 32"/>
          <p:cNvSpPr/>
          <p:nvPr/>
        </p:nvSpPr>
        <p:spPr>
          <a:xfrm>
            <a:off x="8092440" y="5029200"/>
            <a:ext cx="3230575" cy="0"/>
          </a:xfrm>
          <a:prstGeom prst="line">
            <a:avLst/>
          </a:prstGeom>
          <a:noFill/>
          <a:ln w="12700">
            <a:solidFill>
              <a:srgbClr val="2C3440"/>
            </a:solidFill>
            <a:prstDash val="solid"/>
          </a:ln>
        </p:spPr>
      </p:sp>
      <p:sp>
        <p:nvSpPr>
          <p:cNvPr id="40" name="Text 33"/>
          <p:cNvSpPr txBox="1"/>
          <p:nvPr/>
        </p:nvSpPr>
        <p:spPr>
          <a:xfrm>
            <a:off x="8092440" y="5120640"/>
            <a:ext cx="3230575" cy="640080"/>
          </a:xfrm>
          <a:prstGeom prst="rect">
            <a:avLst/>
          </a:prstGeom>
          <a:noFill/>
          <a:ln/>
        </p:spPr>
        <p:txBody>
          <a:bodyPr wrap="square" lIns="0" tIns="0" rIns="0" bIns="0" rtlCol="0" anchor="ctr"/>
          <a:lstStyle/>
          <a:p>
            <a:pPr indent="0" marL="0">
              <a:buNone/>
            </a:pPr>
            <a:r>
              <a:rPr lang="en-US" sz="1400" i="1" dirty="0">
                <a:solidFill>
                  <a:srgbClr val="FFFFFF"/>
                </a:solidFill>
                <a:latin typeface="Calibri" pitchFamily="34" charset="0"/>
                <a:ea typeface="Calibri" pitchFamily="34" charset="-122"/>
                <a:cs typeface="Calibri" pitchFamily="34" charset="-120"/>
              </a:rPr>
              <a:t>Cutting avoidable transport and handover delay preserves the treatment window.</a:t>
            </a:r>
            <a:endParaRPr lang="en-US" sz="1400" dirty="0"/>
          </a:p>
        </p:txBody>
      </p:sp>
      <p:sp>
        <p:nvSpPr>
          <p:cNvPr id="41" name="Text 34"/>
          <p:cNvSpPr txBox="1"/>
          <p:nvPr/>
        </p:nvSpPr>
        <p:spPr>
          <a:xfrm>
            <a:off x="548640" y="6126480"/>
            <a:ext cx="9601200" cy="274320"/>
          </a:xfrm>
          <a:prstGeom prst="rect">
            <a:avLst/>
          </a:prstGeom>
          <a:noFill/>
          <a:ln/>
        </p:spPr>
        <p:txBody>
          <a:bodyPr wrap="square" lIns="0" tIns="0" rIns="0" bIns="0" rtlCol="0" anchor="ctr"/>
          <a:lstStyle/>
          <a:p>
            <a:pPr indent="0" marL="0">
              <a:buNone/>
            </a:pPr>
            <a:r>
              <a:rPr lang="en-US" sz="1000" dirty="0">
                <a:solidFill>
                  <a:srgbClr val="5E6875"/>
                </a:solidFill>
                <a:latin typeface="Calibri" pitchFamily="34" charset="0"/>
                <a:ea typeface="Calibri" pitchFamily="34" charset="-122"/>
                <a:cs typeface="Calibri" pitchFamily="34" charset="-120"/>
              </a:rPr>
              <a:t>Sources: stroke thrombolysis cohort and ambulance offload-delay studies (PubMed). Figures show association, not a fixed per-minute effect.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09728" cy="109728"/>
          </a:xfrm>
          <a:prstGeom prst="ellipse">
            <a:avLst/>
          </a:prstGeom>
          <a:solidFill>
            <a:srgbClr val="2FA36B"/>
          </a:solidFill>
          <a:ln w="12700">
            <a:solidFill>
              <a:srgbClr val="2FA36B"/>
            </a:solidFill>
            <a:prstDash val="solid"/>
          </a:ln>
        </p:spPr>
      </p:sp>
      <p:sp>
        <p:nvSpPr>
          <p:cNvPr id="3" name="Shape 1"/>
          <p:cNvSpPr/>
          <p:nvPr/>
        </p:nvSpPr>
        <p:spPr>
          <a:xfrm>
            <a:off x="722376" y="457200"/>
            <a:ext cx="109728" cy="109728"/>
          </a:xfrm>
          <a:prstGeom prst="ellipse">
            <a:avLst/>
          </a:prstGeom>
          <a:solidFill>
            <a:srgbClr val="F2A52B"/>
          </a:solidFill>
          <a:ln w="12700">
            <a:solidFill>
              <a:srgbClr val="F2A52B"/>
            </a:solidFill>
            <a:prstDash val="solid"/>
          </a:ln>
        </p:spPr>
      </p:sp>
      <p:sp>
        <p:nvSpPr>
          <p:cNvPr id="4" name="Shape 2"/>
          <p:cNvSpPr/>
          <p:nvPr/>
        </p:nvSpPr>
        <p:spPr>
          <a:xfrm>
            <a:off x="896112" y="457200"/>
            <a:ext cx="109728" cy="109728"/>
          </a:xfrm>
          <a:prstGeom prst="ellipse">
            <a:avLst/>
          </a:prstGeom>
          <a:solidFill>
            <a:srgbClr val="E03E3E"/>
          </a:solidFill>
          <a:ln w="12700">
            <a:solidFill>
              <a:srgbClr val="E03E3E"/>
            </a:solidFill>
            <a:prstDash val="solid"/>
          </a:ln>
        </p:spPr>
      </p:sp>
      <p:sp>
        <p:nvSpPr>
          <p:cNvPr id="5" name="Text 3"/>
          <p:cNvSpPr txBox="1"/>
          <p:nvPr/>
        </p:nvSpPr>
        <p:spPr>
          <a:xfrm>
            <a:off x="1170432" y="393192"/>
            <a:ext cx="7315200" cy="237744"/>
          </a:xfrm>
          <a:prstGeom prst="rect">
            <a:avLst/>
          </a:prstGeom>
          <a:noFill/>
          <a:ln/>
        </p:spPr>
        <p:txBody>
          <a:bodyPr wrap="square" lIns="0" tIns="0" rIns="0" bIns="0" rtlCol="0" anchor="ctr"/>
          <a:lstStyle/>
          <a:p>
            <a:pPr indent="0" marL="0">
              <a:buNone/>
            </a:pPr>
            <a:r>
              <a:rPr lang="en-US" sz="1100" b="1" spc="200" kern="0" dirty="0">
                <a:solidFill>
                  <a:srgbClr val="5E6875"/>
                </a:solidFill>
                <a:latin typeface="Arial" pitchFamily="34" charset="0"/>
                <a:ea typeface="Arial" pitchFamily="34" charset="-122"/>
                <a:cs typeface="Arial" pitchFamily="34" charset="-120"/>
              </a:rPr>
              <a:t>EXISTING SOLUTIONS / CURRENT APPROACH</a:t>
            </a:r>
            <a:endParaRPr lang="en-US" sz="1100" dirty="0"/>
          </a:p>
        </p:txBody>
      </p:sp>
      <p:sp>
        <p:nvSpPr>
          <p:cNvPr id="6" name="Text 4"/>
          <p:cNvSpPr txBox="1"/>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5E6875"/>
                </a:solidFill>
                <a:latin typeface="Calibri" pitchFamily="34" charset="0"/>
                <a:ea typeface="Calibri" pitchFamily="34" charset="-122"/>
                <a:cs typeface="Calibri" pitchFamily="34" charset="-120"/>
              </a:rPr>
              <a:t>04</a:t>
            </a:r>
            <a:endParaRPr lang="en-US" sz="1000" dirty="0"/>
          </a:p>
        </p:txBody>
      </p:sp>
      <p:sp>
        <p:nvSpPr>
          <p:cNvPr id="7" name="Text 5"/>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200" b="1" dirty="0">
                <a:solidFill>
                  <a:srgbClr val="1B1F24"/>
                </a:solidFill>
                <a:latin typeface="Arial" pitchFamily="34" charset="0"/>
                <a:ea typeface="Arial" pitchFamily="34" charset="-122"/>
                <a:cs typeface="Arial" pitchFamily="34" charset="-120"/>
              </a:rPr>
              <a:t>Today's tools answer a different question</a:t>
            </a:r>
            <a:endParaRPr lang="en-US" sz="3200" dirty="0"/>
          </a:p>
        </p:txBody>
      </p:sp>
      <p:sp>
        <p:nvSpPr>
          <p:cNvPr id="8" name="Shape 6"/>
          <p:cNvSpPr/>
          <p:nvPr/>
        </p:nvSpPr>
        <p:spPr>
          <a:xfrm>
            <a:off x="548640" y="1783080"/>
            <a:ext cx="2567864" cy="3429000"/>
          </a:xfrm>
          <a:prstGeom prst="roundRect">
            <a:avLst>
              <a:gd name="adj" fmla="val 2849"/>
            </a:avLst>
          </a:prstGeom>
          <a:solidFill>
            <a:srgbClr val="F3F5F7"/>
          </a:solidFill>
          <a:ln w="12700">
            <a:solidFill>
              <a:srgbClr val="F3F5F7"/>
            </a:solidFill>
            <a:prstDash val="solid"/>
          </a:ln>
        </p:spPr>
      </p:sp>
      <p:sp>
        <p:nvSpPr>
          <p:cNvPr id="9" name="Shape 7"/>
          <p:cNvSpPr/>
          <p:nvPr/>
        </p:nvSpPr>
        <p:spPr>
          <a:xfrm>
            <a:off x="777240" y="2011680"/>
            <a:ext cx="502920" cy="502920"/>
          </a:xfrm>
          <a:prstGeom prst="ellipse">
            <a:avLst/>
          </a:prstGeom>
          <a:solidFill>
            <a:srgbClr val="12161C"/>
          </a:solidFill>
          <a:ln w="12700">
            <a:solidFill>
              <a:srgbClr val="12161C"/>
            </a:solidFill>
            <a:prstDash val="solid"/>
          </a:ln>
        </p:spPr>
      </p:sp>
      <p:pic>
        <p:nvPicPr>
          <p:cNvPr id="10" name="Image 0" descr="preencoded.png">    </p:cNvPr>
          <p:cNvPicPr>
            <a:picLocks noChangeAspect="1"/>
          </p:cNvPicPr>
          <p:nvPr/>
        </p:nvPicPr>
        <p:blipFill>
          <a:blip r:embed="rId1"/>
          <a:stretch>
            <a:fillRect/>
          </a:stretch>
        </p:blipFill>
        <p:spPr>
          <a:xfrm>
            <a:off x="902970" y="2137410"/>
            <a:ext cx="251460" cy="251460"/>
          </a:xfrm>
          <a:prstGeom prst="rect">
            <a:avLst/>
          </a:prstGeom>
        </p:spPr>
      </p:pic>
      <p:sp>
        <p:nvSpPr>
          <p:cNvPr id="11" name="Text 8"/>
          <p:cNvSpPr txBox="1"/>
          <p:nvPr/>
        </p:nvSpPr>
        <p:spPr>
          <a:xfrm>
            <a:off x="777240" y="2624328"/>
            <a:ext cx="2110664" cy="292608"/>
          </a:xfrm>
          <a:prstGeom prst="rect">
            <a:avLst/>
          </a:prstGeom>
          <a:noFill/>
          <a:ln/>
        </p:spPr>
        <p:txBody>
          <a:bodyPr wrap="square" lIns="0" tIns="0" rIns="0" bIns="0" rtlCol="0" anchor="ctr"/>
          <a:lstStyle/>
          <a:p>
            <a:pPr indent="0" marL="0">
              <a:buNone/>
            </a:pPr>
            <a:r>
              <a:rPr lang="en-US" sz="1500" b="1" dirty="0">
                <a:solidFill>
                  <a:srgbClr val="1B1F24"/>
                </a:solidFill>
                <a:latin typeface="Arial" pitchFamily="34" charset="0"/>
                <a:ea typeface="Arial" pitchFamily="34" charset="-122"/>
                <a:cs typeface="Arial" pitchFamily="34" charset="-120"/>
              </a:rPr>
              <a:t>Consumer maps</a:t>
            </a:r>
            <a:endParaRPr lang="en-US" sz="1500" dirty="0"/>
          </a:p>
        </p:txBody>
      </p:sp>
      <p:sp>
        <p:nvSpPr>
          <p:cNvPr id="12" name="Text 9"/>
          <p:cNvSpPr txBox="1"/>
          <p:nvPr/>
        </p:nvSpPr>
        <p:spPr>
          <a:xfrm>
            <a:off x="777240" y="2916936"/>
            <a:ext cx="2110664" cy="237744"/>
          </a:xfrm>
          <a:prstGeom prst="rect">
            <a:avLst/>
          </a:prstGeom>
          <a:noFill/>
          <a:ln/>
        </p:spPr>
        <p:txBody>
          <a:bodyPr wrap="square" lIns="0" tIns="0" rIns="0" bIns="0" rtlCol="0" anchor="ctr"/>
          <a:lstStyle/>
          <a:p>
            <a:pPr indent="0" marL="0">
              <a:buNone/>
            </a:pPr>
            <a:r>
              <a:rPr lang="en-US" sz="1150" dirty="0">
                <a:solidFill>
                  <a:srgbClr val="5E6875"/>
                </a:solidFill>
                <a:latin typeface="Calibri" pitchFamily="34" charset="0"/>
                <a:ea typeface="Calibri" pitchFamily="34" charset="-122"/>
                <a:cs typeface="Calibri" pitchFamily="34" charset="-120"/>
              </a:rPr>
              <a:t>Google Maps, Apple Maps</a:t>
            </a:r>
            <a:endParaRPr lang="en-US" sz="1150" dirty="0"/>
          </a:p>
        </p:txBody>
      </p:sp>
      <p:sp>
        <p:nvSpPr>
          <p:cNvPr id="13" name="Text 10"/>
          <p:cNvSpPr txBox="1"/>
          <p:nvPr/>
        </p:nvSpPr>
        <p:spPr>
          <a:xfrm>
            <a:off x="777240" y="3246120"/>
            <a:ext cx="2110664" cy="1828800"/>
          </a:xfrm>
          <a:prstGeom prst="rect">
            <a:avLst/>
          </a:prstGeom>
          <a:noFill/>
          <a:ln/>
        </p:spPr>
        <p:txBody>
          <a:bodyPr wrap="square" lIns="0" tIns="0" rIns="0" bIns="0" rtlCol="0" anchor="t"/>
          <a:lstStyle/>
          <a:p>
            <a:pPr indent="0" marL="0">
              <a:spcAft>
                <a:spcPts val="500"/>
              </a:spcAft>
              <a:buNone/>
            </a:pPr>
            <a:r>
              <a:rPr lang="en-US" sz="1300" b="1" i="1" dirty="0">
                <a:solidFill>
                  <a:srgbClr val="1B1F24"/>
                </a:solidFill>
                <a:latin typeface="Calibri" pitchFamily="34" charset="0"/>
                <a:ea typeface="Calibri" pitchFamily="34" charset="-122"/>
                <a:cs typeface="Calibri" pitchFamily="34" charset="-120"/>
              </a:rPr>
              <a:t>“What's the fastest route right now?”</a:t>
            </a:r>
            <a:endParaRPr lang="en-US" sz="1300" dirty="0"/>
          </a:p>
          <a:p>
            <a:pPr indent="0" marL="0">
              <a:spcAft>
                <a:spcPts val="500"/>
              </a:spcAft>
              <a:buNone/>
            </a:pPr>
            <a:r>
              <a:rPr lang="en-US" sz="950" b="1" spc="100" kern="0" dirty="0">
                <a:solidFill>
                  <a:srgbClr val="2FA36B"/>
                </a:solidFill>
                <a:latin typeface="Arial" pitchFamily="34" charset="0"/>
                <a:ea typeface="Arial" pitchFamily="34" charset="-122"/>
                <a:cs typeface="Arial" pitchFamily="34" charset="-120"/>
              </a:rPr>
              <a:t>DOES WELL</a:t>
            </a:r>
            <a:endParaRPr lang="en-US" sz="1300" dirty="0"/>
          </a:p>
          <a:p>
            <a:pPr indent="0" marL="0">
              <a:spcAft>
                <a:spcPts val="500"/>
              </a:spcAft>
              <a:buNone/>
            </a:pPr>
            <a:r>
              <a:rPr lang="en-US" sz="1200" dirty="0">
                <a:solidFill>
                  <a:srgbClr val="1B1F24"/>
                </a:solidFill>
                <a:latin typeface="Calibri" pitchFamily="34" charset="0"/>
                <a:ea typeface="Calibri" pitchFamily="34" charset="-122"/>
                <a:cs typeface="Calibri" pitchFamily="34" charset="-120"/>
              </a:rPr>
              <a:t>Live, traffic-aware routing; crashes, closures and road work.</a:t>
            </a:r>
            <a:endParaRPr lang="en-US" sz="1300" dirty="0"/>
          </a:p>
          <a:p>
            <a:pPr indent="0" marL="0">
              <a:spcAft>
                <a:spcPts val="500"/>
              </a:spcAft>
              <a:buNone/>
            </a:pPr>
            <a:r>
              <a:rPr lang="en-US" sz="950" b="1" spc="100" kern="0" dirty="0">
                <a:solidFill>
                  <a:srgbClr val="E03E3E"/>
                </a:solidFill>
                <a:latin typeface="Arial" pitchFamily="34" charset="0"/>
                <a:ea typeface="Arial" pitchFamily="34" charset="-122"/>
                <a:cs typeface="Arial" pitchFamily="34" charset="-120"/>
              </a:rPr>
              <a:t>STOPS SHORT</a:t>
            </a:r>
            <a:endParaRPr lang="en-US" sz="1300" dirty="0"/>
          </a:p>
          <a:p>
            <a:pPr indent="0" marL="0">
              <a:spcAft>
                <a:spcPts val="500"/>
              </a:spcAft>
              <a:buNone/>
            </a:pPr>
            <a:r>
              <a:rPr lang="en-US" sz="1200" dirty="0">
                <a:solidFill>
                  <a:srgbClr val="1B1F24"/>
                </a:solidFill>
                <a:latin typeface="Calibri" pitchFamily="34" charset="0"/>
                <a:ea typeface="Calibri" pitchFamily="34" charset="-122"/>
                <a:cs typeface="Calibri" pitchFamily="34" charset="-120"/>
              </a:rPr>
              <a:t>No mission target, ED queue or clinical priority.</a:t>
            </a:r>
            <a:endParaRPr lang="en-US" sz="1300" dirty="0"/>
          </a:p>
        </p:txBody>
      </p:sp>
      <p:sp>
        <p:nvSpPr>
          <p:cNvPr id="14" name="Shape 11"/>
          <p:cNvSpPr/>
          <p:nvPr/>
        </p:nvSpPr>
        <p:spPr>
          <a:xfrm>
            <a:off x="3390824" y="1783080"/>
            <a:ext cx="2567864" cy="3429000"/>
          </a:xfrm>
          <a:prstGeom prst="roundRect">
            <a:avLst>
              <a:gd name="adj" fmla="val 2849"/>
            </a:avLst>
          </a:prstGeom>
          <a:solidFill>
            <a:srgbClr val="F3F5F7"/>
          </a:solidFill>
          <a:ln w="12700">
            <a:solidFill>
              <a:srgbClr val="F3F5F7"/>
            </a:solidFill>
            <a:prstDash val="solid"/>
          </a:ln>
        </p:spPr>
      </p:sp>
      <p:sp>
        <p:nvSpPr>
          <p:cNvPr id="15" name="Shape 12"/>
          <p:cNvSpPr/>
          <p:nvPr/>
        </p:nvSpPr>
        <p:spPr>
          <a:xfrm>
            <a:off x="3619424" y="2011680"/>
            <a:ext cx="502920" cy="502920"/>
          </a:xfrm>
          <a:prstGeom prst="ellipse">
            <a:avLst/>
          </a:prstGeom>
          <a:solidFill>
            <a:srgbClr val="12161C"/>
          </a:solidFill>
          <a:ln w="12700">
            <a:solidFill>
              <a:srgbClr val="12161C"/>
            </a:solidFill>
            <a:prstDash val="solid"/>
          </a:ln>
        </p:spPr>
      </p:sp>
      <p:pic>
        <p:nvPicPr>
          <p:cNvPr id="16" name="Image 1" descr="preencoded.png">    </p:cNvPr>
          <p:cNvPicPr>
            <a:picLocks noChangeAspect="1"/>
          </p:cNvPicPr>
          <p:nvPr/>
        </p:nvPicPr>
        <p:blipFill>
          <a:blip r:embed="rId2"/>
          <a:stretch>
            <a:fillRect/>
          </a:stretch>
        </p:blipFill>
        <p:spPr>
          <a:xfrm>
            <a:off x="3745154" y="2137410"/>
            <a:ext cx="251460" cy="251460"/>
          </a:xfrm>
          <a:prstGeom prst="rect">
            <a:avLst/>
          </a:prstGeom>
        </p:spPr>
      </p:pic>
      <p:sp>
        <p:nvSpPr>
          <p:cNvPr id="17" name="Text 13"/>
          <p:cNvSpPr txBox="1"/>
          <p:nvPr/>
        </p:nvSpPr>
        <p:spPr>
          <a:xfrm>
            <a:off x="3619424" y="2624328"/>
            <a:ext cx="2110664" cy="292608"/>
          </a:xfrm>
          <a:prstGeom prst="rect">
            <a:avLst/>
          </a:prstGeom>
          <a:noFill/>
          <a:ln/>
        </p:spPr>
        <p:txBody>
          <a:bodyPr wrap="square" lIns="0" tIns="0" rIns="0" bIns="0" rtlCol="0" anchor="ctr"/>
          <a:lstStyle/>
          <a:p>
            <a:pPr indent="0" marL="0">
              <a:buNone/>
            </a:pPr>
            <a:r>
              <a:rPr lang="en-US" sz="1500" b="1" dirty="0">
                <a:solidFill>
                  <a:srgbClr val="1B1F24"/>
                </a:solidFill>
                <a:latin typeface="Arial" pitchFamily="34" charset="0"/>
                <a:ea typeface="Arial" pitchFamily="34" charset="-122"/>
                <a:cs typeface="Arial" pitchFamily="34" charset="-120"/>
              </a:rPr>
              <a:t>Open-source routing</a:t>
            </a:r>
            <a:endParaRPr lang="en-US" sz="1500" dirty="0"/>
          </a:p>
        </p:txBody>
      </p:sp>
      <p:sp>
        <p:nvSpPr>
          <p:cNvPr id="18" name="Text 14"/>
          <p:cNvSpPr txBox="1"/>
          <p:nvPr/>
        </p:nvSpPr>
        <p:spPr>
          <a:xfrm>
            <a:off x="3619424" y="2916936"/>
            <a:ext cx="2110664" cy="237744"/>
          </a:xfrm>
          <a:prstGeom prst="rect">
            <a:avLst/>
          </a:prstGeom>
          <a:noFill/>
          <a:ln/>
        </p:spPr>
        <p:txBody>
          <a:bodyPr wrap="square" lIns="0" tIns="0" rIns="0" bIns="0" rtlCol="0" anchor="ctr"/>
          <a:lstStyle/>
          <a:p>
            <a:pPr indent="0" marL="0">
              <a:buNone/>
            </a:pPr>
            <a:r>
              <a:rPr lang="en-US" sz="1150" dirty="0">
                <a:solidFill>
                  <a:srgbClr val="5E6875"/>
                </a:solidFill>
                <a:latin typeface="Calibri" pitchFamily="34" charset="0"/>
                <a:ea typeface="Calibri" pitchFamily="34" charset="-122"/>
                <a:cs typeface="Calibri" pitchFamily="34" charset="-120"/>
              </a:rPr>
              <a:t>OpenStreetMap + OSRM</a:t>
            </a:r>
            <a:endParaRPr lang="en-US" sz="1150" dirty="0"/>
          </a:p>
        </p:txBody>
      </p:sp>
      <p:sp>
        <p:nvSpPr>
          <p:cNvPr id="19" name="Text 15"/>
          <p:cNvSpPr txBox="1"/>
          <p:nvPr/>
        </p:nvSpPr>
        <p:spPr>
          <a:xfrm>
            <a:off x="3619424" y="3246120"/>
            <a:ext cx="2110664" cy="1828800"/>
          </a:xfrm>
          <a:prstGeom prst="rect">
            <a:avLst/>
          </a:prstGeom>
          <a:noFill/>
          <a:ln/>
        </p:spPr>
        <p:txBody>
          <a:bodyPr wrap="square" lIns="0" tIns="0" rIns="0" bIns="0" rtlCol="0" anchor="t"/>
          <a:lstStyle/>
          <a:p>
            <a:pPr indent="0" marL="0">
              <a:spcAft>
                <a:spcPts val="500"/>
              </a:spcAft>
              <a:buNone/>
            </a:pPr>
            <a:r>
              <a:rPr lang="en-US" sz="1300" b="1" i="1" dirty="0">
                <a:solidFill>
                  <a:srgbClr val="1B1F24"/>
                </a:solidFill>
                <a:latin typeface="Calibri" pitchFamily="34" charset="0"/>
                <a:ea typeface="Calibri" pitchFamily="34" charset="-122"/>
                <a:cs typeface="Calibri" pitchFamily="34" charset="-120"/>
              </a:rPr>
              <a:t>“What routes exist from A to B?”</a:t>
            </a:r>
            <a:endParaRPr lang="en-US" sz="1300" dirty="0"/>
          </a:p>
          <a:p>
            <a:pPr indent="0" marL="0">
              <a:spcAft>
                <a:spcPts val="500"/>
              </a:spcAft>
              <a:buNone/>
            </a:pPr>
            <a:r>
              <a:rPr lang="en-US" sz="950" b="1" spc="100" kern="0" dirty="0">
                <a:solidFill>
                  <a:srgbClr val="2FA36B"/>
                </a:solidFill>
                <a:latin typeface="Arial" pitchFamily="34" charset="0"/>
                <a:ea typeface="Arial" pitchFamily="34" charset="-122"/>
                <a:cs typeface="Arial" pitchFamily="34" charset="-120"/>
              </a:rPr>
              <a:t>DOES WELL</a:t>
            </a:r>
            <a:endParaRPr lang="en-US" sz="1300" dirty="0"/>
          </a:p>
          <a:p>
            <a:pPr indent="0" marL="0">
              <a:spcAft>
                <a:spcPts val="500"/>
              </a:spcAft>
              <a:buNone/>
            </a:pPr>
            <a:r>
              <a:rPr lang="en-US" sz="1200" dirty="0">
                <a:solidFill>
                  <a:srgbClr val="1B1F24"/>
                </a:solidFill>
                <a:latin typeface="Calibri" pitchFamily="34" charset="0"/>
                <a:ea typeface="Calibri" pitchFamily="34" charset="-122"/>
                <a:cs typeface="Calibri" pitchFamily="34" charset="-120"/>
              </a:rPr>
              <a:t>Routes, alternatives, travel-time matrices, GPS map matching.</a:t>
            </a:r>
            <a:endParaRPr lang="en-US" sz="1300" dirty="0"/>
          </a:p>
          <a:p>
            <a:pPr indent="0" marL="0">
              <a:spcAft>
                <a:spcPts val="500"/>
              </a:spcAft>
              <a:buNone/>
            </a:pPr>
            <a:r>
              <a:rPr lang="en-US" sz="950" b="1" spc="100" kern="0" dirty="0">
                <a:solidFill>
                  <a:srgbClr val="E03E3E"/>
                </a:solidFill>
                <a:latin typeface="Arial" pitchFamily="34" charset="0"/>
                <a:ea typeface="Arial" pitchFamily="34" charset="-122"/>
                <a:cs typeface="Arial" pitchFamily="34" charset="-120"/>
              </a:rPr>
              <a:t>STOPS SHORT</a:t>
            </a:r>
            <a:endParaRPr lang="en-US" sz="1300" dirty="0"/>
          </a:p>
          <a:p>
            <a:pPr indent="0" marL="0">
              <a:spcAft>
                <a:spcPts val="500"/>
              </a:spcAft>
              <a:buNone/>
            </a:pPr>
            <a:r>
              <a:rPr lang="en-US" sz="1200" dirty="0">
                <a:solidFill>
                  <a:srgbClr val="1B1F24"/>
                </a:solidFill>
                <a:latin typeface="Calibri" pitchFamily="34" charset="0"/>
                <a:ea typeface="Calibri" pitchFamily="34" charset="-122"/>
                <a:cs typeface="Calibri" pitchFamily="34" charset="-120"/>
              </a:rPr>
              <a:t>Static road speeds. A routing engine, not a predictor.</a:t>
            </a:r>
            <a:endParaRPr lang="en-US" sz="1300" dirty="0"/>
          </a:p>
        </p:txBody>
      </p:sp>
      <p:sp>
        <p:nvSpPr>
          <p:cNvPr id="20" name="Shape 16"/>
          <p:cNvSpPr/>
          <p:nvPr/>
        </p:nvSpPr>
        <p:spPr>
          <a:xfrm>
            <a:off x="6233008" y="1783080"/>
            <a:ext cx="2567864" cy="3429000"/>
          </a:xfrm>
          <a:prstGeom prst="roundRect">
            <a:avLst>
              <a:gd name="adj" fmla="val 2849"/>
            </a:avLst>
          </a:prstGeom>
          <a:solidFill>
            <a:srgbClr val="F3F5F7"/>
          </a:solidFill>
          <a:ln w="12700">
            <a:solidFill>
              <a:srgbClr val="F3F5F7"/>
            </a:solidFill>
            <a:prstDash val="solid"/>
          </a:ln>
        </p:spPr>
      </p:sp>
      <p:sp>
        <p:nvSpPr>
          <p:cNvPr id="21" name="Shape 17"/>
          <p:cNvSpPr/>
          <p:nvPr/>
        </p:nvSpPr>
        <p:spPr>
          <a:xfrm>
            <a:off x="6461608" y="2011680"/>
            <a:ext cx="502920" cy="502920"/>
          </a:xfrm>
          <a:prstGeom prst="ellipse">
            <a:avLst/>
          </a:prstGeom>
          <a:solidFill>
            <a:srgbClr val="12161C"/>
          </a:solidFill>
          <a:ln w="12700">
            <a:solidFill>
              <a:srgbClr val="12161C"/>
            </a:solidFill>
            <a:prstDash val="solid"/>
          </a:ln>
        </p:spPr>
      </p:sp>
      <p:pic>
        <p:nvPicPr>
          <p:cNvPr id="22" name="Image 2" descr="preencoded.png">    </p:cNvPr>
          <p:cNvPicPr>
            <a:picLocks noChangeAspect="1"/>
          </p:cNvPicPr>
          <p:nvPr/>
        </p:nvPicPr>
        <p:blipFill>
          <a:blip r:embed="rId3"/>
          <a:stretch>
            <a:fillRect/>
          </a:stretch>
        </p:blipFill>
        <p:spPr>
          <a:xfrm>
            <a:off x="6587338" y="2137410"/>
            <a:ext cx="251460" cy="251460"/>
          </a:xfrm>
          <a:prstGeom prst="rect">
            <a:avLst/>
          </a:prstGeom>
        </p:spPr>
      </p:pic>
      <p:sp>
        <p:nvSpPr>
          <p:cNvPr id="23" name="Text 18"/>
          <p:cNvSpPr txBox="1"/>
          <p:nvPr/>
        </p:nvSpPr>
        <p:spPr>
          <a:xfrm>
            <a:off x="6461608" y="2624328"/>
            <a:ext cx="2110664" cy="292608"/>
          </a:xfrm>
          <a:prstGeom prst="rect">
            <a:avLst/>
          </a:prstGeom>
          <a:noFill/>
          <a:ln/>
        </p:spPr>
        <p:txBody>
          <a:bodyPr wrap="square" lIns="0" tIns="0" rIns="0" bIns="0" rtlCol="0" anchor="ctr"/>
          <a:lstStyle/>
          <a:p>
            <a:pPr indent="0" marL="0">
              <a:buNone/>
            </a:pPr>
            <a:r>
              <a:rPr lang="en-US" sz="1500" b="1" dirty="0">
                <a:solidFill>
                  <a:srgbClr val="1B1F24"/>
                </a:solidFill>
                <a:latin typeface="Arial" pitchFamily="34" charset="0"/>
                <a:ea typeface="Arial" pitchFamily="34" charset="-122"/>
                <a:cs typeface="Arial" pitchFamily="34" charset="-120"/>
              </a:rPr>
              <a:t>Fleet tracking</a:t>
            </a:r>
            <a:endParaRPr lang="en-US" sz="1500" dirty="0"/>
          </a:p>
        </p:txBody>
      </p:sp>
      <p:sp>
        <p:nvSpPr>
          <p:cNvPr id="24" name="Text 19"/>
          <p:cNvSpPr txBox="1"/>
          <p:nvPr/>
        </p:nvSpPr>
        <p:spPr>
          <a:xfrm>
            <a:off x="6461608" y="2916936"/>
            <a:ext cx="2110664" cy="237744"/>
          </a:xfrm>
          <a:prstGeom prst="rect">
            <a:avLst/>
          </a:prstGeom>
          <a:noFill/>
          <a:ln/>
        </p:spPr>
        <p:txBody>
          <a:bodyPr wrap="square" lIns="0" tIns="0" rIns="0" bIns="0" rtlCol="0" anchor="ctr"/>
          <a:lstStyle/>
          <a:p>
            <a:pPr indent="0" marL="0">
              <a:buNone/>
            </a:pPr>
            <a:r>
              <a:rPr lang="en-US" sz="1150" dirty="0">
                <a:solidFill>
                  <a:srgbClr val="5E6875"/>
                </a:solidFill>
                <a:latin typeface="Calibri" pitchFamily="34" charset="0"/>
                <a:ea typeface="Calibri" pitchFamily="34" charset="-122"/>
                <a:cs typeface="Calibri" pitchFamily="34" charset="-120"/>
              </a:rPr>
              <a:t>Vehicle location dashboards</a:t>
            </a:r>
            <a:endParaRPr lang="en-US" sz="1150" dirty="0"/>
          </a:p>
        </p:txBody>
      </p:sp>
      <p:sp>
        <p:nvSpPr>
          <p:cNvPr id="25" name="Text 20"/>
          <p:cNvSpPr txBox="1"/>
          <p:nvPr/>
        </p:nvSpPr>
        <p:spPr>
          <a:xfrm>
            <a:off x="6461608" y="3246120"/>
            <a:ext cx="2110664" cy="1828800"/>
          </a:xfrm>
          <a:prstGeom prst="rect">
            <a:avLst/>
          </a:prstGeom>
          <a:noFill/>
          <a:ln/>
        </p:spPr>
        <p:txBody>
          <a:bodyPr wrap="square" lIns="0" tIns="0" rIns="0" bIns="0" rtlCol="0" anchor="t"/>
          <a:lstStyle/>
          <a:p>
            <a:pPr indent="0" marL="0">
              <a:spcAft>
                <a:spcPts val="500"/>
              </a:spcAft>
              <a:buNone/>
            </a:pPr>
            <a:r>
              <a:rPr lang="en-US" sz="1300" b="1" i="1" dirty="0">
                <a:solidFill>
                  <a:srgbClr val="1B1F24"/>
                </a:solidFill>
                <a:latin typeface="Calibri" pitchFamily="34" charset="0"/>
                <a:ea typeface="Calibri" pitchFamily="34" charset="-122"/>
                <a:cs typeface="Calibri" pitchFamily="34" charset="-120"/>
              </a:rPr>
              <a:t>“Where is the ambulance now?”</a:t>
            </a:r>
            <a:endParaRPr lang="en-US" sz="1300" dirty="0"/>
          </a:p>
          <a:p>
            <a:pPr indent="0" marL="0">
              <a:spcAft>
                <a:spcPts val="500"/>
              </a:spcAft>
              <a:buNone/>
            </a:pPr>
            <a:r>
              <a:rPr lang="en-US" sz="950" b="1" spc="100" kern="0" dirty="0">
                <a:solidFill>
                  <a:srgbClr val="2FA36B"/>
                </a:solidFill>
                <a:latin typeface="Arial" pitchFamily="34" charset="0"/>
                <a:ea typeface="Arial" pitchFamily="34" charset="-122"/>
                <a:cs typeface="Arial" pitchFamily="34" charset="-120"/>
              </a:rPr>
              <a:t>DOES WELL</a:t>
            </a:r>
            <a:endParaRPr lang="en-US" sz="1300" dirty="0"/>
          </a:p>
          <a:p>
            <a:pPr indent="0" marL="0">
              <a:spcAft>
                <a:spcPts val="500"/>
              </a:spcAft>
              <a:buNone/>
            </a:pPr>
            <a:r>
              <a:rPr lang="en-US" sz="1200" dirty="0">
                <a:solidFill>
                  <a:srgbClr val="1B1F24"/>
                </a:solidFill>
                <a:latin typeface="Calibri" pitchFamily="34" charset="0"/>
                <a:ea typeface="Calibri" pitchFamily="34" charset="-122"/>
                <a:cs typeface="Calibri" pitchFamily="34" charset="-120"/>
              </a:rPr>
              <a:t>Live vehicle position for the control room.</a:t>
            </a:r>
            <a:endParaRPr lang="en-US" sz="1300" dirty="0"/>
          </a:p>
          <a:p>
            <a:pPr indent="0" marL="0">
              <a:spcAft>
                <a:spcPts val="500"/>
              </a:spcAft>
              <a:buNone/>
            </a:pPr>
            <a:r>
              <a:rPr lang="en-US" sz="950" b="1" spc="100" kern="0" dirty="0">
                <a:solidFill>
                  <a:srgbClr val="E03E3E"/>
                </a:solidFill>
                <a:latin typeface="Arial" pitchFamily="34" charset="0"/>
                <a:ea typeface="Arial" pitchFamily="34" charset="-122"/>
                <a:cs typeface="Arial" pitchFamily="34" charset="-120"/>
              </a:rPr>
              <a:t>STOPS SHORT</a:t>
            </a:r>
            <a:endParaRPr lang="en-US" sz="1300" dirty="0"/>
          </a:p>
          <a:p>
            <a:pPr indent="0" marL="0">
              <a:spcAft>
                <a:spcPts val="500"/>
              </a:spcAft>
              <a:buNone/>
            </a:pPr>
            <a:r>
              <a:rPr lang="en-US" sz="1200" dirty="0">
                <a:solidFill>
                  <a:srgbClr val="1B1F24"/>
                </a:solidFill>
                <a:latin typeface="Calibri" pitchFamily="34" charset="0"/>
                <a:ea typeface="Calibri" pitchFamily="34" charset="-122"/>
                <a:cs typeface="Calibri" pitchFamily="34" charset="-120"/>
              </a:rPr>
              <a:t>Lateness is visible only after the ETA slips.</a:t>
            </a:r>
            <a:endParaRPr lang="en-US" sz="1300" dirty="0"/>
          </a:p>
        </p:txBody>
      </p:sp>
      <p:sp>
        <p:nvSpPr>
          <p:cNvPr id="26" name="Shape 21"/>
          <p:cNvSpPr/>
          <p:nvPr/>
        </p:nvSpPr>
        <p:spPr>
          <a:xfrm>
            <a:off x="9075191" y="1783080"/>
            <a:ext cx="2567864" cy="3429000"/>
          </a:xfrm>
          <a:prstGeom prst="roundRect">
            <a:avLst>
              <a:gd name="adj" fmla="val 2849"/>
            </a:avLst>
          </a:prstGeom>
          <a:solidFill>
            <a:srgbClr val="F3F5F7"/>
          </a:solidFill>
          <a:ln w="12700">
            <a:solidFill>
              <a:srgbClr val="F3F5F7"/>
            </a:solidFill>
            <a:prstDash val="solid"/>
          </a:ln>
        </p:spPr>
      </p:sp>
      <p:sp>
        <p:nvSpPr>
          <p:cNvPr id="27" name="Shape 22"/>
          <p:cNvSpPr/>
          <p:nvPr/>
        </p:nvSpPr>
        <p:spPr>
          <a:xfrm>
            <a:off x="9303791" y="2011680"/>
            <a:ext cx="502920" cy="502920"/>
          </a:xfrm>
          <a:prstGeom prst="ellipse">
            <a:avLst/>
          </a:prstGeom>
          <a:solidFill>
            <a:srgbClr val="12161C"/>
          </a:solidFill>
          <a:ln w="12700">
            <a:solidFill>
              <a:srgbClr val="12161C"/>
            </a:solidFill>
            <a:prstDash val="solid"/>
          </a:ln>
        </p:spPr>
      </p:sp>
      <p:pic>
        <p:nvPicPr>
          <p:cNvPr id="28" name="Image 3" descr="preencoded.png">    </p:cNvPr>
          <p:cNvPicPr>
            <a:picLocks noChangeAspect="1"/>
          </p:cNvPicPr>
          <p:nvPr/>
        </p:nvPicPr>
        <p:blipFill>
          <a:blip r:embed="rId4"/>
          <a:stretch>
            <a:fillRect/>
          </a:stretch>
        </p:blipFill>
        <p:spPr>
          <a:xfrm>
            <a:off x="9429521" y="2137410"/>
            <a:ext cx="251460" cy="251460"/>
          </a:xfrm>
          <a:prstGeom prst="rect">
            <a:avLst/>
          </a:prstGeom>
        </p:spPr>
      </p:pic>
      <p:sp>
        <p:nvSpPr>
          <p:cNvPr id="29" name="Text 23"/>
          <p:cNvSpPr txBox="1"/>
          <p:nvPr/>
        </p:nvSpPr>
        <p:spPr>
          <a:xfrm>
            <a:off x="9303791" y="2624328"/>
            <a:ext cx="2110664" cy="292608"/>
          </a:xfrm>
          <a:prstGeom prst="rect">
            <a:avLst/>
          </a:prstGeom>
          <a:noFill/>
          <a:ln/>
        </p:spPr>
        <p:txBody>
          <a:bodyPr wrap="square" lIns="0" tIns="0" rIns="0" bIns="0" rtlCol="0" anchor="ctr"/>
          <a:lstStyle/>
          <a:p>
            <a:pPr indent="0" marL="0">
              <a:buNone/>
            </a:pPr>
            <a:r>
              <a:rPr lang="en-US" sz="1500" b="1" dirty="0">
                <a:solidFill>
                  <a:srgbClr val="1B1F24"/>
                </a:solidFill>
                <a:latin typeface="Arial" pitchFamily="34" charset="0"/>
                <a:ea typeface="Arial" pitchFamily="34" charset="-122"/>
                <a:cs typeface="Arial" pitchFamily="34" charset="-120"/>
              </a:rPr>
              <a:t>ETA prediction models</a:t>
            </a:r>
            <a:endParaRPr lang="en-US" sz="1500" dirty="0"/>
          </a:p>
        </p:txBody>
      </p:sp>
      <p:sp>
        <p:nvSpPr>
          <p:cNvPr id="30" name="Text 24"/>
          <p:cNvSpPr txBox="1"/>
          <p:nvPr/>
        </p:nvSpPr>
        <p:spPr>
          <a:xfrm>
            <a:off x="9303791" y="2916936"/>
            <a:ext cx="2110664" cy="237744"/>
          </a:xfrm>
          <a:prstGeom prst="rect">
            <a:avLst/>
          </a:prstGeom>
          <a:noFill/>
          <a:ln/>
        </p:spPr>
        <p:txBody>
          <a:bodyPr wrap="square" lIns="0" tIns="0" rIns="0" bIns="0" rtlCol="0" anchor="ctr"/>
          <a:lstStyle/>
          <a:p>
            <a:pPr indent="0" marL="0">
              <a:buNone/>
            </a:pPr>
            <a:r>
              <a:rPr lang="en-US" sz="1150" dirty="0">
                <a:solidFill>
                  <a:srgbClr val="5E6875"/>
                </a:solidFill>
                <a:latin typeface="Calibri" pitchFamily="34" charset="0"/>
                <a:ea typeface="Calibri" pitchFamily="34" charset="-122"/>
                <a:cs typeface="Calibri" pitchFamily="34" charset="-120"/>
              </a:rPr>
              <a:t>Travel-time estimators</a:t>
            </a:r>
            <a:endParaRPr lang="en-US" sz="1150" dirty="0"/>
          </a:p>
        </p:txBody>
      </p:sp>
      <p:sp>
        <p:nvSpPr>
          <p:cNvPr id="31" name="Text 25"/>
          <p:cNvSpPr txBox="1"/>
          <p:nvPr/>
        </p:nvSpPr>
        <p:spPr>
          <a:xfrm>
            <a:off x="9303791" y="3246120"/>
            <a:ext cx="2110664" cy="1828800"/>
          </a:xfrm>
          <a:prstGeom prst="rect">
            <a:avLst/>
          </a:prstGeom>
          <a:noFill/>
          <a:ln/>
        </p:spPr>
        <p:txBody>
          <a:bodyPr wrap="square" lIns="0" tIns="0" rIns="0" bIns="0" rtlCol="0" anchor="t"/>
          <a:lstStyle/>
          <a:p>
            <a:pPr indent="0" marL="0">
              <a:spcAft>
                <a:spcPts val="500"/>
              </a:spcAft>
              <a:buNone/>
            </a:pPr>
            <a:r>
              <a:rPr lang="en-US" sz="1300" b="1" i="1" dirty="0">
                <a:solidFill>
                  <a:srgbClr val="1B1F24"/>
                </a:solidFill>
                <a:latin typeface="Calibri" pitchFamily="34" charset="0"/>
                <a:ea typeface="Calibri" pitchFamily="34" charset="-122"/>
                <a:cs typeface="Calibri" pitchFamily="34" charset="-120"/>
              </a:rPr>
              <a:t>“When will it arrive?”</a:t>
            </a:r>
            <a:endParaRPr lang="en-US" sz="1300" dirty="0"/>
          </a:p>
          <a:p>
            <a:pPr indent="0" marL="0">
              <a:spcAft>
                <a:spcPts val="500"/>
              </a:spcAft>
              <a:buNone/>
            </a:pPr>
            <a:r>
              <a:rPr lang="en-US" sz="950" b="1" spc="100" kern="0" dirty="0">
                <a:solidFill>
                  <a:srgbClr val="2FA36B"/>
                </a:solidFill>
                <a:latin typeface="Arial" pitchFamily="34" charset="0"/>
                <a:ea typeface="Arial" pitchFamily="34" charset="-122"/>
                <a:cs typeface="Arial" pitchFamily="34" charset="-120"/>
              </a:rPr>
              <a:t>DOES WELL</a:t>
            </a:r>
            <a:endParaRPr lang="en-US" sz="1300" dirty="0"/>
          </a:p>
          <a:p>
            <a:pPr indent="0" marL="0">
              <a:spcAft>
                <a:spcPts val="500"/>
              </a:spcAft>
              <a:buNone/>
            </a:pPr>
            <a:r>
              <a:rPr lang="en-US" sz="1200" dirty="0">
                <a:solidFill>
                  <a:srgbClr val="1B1F24"/>
                </a:solidFill>
                <a:latin typeface="Calibri" pitchFamily="34" charset="0"/>
                <a:ea typeface="Calibri" pitchFamily="34" charset="-122"/>
                <a:cs typeface="Calibri" pitchFamily="34" charset="-120"/>
              </a:rPr>
              <a:t>A single travel-time estimate.</a:t>
            </a:r>
            <a:endParaRPr lang="en-US" sz="1300" dirty="0"/>
          </a:p>
          <a:p>
            <a:pPr indent="0" marL="0">
              <a:spcAft>
                <a:spcPts val="500"/>
              </a:spcAft>
              <a:buNone/>
            </a:pPr>
            <a:r>
              <a:rPr lang="en-US" sz="950" b="1" spc="100" kern="0" dirty="0">
                <a:solidFill>
                  <a:srgbClr val="E03E3E"/>
                </a:solidFill>
                <a:latin typeface="Arial" pitchFamily="34" charset="0"/>
                <a:ea typeface="Arial" pitchFamily="34" charset="-122"/>
                <a:cs typeface="Arial" pitchFamily="34" charset="-120"/>
              </a:rPr>
              <a:t>STOPS SHORT</a:t>
            </a:r>
            <a:endParaRPr lang="en-US" sz="1300" dirty="0"/>
          </a:p>
          <a:p>
            <a:pPr indent="0" marL="0">
              <a:spcAft>
                <a:spcPts val="500"/>
              </a:spcAft>
              <a:buNone/>
            </a:pPr>
            <a:r>
              <a:rPr lang="en-US" sz="1200" dirty="0">
                <a:solidFill>
                  <a:srgbClr val="1B1F24"/>
                </a:solidFill>
                <a:latin typeface="Calibri" pitchFamily="34" charset="0"/>
                <a:ea typeface="Calibri" pitchFamily="34" charset="-122"/>
                <a:cs typeface="Calibri" pitchFamily="34" charset="-120"/>
              </a:rPr>
              <a:t>No cause, no target check, no recommended action.</a:t>
            </a:r>
            <a:endParaRPr lang="en-US" sz="1300" dirty="0"/>
          </a:p>
        </p:txBody>
      </p:sp>
      <p:sp>
        <p:nvSpPr>
          <p:cNvPr id="32" name="Shape 26"/>
          <p:cNvSpPr/>
          <p:nvPr/>
        </p:nvSpPr>
        <p:spPr>
          <a:xfrm>
            <a:off x="548640" y="5486400"/>
            <a:ext cx="11094415" cy="822960"/>
          </a:xfrm>
          <a:prstGeom prst="roundRect">
            <a:avLst>
              <a:gd name="adj" fmla="val 8889"/>
            </a:avLst>
          </a:prstGeom>
          <a:solidFill>
            <a:srgbClr val="12161C"/>
          </a:solidFill>
          <a:ln w="12700">
            <a:solidFill>
              <a:srgbClr val="12161C"/>
            </a:solidFill>
            <a:prstDash val="solid"/>
          </a:ln>
        </p:spPr>
      </p:sp>
      <p:sp>
        <p:nvSpPr>
          <p:cNvPr id="33" name="Text 27"/>
          <p:cNvSpPr txBox="1"/>
          <p:nvPr/>
        </p:nvSpPr>
        <p:spPr>
          <a:xfrm>
            <a:off x="868680" y="5486400"/>
            <a:ext cx="1188720" cy="822960"/>
          </a:xfrm>
          <a:prstGeom prst="rect">
            <a:avLst/>
          </a:prstGeom>
          <a:noFill/>
          <a:ln/>
        </p:spPr>
        <p:txBody>
          <a:bodyPr wrap="square" lIns="0" tIns="0" rIns="0" bIns="0" rtlCol="0" anchor="ctr"/>
          <a:lstStyle/>
          <a:p>
            <a:pPr indent="0" marL="0">
              <a:buNone/>
            </a:pPr>
            <a:r>
              <a:rPr lang="en-US" sz="1200" b="1" spc="200" kern="0" dirty="0">
                <a:solidFill>
                  <a:srgbClr val="F2A52B"/>
                </a:solidFill>
                <a:latin typeface="Arial" pitchFamily="34" charset="0"/>
                <a:ea typeface="Arial" pitchFamily="34" charset="-122"/>
                <a:cs typeface="Arial" pitchFamily="34" charset="-120"/>
              </a:rPr>
              <a:t>THE GAP</a:t>
            </a:r>
            <a:endParaRPr lang="en-US" sz="1200" dirty="0"/>
          </a:p>
        </p:txBody>
      </p:sp>
      <p:sp>
        <p:nvSpPr>
          <p:cNvPr id="34" name="Text 28"/>
          <p:cNvSpPr txBox="1"/>
          <p:nvPr/>
        </p:nvSpPr>
        <p:spPr>
          <a:xfrm>
            <a:off x="2103120" y="5486400"/>
            <a:ext cx="9265615" cy="8229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Maps already use live traffic. What's missing is a system that asks: will this mission miss its target, why, and what should we do now?</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09728" cy="109728"/>
          </a:xfrm>
          <a:prstGeom prst="ellipse">
            <a:avLst/>
          </a:prstGeom>
          <a:solidFill>
            <a:srgbClr val="2FA36B"/>
          </a:solidFill>
          <a:ln w="12700">
            <a:solidFill>
              <a:srgbClr val="2FA36B"/>
            </a:solidFill>
            <a:prstDash val="solid"/>
          </a:ln>
        </p:spPr>
      </p:sp>
      <p:sp>
        <p:nvSpPr>
          <p:cNvPr id="3" name="Shape 1"/>
          <p:cNvSpPr/>
          <p:nvPr/>
        </p:nvSpPr>
        <p:spPr>
          <a:xfrm>
            <a:off x="722376" y="457200"/>
            <a:ext cx="109728" cy="109728"/>
          </a:xfrm>
          <a:prstGeom prst="ellipse">
            <a:avLst/>
          </a:prstGeom>
          <a:solidFill>
            <a:srgbClr val="F2A52B"/>
          </a:solidFill>
          <a:ln w="12700">
            <a:solidFill>
              <a:srgbClr val="F2A52B"/>
            </a:solidFill>
            <a:prstDash val="solid"/>
          </a:ln>
        </p:spPr>
      </p:sp>
      <p:sp>
        <p:nvSpPr>
          <p:cNvPr id="4" name="Shape 2"/>
          <p:cNvSpPr/>
          <p:nvPr/>
        </p:nvSpPr>
        <p:spPr>
          <a:xfrm>
            <a:off x="896112" y="457200"/>
            <a:ext cx="109728" cy="109728"/>
          </a:xfrm>
          <a:prstGeom prst="ellipse">
            <a:avLst/>
          </a:prstGeom>
          <a:solidFill>
            <a:srgbClr val="E03E3E"/>
          </a:solidFill>
          <a:ln w="12700">
            <a:solidFill>
              <a:srgbClr val="E03E3E"/>
            </a:solidFill>
            <a:prstDash val="solid"/>
          </a:ln>
        </p:spPr>
      </p:sp>
      <p:sp>
        <p:nvSpPr>
          <p:cNvPr id="5" name="Text 3"/>
          <p:cNvSpPr txBox="1"/>
          <p:nvPr/>
        </p:nvSpPr>
        <p:spPr>
          <a:xfrm>
            <a:off x="1170432" y="393192"/>
            <a:ext cx="7315200" cy="237744"/>
          </a:xfrm>
          <a:prstGeom prst="rect">
            <a:avLst/>
          </a:prstGeom>
          <a:noFill/>
          <a:ln/>
        </p:spPr>
        <p:txBody>
          <a:bodyPr wrap="square" lIns="0" tIns="0" rIns="0" bIns="0" rtlCol="0" anchor="ctr"/>
          <a:lstStyle/>
          <a:p>
            <a:pPr indent="0" marL="0">
              <a:buNone/>
            </a:pPr>
            <a:r>
              <a:rPr lang="en-US" sz="1100" b="1" spc="200" kern="0" dirty="0">
                <a:solidFill>
                  <a:srgbClr val="5E6875"/>
                </a:solidFill>
                <a:latin typeface="Arial" pitchFamily="34" charset="0"/>
                <a:ea typeface="Arial" pitchFamily="34" charset="-122"/>
                <a:cs typeface="Arial" pitchFamily="34" charset="-120"/>
              </a:rPr>
              <a:t>PROPOSED SOLUTION</a:t>
            </a:r>
            <a:endParaRPr lang="en-US" sz="1100" dirty="0"/>
          </a:p>
        </p:txBody>
      </p:sp>
      <p:sp>
        <p:nvSpPr>
          <p:cNvPr id="6" name="Text 4"/>
          <p:cNvSpPr txBox="1"/>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5E6875"/>
                </a:solidFill>
                <a:latin typeface="Calibri" pitchFamily="34" charset="0"/>
                <a:ea typeface="Calibri" pitchFamily="34" charset="-122"/>
                <a:cs typeface="Calibri" pitchFamily="34" charset="-120"/>
              </a:rPr>
              <a:t>05</a:t>
            </a:r>
            <a:endParaRPr lang="en-US" sz="1000" dirty="0"/>
          </a:p>
        </p:txBody>
      </p:sp>
      <p:sp>
        <p:nvSpPr>
          <p:cNvPr id="7" name="Text 5"/>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200" b="1" dirty="0">
                <a:solidFill>
                  <a:srgbClr val="1B1F24"/>
                </a:solidFill>
                <a:latin typeface="Arial" pitchFamily="34" charset="0"/>
                <a:ea typeface="Arial" pitchFamily="34" charset="-122"/>
                <a:cs typeface="Arial" pitchFamily="34" charset="-120"/>
              </a:rPr>
              <a:t>A predictive safety layer above routing</a:t>
            </a:r>
            <a:endParaRPr lang="en-US" sz="3200" dirty="0"/>
          </a:p>
        </p:txBody>
      </p:sp>
      <p:sp>
        <p:nvSpPr>
          <p:cNvPr id="8" name="Shape 6"/>
          <p:cNvSpPr/>
          <p:nvPr/>
        </p:nvSpPr>
        <p:spPr>
          <a:xfrm>
            <a:off x="548640" y="1783080"/>
            <a:ext cx="6492240" cy="731520"/>
          </a:xfrm>
          <a:prstGeom prst="roundRect">
            <a:avLst>
              <a:gd name="adj" fmla="val 10000"/>
            </a:avLst>
          </a:prstGeom>
          <a:solidFill>
            <a:srgbClr val="F3F5F7"/>
          </a:solidFill>
          <a:ln w="12700">
            <a:solidFill>
              <a:srgbClr val="F3F5F7"/>
            </a:solidFill>
            <a:prstDash val="solid"/>
          </a:ln>
        </p:spPr>
      </p:sp>
      <p:sp>
        <p:nvSpPr>
          <p:cNvPr id="9" name="Shape 7"/>
          <p:cNvSpPr/>
          <p:nvPr/>
        </p:nvSpPr>
        <p:spPr>
          <a:xfrm>
            <a:off x="685800" y="1920240"/>
            <a:ext cx="457200" cy="457200"/>
          </a:xfrm>
          <a:prstGeom prst="roundRect">
            <a:avLst>
              <a:gd name="adj" fmla="val 16000"/>
            </a:avLst>
          </a:prstGeom>
          <a:solidFill>
            <a:srgbClr val="12161C"/>
          </a:solidFill>
          <a:ln w="12700">
            <a:solidFill>
              <a:srgbClr val="12161C"/>
            </a:solidFill>
            <a:prstDash val="solid"/>
          </a:ln>
        </p:spPr>
      </p:sp>
      <p:sp>
        <p:nvSpPr>
          <p:cNvPr id="10" name="Text 8"/>
          <p:cNvSpPr txBox="1"/>
          <p:nvPr/>
        </p:nvSpPr>
        <p:spPr>
          <a:xfrm>
            <a:off x="685800" y="19202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11" name="Text 9"/>
          <p:cNvSpPr txBox="1"/>
          <p:nvPr/>
        </p:nvSpPr>
        <p:spPr>
          <a:xfrm>
            <a:off x="1325880" y="1874520"/>
            <a:ext cx="5577840" cy="274320"/>
          </a:xfrm>
          <a:prstGeom prst="rect">
            <a:avLst/>
          </a:prstGeom>
          <a:noFill/>
          <a:ln/>
        </p:spPr>
        <p:txBody>
          <a:bodyPr wrap="square" lIns="0" tIns="0" rIns="0" bIns="0" rtlCol="0" anchor="ctr"/>
          <a:lstStyle/>
          <a:p>
            <a:pPr indent="0" marL="0">
              <a:buNone/>
            </a:pPr>
            <a:r>
              <a:rPr lang="en-US" sz="1300" b="1" spc="100" kern="0" dirty="0">
                <a:solidFill>
                  <a:srgbClr val="1B1F24"/>
                </a:solidFill>
                <a:latin typeface="Arial" pitchFamily="34" charset="0"/>
                <a:ea typeface="Arial" pitchFamily="34" charset="-122"/>
                <a:cs typeface="Arial" pitchFamily="34" charset="-120"/>
              </a:rPr>
              <a:t>PREDICT   </a:t>
            </a:r>
            <a:pPr indent="0" marL="0">
              <a:buNone/>
            </a:pPr>
            <a:r>
              <a:rPr lang="en-US" sz="1300" i="1" dirty="0">
                <a:solidFill>
                  <a:srgbClr val="E03E3E"/>
                </a:solidFill>
                <a:latin typeface="Calibri" pitchFamily="34" charset="0"/>
                <a:ea typeface="Calibri" pitchFamily="34" charset="-122"/>
                <a:cs typeface="Calibri" pitchFamily="34" charset="-120"/>
              </a:rPr>
              <a:t>Will this mission fail its target?</a:t>
            </a:r>
            <a:endParaRPr lang="en-US" sz="1300" dirty="0"/>
          </a:p>
        </p:txBody>
      </p:sp>
      <p:sp>
        <p:nvSpPr>
          <p:cNvPr id="12" name="Text 10"/>
          <p:cNvSpPr txBox="1"/>
          <p:nvPr/>
        </p:nvSpPr>
        <p:spPr>
          <a:xfrm>
            <a:off x="1325880" y="2167128"/>
            <a:ext cx="5577840" cy="274320"/>
          </a:xfrm>
          <a:prstGeom prst="rect">
            <a:avLst/>
          </a:prstGeom>
          <a:noFill/>
          <a:ln/>
        </p:spPr>
        <p:txBody>
          <a:bodyPr wrap="square" lIns="0" tIns="0" rIns="0" bIns="0" rtlCol="0" anchor="ctr"/>
          <a:lstStyle/>
          <a:p>
            <a:pPr indent="0" marL="0">
              <a:buNone/>
            </a:pPr>
            <a:r>
              <a:rPr lang="en-US" sz="1250" dirty="0">
                <a:solidFill>
                  <a:srgbClr val="5E6875"/>
                </a:solidFill>
                <a:latin typeface="Calibri" pitchFamily="34" charset="0"/>
                <a:ea typeface="Calibri" pitchFamily="34" charset="-122"/>
                <a:cs typeface="Calibri" pitchFamily="34" charset="-120"/>
              </a:rPr>
              <a:t>Failure probability and minutes late, forecast at +2, +5, +10 and +15 min.</a:t>
            </a:r>
            <a:endParaRPr lang="en-US" sz="1250" dirty="0"/>
          </a:p>
        </p:txBody>
      </p:sp>
      <p:sp>
        <p:nvSpPr>
          <p:cNvPr id="13" name="Shape 11"/>
          <p:cNvSpPr/>
          <p:nvPr/>
        </p:nvSpPr>
        <p:spPr>
          <a:xfrm>
            <a:off x="548640" y="2633472"/>
            <a:ext cx="6492240" cy="731520"/>
          </a:xfrm>
          <a:prstGeom prst="roundRect">
            <a:avLst>
              <a:gd name="adj" fmla="val 10000"/>
            </a:avLst>
          </a:prstGeom>
          <a:solidFill>
            <a:srgbClr val="F3F5F7"/>
          </a:solidFill>
          <a:ln w="12700">
            <a:solidFill>
              <a:srgbClr val="F3F5F7"/>
            </a:solidFill>
            <a:prstDash val="solid"/>
          </a:ln>
        </p:spPr>
      </p:sp>
      <p:sp>
        <p:nvSpPr>
          <p:cNvPr id="14" name="Shape 12"/>
          <p:cNvSpPr/>
          <p:nvPr/>
        </p:nvSpPr>
        <p:spPr>
          <a:xfrm>
            <a:off x="685800" y="2770632"/>
            <a:ext cx="457200" cy="457200"/>
          </a:xfrm>
          <a:prstGeom prst="roundRect">
            <a:avLst>
              <a:gd name="adj" fmla="val 16000"/>
            </a:avLst>
          </a:prstGeom>
          <a:solidFill>
            <a:srgbClr val="12161C"/>
          </a:solidFill>
          <a:ln w="12700">
            <a:solidFill>
              <a:srgbClr val="12161C"/>
            </a:solidFill>
            <a:prstDash val="solid"/>
          </a:ln>
        </p:spPr>
      </p:sp>
      <p:sp>
        <p:nvSpPr>
          <p:cNvPr id="15" name="Text 13"/>
          <p:cNvSpPr txBox="1"/>
          <p:nvPr/>
        </p:nvSpPr>
        <p:spPr>
          <a:xfrm>
            <a:off x="685800" y="277063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6" name="Text 14"/>
          <p:cNvSpPr txBox="1"/>
          <p:nvPr/>
        </p:nvSpPr>
        <p:spPr>
          <a:xfrm>
            <a:off x="1325880" y="2724912"/>
            <a:ext cx="5577840" cy="274320"/>
          </a:xfrm>
          <a:prstGeom prst="rect">
            <a:avLst/>
          </a:prstGeom>
          <a:noFill/>
          <a:ln/>
        </p:spPr>
        <p:txBody>
          <a:bodyPr wrap="square" lIns="0" tIns="0" rIns="0" bIns="0" rtlCol="0" anchor="ctr"/>
          <a:lstStyle/>
          <a:p>
            <a:pPr indent="0" marL="0">
              <a:buNone/>
            </a:pPr>
            <a:r>
              <a:rPr lang="en-US" sz="1300" b="1" spc="100" kern="0" dirty="0">
                <a:solidFill>
                  <a:srgbClr val="1B1F24"/>
                </a:solidFill>
                <a:latin typeface="Arial" pitchFamily="34" charset="0"/>
                <a:ea typeface="Arial" pitchFamily="34" charset="-122"/>
                <a:cs typeface="Arial" pitchFamily="34" charset="-120"/>
              </a:rPr>
              <a:t>EXPLAIN   </a:t>
            </a:r>
            <a:pPr indent="0" marL="0">
              <a:buNone/>
            </a:pPr>
            <a:r>
              <a:rPr lang="en-US" sz="1300" i="1" dirty="0">
                <a:solidFill>
                  <a:srgbClr val="E03E3E"/>
                </a:solidFill>
                <a:latin typeface="Calibri" pitchFamily="34" charset="0"/>
                <a:ea typeface="Calibri" pitchFamily="34" charset="-122"/>
                <a:cs typeface="Calibri" pitchFamily="34" charset="-120"/>
              </a:rPr>
              <a:t>Why?</a:t>
            </a:r>
            <a:endParaRPr lang="en-US" sz="1300" dirty="0"/>
          </a:p>
        </p:txBody>
      </p:sp>
      <p:sp>
        <p:nvSpPr>
          <p:cNvPr id="17" name="Text 15"/>
          <p:cNvSpPr txBox="1"/>
          <p:nvPr/>
        </p:nvSpPr>
        <p:spPr>
          <a:xfrm>
            <a:off x="1325880" y="3017520"/>
            <a:ext cx="5577840" cy="274320"/>
          </a:xfrm>
          <a:prstGeom prst="rect">
            <a:avLst/>
          </a:prstGeom>
          <a:noFill/>
          <a:ln/>
        </p:spPr>
        <p:txBody>
          <a:bodyPr wrap="square" lIns="0" tIns="0" rIns="0" bIns="0" rtlCol="0" anchor="ctr"/>
          <a:lstStyle/>
          <a:p>
            <a:pPr indent="0" marL="0">
              <a:buNone/>
            </a:pPr>
            <a:r>
              <a:rPr lang="en-US" sz="1250" dirty="0">
                <a:solidFill>
                  <a:srgbClr val="5E6875"/>
                </a:solidFill>
                <a:latin typeface="Calibri" pitchFamily="34" charset="0"/>
                <a:ea typeface="Calibri" pitchFamily="34" charset="-122"/>
                <a:cs typeface="Calibri" pitchFamily="34" charset="-120"/>
              </a:rPr>
              <a:t>Multi-label scores: traffic, closure, ED congestion, routing, weather, bottleneck.</a:t>
            </a:r>
            <a:endParaRPr lang="en-US" sz="1250" dirty="0"/>
          </a:p>
        </p:txBody>
      </p:sp>
      <p:sp>
        <p:nvSpPr>
          <p:cNvPr id="18" name="Shape 16"/>
          <p:cNvSpPr/>
          <p:nvPr/>
        </p:nvSpPr>
        <p:spPr>
          <a:xfrm>
            <a:off x="548640" y="3483864"/>
            <a:ext cx="6492240" cy="731520"/>
          </a:xfrm>
          <a:prstGeom prst="roundRect">
            <a:avLst>
              <a:gd name="adj" fmla="val 10000"/>
            </a:avLst>
          </a:prstGeom>
          <a:solidFill>
            <a:srgbClr val="F3F5F7"/>
          </a:solidFill>
          <a:ln w="12700">
            <a:solidFill>
              <a:srgbClr val="F3F5F7"/>
            </a:solidFill>
            <a:prstDash val="solid"/>
          </a:ln>
        </p:spPr>
      </p:sp>
      <p:sp>
        <p:nvSpPr>
          <p:cNvPr id="19" name="Shape 17"/>
          <p:cNvSpPr/>
          <p:nvPr/>
        </p:nvSpPr>
        <p:spPr>
          <a:xfrm>
            <a:off x="685800" y="3621024"/>
            <a:ext cx="457200" cy="457200"/>
          </a:xfrm>
          <a:prstGeom prst="roundRect">
            <a:avLst>
              <a:gd name="adj" fmla="val 16000"/>
            </a:avLst>
          </a:prstGeom>
          <a:solidFill>
            <a:srgbClr val="12161C"/>
          </a:solidFill>
          <a:ln w="12700">
            <a:solidFill>
              <a:srgbClr val="12161C"/>
            </a:solidFill>
            <a:prstDash val="solid"/>
          </a:ln>
        </p:spPr>
      </p:sp>
      <p:sp>
        <p:nvSpPr>
          <p:cNvPr id="20" name="Text 18"/>
          <p:cNvSpPr txBox="1"/>
          <p:nvPr/>
        </p:nvSpPr>
        <p:spPr>
          <a:xfrm>
            <a:off x="685800" y="362102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21" name="Text 19"/>
          <p:cNvSpPr txBox="1"/>
          <p:nvPr/>
        </p:nvSpPr>
        <p:spPr>
          <a:xfrm>
            <a:off x="1325880" y="3575304"/>
            <a:ext cx="5577840" cy="274320"/>
          </a:xfrm>
          <a:prstGeom prst="rect">
            <a:avLst/>
          </a:prstGeom>
          <a:noFill/>
          <a:ln/>
        </p:spPr>
        <p:txBody>
          <a:bodyPr wrap="square" lIns="0" tIns="0" rIns="0" bIns="0" rtlCol="0" anchor="ctr"/>
          <a:lstStyle/>
          <a:p>
            <a:pPr indent="0" marL="0">
              <a:buNone/>
            </a:pPr>
            <a:r>
              <a:rPr lang="en-US" sz="1300" b="1" spc="100" kern="0" dirty="0">
                <a:solidFill>
                  <a:srgbClr val="1B1F24"/>
                </a:solidFill>
                <a:latin typeface="Arial" pitchFamily="34" charset="0"/>
                <a:ea typeface="Arial" pitchFamily="34" charset="-122"/>
                <a:cs typeface="Arial" pitchFamily="34" charset="-120"/>
              </a:rPr>
              <a:t>COUNTERFACTUAL   </a:t>
            </a:r>
            <a:pPr indent="0" marL="0">
              <a:buNone/>
            </a:pPr>
            <a:r>
              <a:rPr lang="en-US" sz="1300" i="1" dirty="0">
                <a:solidFill>
                  <a:srgbClr val="E03E3E"/>
                </a:solidFill>
                <a:latin typeface="Calibri" pitchFamily="34" charset="0"/>
                <a:ea typeface="Calibri" pitchFamily="34" charset="-122"/>
                <a:cs typeface="Calibri" pitchFamily="34" charset="-120"/>
              </a:rPr>
              <a:t>What would prevent it?</a:t>
            </a:r>
            <a:endParaRPr lang="en-US" sz="1300" dirty="0"/>
          </a:p>
        </p:txBody>
      </p:sp>
      <p:sp>
        <p:nvSpPr>
          <p:cNvPr id="22" name="Text 20"/>
          <p:cNvSpPr txBox="1"/>
          <p:nvPr/>
        </p:nvSpPr>
        <p:spPr>
          <a:xfrm>
            <a:off x="1325880" y="3867912"/>
            <a:ext cx="5577840" cy="274320"/>
          </a:xfrm>
          <a:prstGeom prst="rect">
            <a:avLst/>
          </a:prstGeom>
          <a:noFill/>
          <a:ln/>
        </p:spPr>
        <p:txBody>
          <a:bodyPr wrap="square" lIns="0" tIns="0" rIns="0" bIns="0" rtlCol="0" anchor="ctr"/>
          <a:lstStyle/>
          <a:p>
            <a:pPr indent="0" marL="0">
              <a:buNone/>
            </a:pPr>
            <a:r>
              <a:rPr lang="en-US" sz="1250" dirty="0">
                <a:solidFill>
                  <a:srgbClr val="5E6875"/>
                </a:solidFill>
                <a:latin typeface="Calibri" pitchFamily="34" charset="0"/>
                <a:ea typeface="Calibri" pitchFamily="34" charset="-122"/>
                <a:cs typeface="Calibri" pitchFamily="34" charset="-120"/>
              </a:rPr>
              <a:t>Simulates alternative routes and clinically eligible hospitals.</a:t>
            </a:r>
            <a:endParaRPr lang="en-US" sz="1250" dirty="0"/>
          </a:p>
        </p:txBody>
      </p:sp>
      <p:sp>
        <p:nvSpPr>
          <p:cNvPr id="23" name="Shape 21"/>
          <p:cNvSpPr/>
          <p:nvPr/>
        </p:nvSpPr>
        <p:spPr>
          <a:xfrm>
            <a:off x="548640" y="4334256"/>
            <a:ext cx="6492240" cy="731520"/>
          </a:xfrm>
          <a:prstGeom prst="roundRect">
            <a:avLst>
              <a:gd name="adj" fmla="val 10000"/>
            </a:avLst>
          </a:prstGeom>
          <a:solidFill>
            <a:srgbClr val="F3F5F7"/>
          </a:solidFill>
          <a:ln w="12700">
            <a:solidFill>
              <a:srgbClr val="F3F5F7"/>
            </a:solidFill>
            <a:prstDash val="solid"/>
          </a:ln>
        </p:spPr>
      </p:sp>
      <p:sp>
        <p:nvSpPr>
          <p:cNvPr id="24" name="Shape 22"/>
          <p:cNvSpPr/>
          <p:nvPr/>
        </p:nvSpPr>
        <p:spPr>
          <a:xfrm>
            <a:off x="685800" y="4471416"/>
            <a:ext cx="457200" cy="457200"/>
          </a:xfrm>
          <a:prstGeom prst="roundRect">
            <a:avLst>
              <a:gd name="adj" fmla="val 16000"/>
            </a:avLst>
          </a:prstGeom>
          <a:solidFill>
            <a:srgbClr val="E03E3E"/>
          </a:solidFill>
          <a:ln w="12700">
            <a:solidFill>
              <a:srgbClr val="12161C"/>
            </a:solidFill>
            <a:prstDash val="solid"/>
          </a:ln>
        </p:spPr>
      </p:sp>
      <p:sp>
        <p:nvSpPr>
          <p:cNvPr id="25" name="Text 23"/>
          <p:cNvSpPr txBox="1"/>
          <p:nvPr/>
        </p:nvSpPr>
        <p:spPr>
          <a:xfrm>
            <a:off x="685800" y="447141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6" name="Text 24"/>
          <p:cNvSpPr txBox="1"/>
          <p:nvPr/>
        </p:nvSpPr>
        <p:spPr>
          <a:xfrm>
            <a:off x="1325880" y="4425696"/>
            <a:ext cx="5577840" cy="274320"/>
          </a:xfrm>
          <a:prstGeom prst="rect">
            <a:avLst/>
          </a:prstGeom>
          <a:noFill/>
          <a:ln/>
        </p:spPr>
        <p:txBody>
          <a:bodyPr wrap="square" lIns="0" tIns="0" rIns="0" bIns="0" rtlCol="0" anchor="ctr"/>
          <a:lstStyle/>
          <a:p>
            <a:pPr indent="0" marL="0">
              <a:buNone/>
            </a:pPr>
            <a:r>
              <a:rPr lang="en-US" sz="1300" b="1" spc="100" kern="0" dirty="0">
                <a:solidFill>
                  <a:srgbClr val="1B1F24"/>
                </a:solidFill>
                <a:latin typeface="Arial" pitchFamily="34" charset="0"/>
                <a:ea typeface="Arial" pitchFamily="34" charset="-122"/>
                <a:cs typeface="Arial" pitchFamily="34" charset="-120"/>
              </a:rPr>
              <a:t>ACT   </a:t>
            </a:r>
            <a:pPr indent="0" marL="0">
              <a:buNone/>
            </a:pPr>
            <a:r>
              <a:rPr lang="en-US" sz="1300" i="1" dirty="0">
                <a:solidFill>
                  <a:srgbClr val="E03E3E"/>
                </a:solidFill>
                <a:latin typeface="Calibri" pitchFamily="34" charset="0"/>
                <a:ea typeface="Calibri" pitchFamily="34" charset="-122"/>
                <a:cs typeface="Calibri" pitchFamily="34" charset="-120"/>
              </a:rPr>
              <a:t>What should happen now?</a:t>
            </a:r>
            <a:endParaRPr lang="en-US" sz="1300" dirty="0"/>
          </a:p>
        </p:txBody>
      </p:sp>
      <p:sp>
        <p:nvSpPr>
          <p:cNvPr id="27" name="Text 25"/>
          <p:cNvSpPr txBox="1"/>
          <p:nvPr/>
        </p:nvSpPr>
        <p:spPr>
          <a:xfrm>
            <a:off x="1325880" y="4718304"/>
            <a:ext cx="5577840" cy="274320"/>
          </a:xfrm>
          <a:prstGeom prst="rect">
            <a:avLst/>
          </a:prstGeom>
          <a:noFill/>
          <a:ln/>
        </p:spPr>
        <p:txBody>
          <a:bodyPr wrap="square" lIns="0" tIns="0" rIns="0" bIns="0" rtlCol="0" anchor="ctr"/>
          <a:lstStyle/>
          <a:p>
            <a:pPr indent="0" marL="0">
              <a:buNone/>
            </a:pPr>
            <a:r>
              <a:rPr lang="en-US" sz="1250" dirty="0">
                <a:solidFill>
                  <a:srgbClr val="5E6875"/>
                </a:solidFill>
                <a:latin typeface="Calibri" pitchFamily="34" charset="0"/>
                <a:ea typeface="Calibri" pitchFamily="34" charset="-122"/>
                <a:cs typeface="Calibri" pitchFamily="34" charset="-120"/>
              </a:rPr>
              <a:t>Ranks interventions by benefit; a dispatcher approves before execution.</a:t>
            </a:r>
            <a:endParaRPr lang="en-US" sz="1250" dirty="0"/>
          </a:p>
        </p:txBody>
      </p:sp>
      <p:sp>
        <p:nvSpPr>
          <p:cNvPr id="28" name="Shape 26"/>
          <p:cNvSpPr/>
          <p:nvPr/>
        </p:nvSpPr>
        <p:spPr>
          <a:xfrm>
            <a:off x="548640" y="5257800"/>
            <a:ext cx="6492240" cy="640080"/>
          </a:xfrm>
          <a:prstGeom prst="roundRect">
            <a:avLst>
              <a:gd name="adj" fmla="val 11429"/>
            </a:avLst>
          </a:prstGeom>
          <a:solidFill>
            <a:srgbClr val="FFFFFF"/>
          </a:solidFill>
          <a:ln w="12700">
            <a:solidFill>
              <a:srgbClr val="B8C0CA"/>
            </a:solidFill>
            <a:prstDash val="dash"/>
          </a:ln>
        </p:spPr>
      </p:sp>
      <p:sp>
        <p:nvSpPr>
          <p:cNvPr id="29" name="Text 27"/>
          <p:cNvSpPr txBox="1"/>
          <p:nvPr/>
        </p:nvSpPr>
        <p:spPr>
          <a:xfrm>
            <a:off x="777240" y="5257800"/>
            <a:ext cx="6035040" cy="640080"/>
          </a:xfrm>
          <a:prstGeom prst="rect">
            <a:avLst/>
          </a:prstGeom>
          <a:noFill/>
          <a:ln/>
        </p:spPr>
        <p:txBody>
          <a:bodyPr wrap="square" lIns="0" tIns="0" rIns="0" bIns="0" rtlCol="0" anchor="ctr"/>
          <a:lstStyle/>
          <a:p>
            <a:pPr indent="0" marL="0">
              <a:buNone/>
            </a:pPr>
            <a:r>
              <a:rPr lang="en-US" sz="1100" b="1" spc="100" kern="0" dirty="0">
                <a:solidFill>
                  <a:srgbClr val="5E6875"/>
                </a:solidFill>
                <a:latin typeface="Arial" pitchFamily="34" charset="0"/>
                <a:ea typeface="Arial" pitchFamily="34" charset="-122"/>
                <a:cs typeface="Arial" pitchFamily="34" charset="-120"/>
              </a:rPr>
              <a:t>FOUNDATION   </a:t>
            </a:r>
            <a:pPr indent="0" marL="0">
              <a:buNone/>
            </a:pPr>
            <a:r>
              <a:rPr lang="en-US" sz="1250" dirty="0">
                <a:solidFill>
                  <a:srgbClr val="5E6875"/>
                </a:solidFill>
                <a:latin typeface="Calibri" pitchFamily="34" charset="0"/>
                <a:ea typeface="Calibri" pitchFamily="34" charset="-122"/>
                <a:cs typeface="Calibri" pitchFamily="34" charset="-120"/>
              </a:rPr>
              <a:t>OpenStreetMap + OSRM (or any maps API) supply candidate routes</a:t>
            </a:r>
            <a:endParaRPr lang="en-US" sz="1100" dirty="0"/>
          </a:p>
        </p:txBody>
      </p:sp>
      <p:sp>
        <p:nvSpPr>
          <p:cNvPr id="30" name="Shape 28"/>
          <p:cNvSpPr/>
          <p:nvPr/>
        </p:nvSpPr>
        <p:spPr>
          <a:xfrm>
            <a:off x="7406640" y="1783080"/>
            <a:ext cx="4236415" cy="4114800"/>
          </a:xfrm>
          <a:prstGeom prst="roundRect">
            <a:avLst>
              <a:gd name="adj" fmla="val 2222"/>
            </a:avLst>
          </a:prstGeom>
          <a:solidFill>
            <a:srgbClr val="12161C"/>
          </a:solidFill>
          <a:ln w="12700">
            <a:solidFill>
              <a:srgbClr val="12161C"/>
            </a:solidFill>
            <a:prstDash val="solid"/>
          </a:ln>
        </p:spPr>
      </p:sp>
      <p:sp>
        <p:nvSpPr>
          <p:cNvPr id="31" name="Text 29"/>
          <p:cNvSpPr txBox="1"/>
          <p:nvPr/>
        </p:nvSpPr>
        <p:spPr>
          <a:xfrm>
            <a:off x="7726680" y="2011680"/>
            <a:ext cx="3596335" cy="228600"/>
          </a:xfrm>
          <a:prstGeom prst="rect">
            <a:avLst/>
          </a:prstGeom>
          <a:noFill/>
          <a:ln/>
        </p:spPr>
        <p:txBody>
          <a:bodyPr wrap="square" lIns="0" tIns="0" rIns="0" bIns="0" rtlCol="0" anchor="ctr"/>
          <a:lstStyle/>
          <a:p>
            <a:pPr indent="0" marL="0">
              <a:buNone/>
            </a:pPr>
            <a:r>
              <a:rPr lang="en-US" sz="1000" b="1" spc="200" kern="0" dirty="0">
                <a:solidFill>
                  <a:srgbClr val="F2A52B"/>
                </a:solidFill>
                <a:latin typeface="Arial" pitchFamily="34" charset="0"/>
                <a:ea typeface="Arial" pitchFamily="34" charset="-122"/>
                <a:cs typeface="Arial" pitchFamily="34" charset="-120"/>
              </a:rPr>
              <a:t>WHEN IS A MISSION IN TROUBLE?</a:t>
            </a:r>
            <a:endParaRPr lang="en-US" sz="1000" dirty="0"/>
          </a:p>
        </p:txBody>
      </p:sp>
      <p:sp>
        <p:nvSpPr>
          <p:cNvPr id="32" name="Text 30"/>
          <p:cNvSpPr txBox="1"/>
          <p:nvPr/>
        </p:nvSpPr>
        <p:spPr>
          <a:xfrm>
            <a:off x="7726680" y="2331720"/>
            <a:ext cx="3596335" cy="502920"/>
          </a:xfrm>
          <a:prstGeom prst="rect">
            <a:avLst/>
          </a:prstGeom>
          <a:noFill/>
          <a:ln/>
        </p:spPr>
        <p:txBody>
          <a:bodyPr wrap="square" lIns="0" tIns="0" rIns="0" bIns="0" rtlCol="0" anchor="ctr"/>
          <a:lstStyle/>
          <a:p>
            <a:pPr indent="0" marL="0">
              <a:buNone/>
            </a:pPr>
            <a:r>
              <a:rPr lang="en-US" sz="2200" dirty="0">
                <a:solidFill>
                  <a:srgbClr val="FFFFFF"/>
                </a:solidFill>
                <a:latin typeface="Cambria" pitchFamily="34" charset="0"/>
                <a:ea typeface="Cambria" pitchFamily="34" charset="-122"/>
                <a:cs typeface="Cambria" pitchFamily="34" charset="-120"/>
              </a:rPr>
              <a:t>P( T</a:t>
            </a:r>
            <a:pPr indent="0" marL="0">
              <a:buNone/>
            </a:pPr>
            <a:r>
              <a:rPr lang="en-US" sz="2200" baseline="-40000" dirty="0">
                <a:solidFill>
                  <a:srgbClr val="FFFFFF"/>
                </a:solidFill>
                <a:latin typeface="Cambria" pitchFamily="34" charset="0"/>
                <a:ea typeface="Cambria" pitchFamily="34" charset="-122"/>
                <a:cs typeface="Cambria" pitchFamily="34" charset="-120"/>
              </a:rPr>
              <a:t>arrival</a:t>
            </a:r>
            <a:pPr indent="0" marL="0">
              <a:buNone/>
            </a:pPr>
            <a:r>
              <a:rPr lang="en-US" sz="2200" dirty="0">
                <a:solidFill>
                  <a:srgbClr val="FFFFFF"/>
                </a:solidFill>
                <a:latin typeface="Cambria" pitchFamily="34" charset="0"/>
                <a:ea typeface="Cambria" pitchFamily="34" charset="-122"/>
                <a:cs typeface="Cambria" pitchFamily="34" charset="-120"/>
              </a:rPr>
              <a:t> &gt; T</a:t>
            </a:r>
            <a:pPr indent="0" marL="0">
              <a:buNone/>
            </a:pPr>
            <a:r>
              <a:rPr lang="en-US" sz="2200" baseline="-40000" dirty="0">
                <a:solidFill>
                  <a:srgbClr val="FFFFFF"/>
                </a:solidFill>
                <a:latin typeface="Cambria" pitchFamily="34" charset="0"/>
                <a:ea typeface="Cambria" pitchFamily="34" charset="-122"/>
                <a:cs typeface="Cambria" pitchFamily="34" charset="-120"/>
              </a:rPr>
              <a:t>target</a:t>
            </a:r>
            <a:pPr indent="0" marL="0">
              <a:buNone/>
            </a:pPr>
            <a:r>
              <a:rPr lang="en-US" sz="2200" dirty="0">
                <a:solidFill>
                  <a:srgbClr val="FFFFFF"/>
                </a:solidFill>
                <a:latin typeface="Cambria" pitchFamily="34" charset="0"/>
                <a:ea typeface="Cambria" pitchFamily="34" charset="-122"/>
                <a:cs typeface="Cambria" pitchFamily="34" charset="-120"/>
              </a:rPr>
              <a:t>  |  X</a:t>
            </a:r>
            <a:pPr indent="0" marL="0">
              <a:buNone/>
            </a:pPr>
            <a:r>
              <a:rPr lang="en-US" sz="2200" baseline="-40000" dirty="0">
                <a:solidFill>
                  <a:srgbClr val="FFFFFF"/>
                </a:solidFill>
                <a:latin typeface="Cambria" pitchFamily="34" charset="0"/>
                <a:ea typeface="Cambria" pitchFamily="34" charset="-122"/>
                <a:cs typeface="Cambria" pitchFamily="34" charset="-120"/>
              </a:rPr>
              <a:t>t</a:t>
            </a:r>
            <a:pPr indent="0" marL="0">
              <a:buNone/>
            </a:pPr>
            <a:r>
              <a:rPr lang="en-US" sz="2200" dirty="0">
                <a:solidFill>
                  <a:srgbClr val="FFFFFF"/>
                </a:solidFill>
                <a:latin typeface="Cambria" pitchFamily="34" charset="0"/>
                <a:ea typeface="Cambria" pitchFamily="34" charset="-122"/>
                <a:cs typeface="Cambria" pitchFamily="34" charset="-120"/>
              </a:rPr>
              <a:t> )  ≥  θ</a:t>
            </a:r>
            <a:endParaRPr lang="en-US" sz="2200" dirty="0"/>
          </a:p>
        </p:txBody>
      </p:sp>
      <p:sp>
        <p:nvSpPr>
          <p:cNvPr id="33" name="Text 31"/>
          <p:cNvSpPr txBox="1"/>
          <p:nvPr/>
        </p:nvSpPr>
        <p:spPr>
          <a:xfrm>
            <a:off x="7726680" y="2907792"/>
            <a:ext cx="3596335" cy="457200"/>
          </a:xfrm>
          <a:prstGeom prst="rect">
            <a:avLst/>
          </a:prstGeom>
          <a:noFill/>
          <a:ln/>
        </p:spPr>
        <p:txBody>
          <a:bodyPr wrap="square" lIns="0" tIns="0" rIns="0" bIns="0" rtlCol="0" anchor="t"/>
          <a:lstStyle/>
          <a:p>
            <a:pPr indent="0" marL="0">
              <a:buNone/>
            </a:pPr>
            <a:r>
              <a:rPr lang="en-US" sz="1250" dirty="0">
                <a:solidFill>
                  <a:srgbClr val="9DA7B3"/>
                </a:solidFill>
                <a:latin typeface="Calibri" pitchFamily="34" charset="0"/>
                <a:ea typeface="Calibri" pitchFamily="34" charset="-122"/>
                <a:cs typeface="Calibri" pitchFamily="34" charset="-120"/>
              </a:rPr>
              <a:t>Probability of missing the target, given the live state of road, weather, hospital and mission.</a:t>
            </a:r>
            <a:endParaRPr lang="en-US" sz="1250" dirty="0"/>
          </a:p>
        </p:txBody>
      </p:sp>
      <p:sp>
        <p:nvSpPr>
          <p:cNvPr id="34" name="Shape 32"/>
          <p:cNvSpPr/>
          <p:nvPr/>
        </p:nvSpPr>
        <p:spPr>
          <a:xfrm>
            <a:off x="7726680" y="3429000"/>
            <a:ext cx="3596335" cy="438912"/>
          </a:xfrm>
          <a:prstGeom prst="roundRect">
            <a:avLst>
              <a:gd name="adj" fmla="val 12500"/>
            </a:avLst>
          </a:prstGeom>
          <a:solidFill>
            <a:srgbClr val="1E252E"/>
          </a:solidFill>
          <a:ln w="12700">
            <a:solidFill>
              <a:srgbClr val="1E252E"/>
            </a:solidFill>
            <a:prstDash val="solid"/>
          </a:ln>
        </p:spPr>
      </p:sp>
      <p:sp>
        <p:nvSpPr>
          <p:cNvPr id="35" name="Shape 33"/>
          <p:cNvSpPr/>
          <p:nvPr/>
        </p:nvSpPr>
        <p:spPr>
          <a:xfrm>
            <a:off x="7863840" y="3557016"/>
            <a:ext cx="182880" cy="182880"/>
          </a:xfrm>
          <a:prstGeom prst="ellipse">
            <a:avLst/>
          </a:prstGeom>
          <a:solidFill>
            <a:srgbClr val="2FA36B"/>
          </a:solidFill>
          <a:ln w="12700">
            <a:solidFill>
              <a:srgbClr val="2FA36B"/>
            </a:solidFill>
            <a:prstDash val="solid"/>
          </a:ln>
        </p:spPr>
      </p:sp>
      <p:sp>
        <p:nvSpPr>
          <p:cNvPr id="36" name="Text 34"/>
          <p:cNvSpPr txBox="1"/>
          <p:nvPr/>
        </p:nvSpPr>
        <p:spPr>
          <a:xfrm>
            <a:off x="8183880" y="3429000"/>
            <a:ext cx="960120" cy="438912"/>
          </a:xfrm>
          <a:prstGeom prst="rect">
            <a:avLst/>
          </a:prstGeom>
          <a:noFill/>
          <a:ln/>
        </p:spPr>
        <p:txBody>
          <a:bodyPr wrap="square" lIns="0" tIns="0" rIns="0" bIns="0" rtlCol="0" anchor="ctr"/>
          <a:lstStyle/>
          <a:p>
            <a:pPr indent="0" marL="0">
              <a:buNone/>
            </a:pPr>
            <a:r>
              <a:rPr lang="en-US" sz="1400" b="1" dirty="0">
                <a:solidFill>
                  <a:srgbClr val="2FA36B"/>
                </a:solidFill>
                <a:latin typeface="Calibri" pitchFamily="34" charset="0"/>
                <a:ea typeface="Calibri" pitchFamily="34" charset="-122"/>
                <a:cs typeface="Calibri" pitchFamily="34" charset="-120"/>
              </a:rPr>
              <a:t>Stable</a:t>
            </a:r>
            <a:endParaRPr lang="en-US" sz="1400" dirty="0"/>
          </a:p>
        </p:txBody>
      </p:sp>
      <p:sp>
        <p:nvSpPr>
          <p:cNvPr id="37" name="Text 35"/>
          <p:cNvSpPr txBox="1"/>
          <p:nvPr/>
        </p:nvSpPr>
        <p:spPr>
          <a:xfrm>
            <a:off x="9144000" y="3429000"/>
            <a:ext cx="777240"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&lt; 50%</a:t>
            </a:r>
            <a:endParaRPr lang="en-US" sz="1300" dirty="0"/>
          </a:p>
        </p:txBody>
      </p:sp>
      <p:sp>
        <p:nvSpPr>
          <p:cNvPr id="38" name="Text 36"/>
          <p:cNvSpPr txBox="1"/>
          <p:nvPr/>
        </p:nvSpPr>
        <p:spPr>
          <a:xfrm>
            <a:off x="9921240" y="3429000"/>
            <a:ext cx="1310335" cy="438912"/>
          </a:xfrm>
          <a:prstGeom prst="rect">
            <a:avLst/>
          </a:prstGeom>
          <a:noFill/>
          <a:ln/>
        </p:spPr>
        <p:txBody>
          <a:bodyPr wrap="square" lIns="0" tIns="0" rIns="0" bIns="0" rtlCol="0" anchor="ctr"/>
          <a:lstStyle/>
          <a:p>
            <a:pPr indent="0" marL="0">
              <a:buNone/>
            </a:pPr>
            <a:r>
              <a:rPr lang="en-US" sz="1250" dirty="0">
                <a:solidFill>
                  <a:srgbClr val="9DA7B3"/>
                </a:solidFill>
                <a:latin typeface="Calibri" pitchFamily="34" charset="0"/>
                <a:ea typeface="Calibri" pitchFamily="34" charset="-122"/>
                <a:cs typeface="Calibri" pitchFamily="34" charset="-120"/>
              </a:rPr>
              <a:t>Continue</a:t>
            </a:r>
            <a:endParaRPr lang="en-US" sz="1250" dirty="0"/>
          </a:p>
        </p:txBody>
      </p:sp>
      <p:sp>
        <p:nvSpPr>
          <p:cNvPr id="39" name="Shape 37"/>
          <p:cNvSpPr/>
          <p:nvPr/>
        </p:nvSpPr>
        <p:spPr>
          <a:xfrm>
            <a:off x="7726680" y="3977640"/>
            <a:ext cx="3596335" cy="438912"/>
          </a:xfrm>
          <a:prstGeom prst="roundRect">
            <a:avLst>
              <a:gd name="adj" fmla="val 12500"/>
            </a:avLst>
          </a:prstGeom>
          <a:solidFill>
            <a:srgbClr val="1E252E"/>
          </a:solidFill>
          <a:ln w="12700">
            <a:solidFill>
              <a:srgbClr val="1E252E"/>
            </a:solidFill>
            <a:prstDash val="solid"/>
          </a:ln>
        </p:spPr>
      </p:sp>
      <p:sp>
        <p:nvSpPr>
          <p:cNvPr id="40" name="Shape 38"/>
          <p:cNvSpPr/>
          <p:nvPr/>
        </p:nvSpPr>
        <p:spPr>
          <a:xfrm>
            <a:off x="7863840" y="4105656"/>
            <a:ext cx="182880" cy="182880"/>
          </a:xfrm>
          <a:prstGeom prst="ellipse">
            <a:avLst/>
          </a:prstGeom>
          <a:solidFill>
            <a:srgbClr val="F2A52B"/>
          </a:solidFill>
          <a:ln w="12700">
            <a:solidFill>
              <a:srgbClr val="F2A52B"/>
            </a:solidFill>
            <a:prstDash val="solid"/>
          </a:ln>
        </p:spPr>
      </p:sp>
      <p:sp>
        <p:nvSpPr>
          <p:cNvPr id="41" name="Text 39"/>
          <p:cNvSpPr txBox="1"/>
          <p:nvPr/>
        </p:nvSpPr>
        <p:spPr>
          <a:xfrm>
            <a:off x="8183880" y="3977640"/>
            <a:ext cx="960120" cy="438912"/>
          </a:xfrm>
          <a:prstGeom prst="rect">
            <a:avLst/>
          </a:prstGeom>
          <a:noFill/>
          <a:ln/>
        </p:spPr>
        <p:txBody>
          <a:bodyPr wrap="square" lIns="0" tIns="0" rIns="0" bIns="0" rtlCol="0" anchor="ctr"/>
          <a:lstStyle/>
          <a:p>
            <a:pPr indent="0" marL="0">
              <a:buNone/>
            </a:pPr>
            <a:r>
              <a:rPr lang="en-US" sz="1400" b="1" dirty="0">
                <a:solidFill>
                  <a:srgbClr val="F2A52B"/>
                </a:solidFill>
                <a:latin typeface="Calibri" pitchFamily="34" charset="0"/>
                <a:ea typeface="Calibri" pitchFamily="34" charset="-122"/>
                <a:cs typeface="Calibri" pitchFamily="34" charset="-120"/>
              </a:rPr>
              <a:t>At risk</a:t>
            </a:r>
            <a:endParaRPr lang="en-US" sz="1400" dirty="0"/>
          </a:p>
        </p:txBody>
      </p:sp>
      <p:sp>
        <p:nvSpPr>
          <p:cNvPr id="42" name="Text 40"/>
          <p:cNvSpPr txBox="1"/>
          <p:nvPr/>
        </p:nvSpPr>
        <p:spPr>
          <a:xfrm>
            <a:off x="9144000" y="3977640"/>
            <a:ext cx="777240"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50–80%</a:t>
            </a:r>
            <a:endParaRPr lang="en-US" sz="1300" dirty="0"/>
          </a:p>
        </p:txBody>
      </p:sp>
      <p:sp>
        <p:nvSpPr>
          <p:cNvPr id="43" name="Text 41"/>
          <p:cNvSpPr txBox="1"/>
          <p:nvPr/>
        </p:nvSpPr>
        <p:spPr>
          <a:xfrm>
            <a:off x="9921240" y="3977640"/>
            <a:ext cx="1310335" cy="438912"/>
          </a:xfrm>
          <a:prstGeom prst="rect">
            <a:avLst/>
          </a:prstGeom>
          <a:noFill/>
          <a:ln/>
        </p:spPr>
        <p:txBody>
          <a:bodyPr wrap="square" lIns="0" tIns="0" rIns="0" bIns="0" rtlCol="0" anchor="ctr"/>
          <a:lstStyle/>
          <a:p>
            <a:pPr indent="0" marL="0">
              <a:buNone/>
            </a:pPr>
            <a:r>
              <a:rPr lang="en-US" sz="1250" dirty="0">
                <a:solidFill>
                  <a:srgbClr val="9DA7B3"/>
                </a:solidFill>
                <a:latin typeface="Calibri" pitchFamily="34" charset="0"/>
                <a:ea typeface="Calibri" pitchFamily="34" charset="-122"/>
                <a:cs typeface="Calibri" pitchFamily="34" charset="-120"/>
              </a:rPr>
              <a:t>Monitor &amp; prepare</a:t>
            </a:r>
            <a:endParaRPr lang="en-US" sz="1250" dirty="0"/>
          </a:p>
        </p:txBody>
      </p:sp>
      <p:sp>
        <p:nvSpPr>
          <p:cNvPr id="44" name="Shape 42"/>
          <p:cNvSpPr/>
          <p:nvPr/>
        </p:nvSpPr>
        <p:spPr>
          <a:xfrm>
            <a:off x="7726680" y="4526280"/>
            <a:ext cx="3596335" cy="438912"/>
          </a:xfrm>
          <a:prstGeom prst="roundRect">
            <a:avLst>
              <a:gd name="adj" fmla="val 12500"/>
            </a:avLst>
          </a:prstGeom>
          <a:solidFill>
            <a:srgbClr val="1E252E"/>
          </a:solidFill>
          <a:ln w="12700">
            <a:solidFill>
              <a:srgbClr val="1E252E"/>
            </a:solidFill>
            <a:prstDash val="solid"/>
          </a:ln>
        </p:spPr>
      </p:sp>
      <p:sp>
        <p:nvSpPr>
          <p:cNvPr id="45" name="Shape 43"/>
          <p:cNvSpPr/>
          <p:nvPr/>
        </p:nvSpPr>
        <p:spPr>
          <a:xfrm>
            <a:off x="7863840" y="4654296"/>
            <a:ext cx="182880" cy="182880"/>
          </a:xfrm>
          <a:prstGeom prst="ellipse">
            <a:avLst/>
          </a:prstGeom>
          <a:solidFill>
            <a:srgbClr val="E03E3E"/>
          </a:solidFill>
          <a:ln w="12700">
            <a:solidFill>
              <a:srgbClr val="E03E3E"/>
            </a:solidFill>
            <a:prstDash val="solid"/>
          </a:ln>
        </p:spPr>
      </p:sp>
      <p:sp>
        <p:nvSpPr>
          <p:cNvPr id="46" name="Text 44"/>
          <p:cNvSpPr txBox="1"/>
          <p:nvPr/>
        </p:nvSpPr>
        <p:spPr>
          <a:xfrm>
            <a:off x="8183880" y="4526280"/>
            <a:ext cx="960120" cy="438912"/>
          </a:xfrm>
          <a:prstGeom prst="rect">
            <a:avLst/>
          </a:prstGeom>
          <a:noFill/>
          <a:ln/>
        </p:spPr>
        <p:txBody>
          <a:bodyPr wrap="square" lIns="0" tIns="0" rIns="0" bIns="0" rtlCol="0" anchor="ctr"/>
          <a:lstStyle/>
          <a:p>
            <a:pPr indent="0" marL="0">
              <a:buNone/>
            </a:pPr>
            <a:r>
              <a:rPr lang="en-US" sz="1400" b="1" dirty="0">
                <a:solidFill>
                  <a:srgbClr val="E03E3E"/>
                </a:solidFill>
                <a:latin typeface="Calibri" pitchFamily="34" charset="0"/>
                <a:ea typeface="Calibri" pitchFamily="34" charset="-122"/>
                <a:cs typeface="Calibri" pitchFamily="34" charset="-120"/>
              </a:rPr>
              <a:t>Critical</a:t>
            </a:r>
            <a:endParaRPr lang="en-US" sz="1400" dirty="0"/>
          </a:p>
        </p:txBody>
      </p:sp>
      <p:sp>
        <p:nvSpPr>
          <p:cNvPr id="47" name="Text 45"/>
          <p:cNvSpPr txBox="1"/>
          <p:nvPr/>
        </p:nvSpPr>
        <p:spPr>
          <a:xfrm>
            <a:off x="9144000" y="4526280"/>
            <a:ext cx="777240" cy="43891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&gt; 80%</a:t>
            </a:r>
            <a:endParaRPr lang="en-US" sz="1300" dirty="0"/>
          </a:p>
        </p:txBody>
      </p:sp>
      <p:sp>
        <p:nvSpPr>
          <p:cNvPr id="48" name="Text 46"/>
          <p:cNvSpPr txBox="1"/>
          <p:nvPr/>
        </p:nvSpPr>
        <p:spPr>
          <a:xfrm>
            <a:off x="9921240" y="4526280"/>
            <a:ext cx="1310335" cy="438912"/>
          </a:xfrm>
          <a:prstGeom prst="rect">
            <a:avLst/>
          </a:prstGeom>
          <a:noFill/>
          <a:ln/>
        </p:spPr>
        <p:txBody>
          <a:bodyPr wrap="square" lIns="0" tIns="0" rIns="0" bIns="0" rtlCol="0" anchor="ctr"/>
          <a:lstStyle/>
          <a:p>
            <a:pPr indent="0" marL="0">
              <a:buNone/>
            </a:pPr>
            <a:r>
              <a:rPr lang="en-US" sz="1250" dirty="0">
                <a:solidFill>
                  <a:srgbClr val="9DA7B3"/>
                </a:solidFill>
                <a:latin typeface="Calibri" pitchFamily="34" charset="0"/>
                <a:ea typeface="Calibri" pitchFamily="34" charset="-122"/>
                <a:cs typeface="Calibri" pitchFamily="34" charset="-120"/>
              </a:rPr>
              <a:t>Start intervention</a:t>
            </a:r>
            <a:endParaRPr lang="en-US" sz="1250" dirty="0"/>
          </a:p>
        </p:txBody>
      </p:sp>
      <p:sp>
        <p:nvSpPr>
          <p:cNvPr id="49" name="Text 47"/>
          <p:cNvSpPr txBox="1"/>
          <p:nvPr/>
        </p:nvSpPr>
        <p:spPr>
          <a:xfrm>
            <a:off x="7726680" y="5120640"/>
            <a:ext cx="3596335" cy="640080"/>
          </a:xfrm>
          <a:prstGeom prst="rect">
            <a:avLst/>
          </a:prstGeom>
          <a:noFill/>
          <a:ln/>
        </p:spPr>
        <p:txBody>
          <a:bodyPr wrap="square" lIns="0" tIns="0" rIns="0" bIns="0" rtlCol="0" anchor="t"/>
          <a:lstStyle/>
          <a:p>
            <a:pPr indent="0" marL="0">
              <a:buNone/>
            </a:pPr>
            <a:r>
              <a:rPr lang="en-US" sz="1200" i="1" dirty="0">
                <a:solidFill>
                  <a:srgbClr val="9DA7B3"/>
                </a:solidFill>
                <a:latin typeface="Calibri" pitchFamily="34" charset="0"/>
                <a:ea typeface="Calibri" pitchFamily="34" charset="-122"/>
                <a:cs typeface="Calibri" pitchFamily="34" charset="-120"/>
              </a:rPr>
              <a:t>Targets are configurable: urban or rural, ALS or BLS, stroke, cardiac, trauma, state. The prototype flags missions predicted 15% over target.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7"/>
        </a:solidFill>
      </p:bgPr>
    </p:bg>
    <p:spTree>
      <p:nvGrpSpPr>
        <p:cNvPr id="1" name=""/>
        <p:cNvGrpSpPr/>
        <p:nvPr/>
      </p:nvGrpSpPr>
      <p:grpSpPr>
        <a:xfrm>
          <a:off x="0" y="0"/>
          <a:ext cx="0" cy="0"/>
          <a:chOff x="0" y="0"/>
          <a:chExt cx="0" cy="0"/>
        </a:xfrm>
      </p:grpSpPr>
      <p:sp>
        <p:nvSpPr>
          <p:cNvPr id="2" name="Shape 0"/>
          <p:cNvSpPr/>
          <p:nvPr/>
        </p:nvSpPr>
        <p:spPr>
          <a:xfrm>
            <a:off x="548640" y="457200"/>
            <a:ext cx="109728" cy="109728"/>
          </a:xfrm>
          <a:prstGeom prst="ellipse">
            <a:avLst/>
          </a:prstGeom>
          <a:solidFill>
            <a:srgbClr val="2FA36B"/>
          </a:solidFill>
          <a:ln w="12700">
            <a:solidFill>
              <a:srgbClr val="2FA36B"/>
            </a:solidFill>
            <a:prstDash val="solid"/>
          </a:ln>
        </p:spPr>
      </p:sp>
      <p:sp>
        <p:nvSpPr>
          <p:cNvPr id="3" name="Shape 1"/>
          <p:cNvSpPr/>
          <p:nvPr/>
        </p:nvSpPr>
        <p:spPr>
          <a:xfrm>
            <a:off x="722376" y="457200"/>
            <a:ext cx="109728" cy="109728"/>
          </a:xfrm>
          <a:prstGeom prst="ellipse">
            <a:avLst/>
          </a:prstGeom>
          <a:solidFill>
            <a:srgbClr val="F2A52B"/>
          </a:solidFill>
          <a:ln w="12700">
            <a:solidFill>
              <a:srgbClr val="F2A52B"/>
            </a:solidFill>
            <a:prstDash val="solid"/>
          </a:ln>
        </p:spPr>
      </p:sp>
      <p:sp>
        <p:nvSpPr>
          <p:cNvPr id="4" name="Shape 2"/>
          <p:cNvSpPr/>
          <p:nvPr/>
        </p:nvSpPr>
        <p:spPr>
          <a:xfrm>
            <a:off x="896112" y="457200"/>
            <a:ext cx="109728" cy="109728"/>
          </a:xfrm>
          <a:prstGeom prst="ellipse">
            <a:avLst/>
          </a:prstGeom>
          <a:solidFill>
            <a:srgbClr val="E03E3E"/>
          </a:solidFill>
          <a:ln w="12700">
            <a:solidFill>
              <a:srgbClr val="E03E3E"/>
            </a:solidFill>
            <a:prstDash val="solid"/>
          </a:ln>
        </p:spPr>
      </p:sp>
      <p:sp>
        <p:nvSpPr>
          <p:cNvPr id="5" name="Text 3"/>
          <p:cNvSpPr txBox="1"/>
          <p:nvPr/>
        </p:nvSpPr>
        <p:spPr>
          <a:xfrm>
            <a:off x="1170432" y="393192"/>
            <a:ext cx="7315200" cy="237744"/>
          </a:xfrm>
          <a:prstGeom prst="rect">
            <a:avLst/>
          </a:prstGeom>
          <a:noFill/>
          <a:ln/>
        </p:spPr>
        <p:txBody>
          <a:bodyPr wrap="square" lIns="0" tIns="0" rIns="0" bIns="0" rtlCol="0" anchor="ctr"/>
          <a:lstStyle/>
          <a:p>
            <a:pPr indent="0" marL="0">
              <a:buNone/>
            </a:pPr>
            <a:r>
              <a:rPr lang="en-US" sz="1100" b="1" spc="200" kern="0" dirty="0">
                <a:solidFill>
                  <a:srgbClr val="5E6875"/>
                </a:solidFill>
                <a:latin typeface="Arial" pitchFamily="34" charset="0"/>
                <a:ea typeface="Arial" pitchFamily="34" charset="-122"/>
                <a:cs typeface="Arial" pitchFamily="34" charset="-120"/>
              </a:rPr>
              <a:t>HOW IT WORKS / USER FLOW</a:t>
            </a:r>
            <a:endParaRPr lang="en-US" sz="1100" dirty="0"/>
          </a:p>
        </p:txBody>
      </p:sp>
      <p:sp>
        <p:nvSpPr>
          <p:cNvPr id="6" name="Text 4"/>
          <p:cNvSpPr txBox="1"/>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5E6875"/>
                </a:solidFill>
                <a:latin typeface="Calibri" pitchFamily="34" charset="0"/>
                <a:ea typeface="Calibri" pitchFamily="34" charset="-122"/>
                <a:cs typeface="Calibri" pitchFamily="34" charset="-120"/>
              </a:rPr>
              <a:t>06</a:t>
            </a:r>
            <a:endParaRPr lang="en-US" sz="1000" dirty="0"/>
          </a:p>
        </p:txBody>
      </p:sp>
      <p:sp>
        <p:nvSpPr>
          <p:cNvPr id="7" name="Text 5"/>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200" b="1" dirty="0">
                <a:solidFill>
                  <a:srgbClr val="1B1F24"/>
                </a:solidFill>
                <a:latin typeface="Arial" pitchFamily="34" charset="0"/>
                <a:ea typeface="Arial" pitchFamily="34" charset="-122"/>
                <a:cs typeface="Arial" pitchFamily="34" charset="-120"/>
              </a:rPr>
              <a:t>From live signal to approved action</a:t>
            </a:r>
            <a:endParaRPr lang="en-US" sz="3200" dirty="0"/>
          </a:p>
        </p:txBody>
      </p:sp>
      <p:sp>
        <p:nvSpPr>
          <p:cNvPr id="8" name="Shape 6"/>
          <p:cNvSpPr/>
          <p:nvPr/>
        </p:nvSpPr>
        <p:spPr>
          <a:xfrm>
            <a:off x="548640" y="1737360"/>
            <a:ext cx="1605229" cy="1874520"/>
          </a:xfrm>
          <a:prstGeom prst="roundRect">
            <a:avLst>
              <a:gd name="adj" fmla="val 4557"/>
            </a:avLst>
          </a:prstGeom>
          <a:solidFill>
            <a:srgbClr val="FFFFFF"/>
          </a:solidFill>
          <a:ln w="12700">
            <a:solidFill>
              <a:srgbClr val="FFFFFF"/>
            </a:solidFill>
            <a:prstDash val="solid"/>
          </a:ln>
          <a:effectLst>
            <a:outerShdw sx="100000" sy="100000" kx="0" ky="0" algn="bl" rotWithShape="0" blurRad="76200" dist="19050" dir="5400000">
              <a:srgbClr val="000000">
                <a:alpha val="8000"/>
              </a:srgbClr>
            </a:outerShdw>
          </a:effectLst>
        </p:spPr>
      </p:sp>
      <p:sp>
        <p:nvSpPr>
          <p:cNvPr id="9" name="Shape 7"/>
          <p:cNvSpPr/>
          <p:nvPr/>
        </p:nvSpPr>
        <p:spPr>
          <a:xfrm>
            <a:off x="713232" y="1901952"/>
            <a:ext cx="457200" cy="457200"/>
          </a:xfrm>
          <a:prstGeom prst="ellipse">
            <a:avLst/>
          </a:prstGeom>
          <a:solidFill>
            <a:srgbClr val="12161C"/>
          </a:solidFill>
          <a:ln w="12700">
            <a:solidFill>
              <a:srgbClr val="12161C"/>
            </a:solidFill>
            <a:prstDash val="solid"/>
          </a:ln>
        </p:spPr>
      </p:sp>
      <p:pic>
        <p:nvPicPr>
          <p:cNvPr id="10" name="Image 0" descr="preencoded.png">    </p:cNvPr>
          <p:cNvPicPr>
            <a:picLocks noChangeAspect="1"/>
          </p:cNvPicPr>
          <p:nvPr/>
        </p:nvPicPr>
        <p:blipFill>
          <a:blip r:embed="rId1"/>
          <a:stretch>
            <a:fillRect/>
          </a:stretch>
        </p:blipFill>
        <p:spPr>
          <a:xfrm>
            <a:off x="827532" y="2016252"/>
            <a:ext cx="228600" cy="228600"/>
          </a:xfrm>
          <a:prstGeom prst="rect">
            <a:avLst/>
          </a:prstGeom>
        </p:spPr>
      </p:pic>
      <p:sp>
        <p:nvSpPr>
          <p:cNvPr id="11" name="Text 8"/>
          <p:cNvSpPr txBox="1"/>
          <p:nvPr/>
        </p:nvSpPr>
        <p:spPr>
          <a:xfrm>
            <a:off x="1559509" y="1920240"/>
            <a:ext cx="457200" cy="274320"/>
          </a:xfrm>
          <a:prstGeom prst="rect">
            <a:avLst/>
          </a:prstGeom>
          <a:noFill/>
          <a:ln/>
        </p:spPr>
        <p:txBody>
          <a:bodyPr wrap="square" lIns="0" tIns="0" rIns="0" bIns="0" rtlCol="0" anchor="ctr"/>
          <a:lstStyle/>
          <a:p>
            <a:pPr algn="r" indent="0" marL="0">
              <a:buNone/>
            </a:pPr>
            <a:r>
              <a:rPr lang="en-US" sz="1200" b="1" dirty="0">
                <a:solidFill>
                  <a:srgbClr val="B8C0CA"/>
                </a:solidFill>
                <a:latin typeface="Arial" pitchFamily="34" charset="0"/>
                <a:ea typeface="Arial" pitchFamily="34" charset="-122"/>
                <a:cs typeface="Arial" pitchFamily="34" charset="-120"/>
              </a:rPr>
              <a:t>01</a:t>
            </a:r>
            <a:endParaRPr lang="en-US" sz="1200" dirty="0"/>
          </a:p>
        </p:txBody>
      </p:sp>
      <p:sp>
        <p:nvSpPr>
          <p:cNvPr id="12" name="Text 9"/>
          <p:cNvSpPr txBox="1"/>
          <p:nvPr/>
        </p:nvSpPr>
        <p:spPr>
          <a:xfrm>
            <a:off x="713232" y="2450592"/>
            <a:ext cx="1330909" cy="274320"/>
          </a:xfrm>
          <a:prstGeom prst="rect">
            <a:avLst/>
          </a:prstGeom>
          <a:noFill/>
          <a:ln/>
        </p:spPr>
        <p:txBody>
          <a:bodyPr wrap="square" lIns="0" tIns="0" rIns="0" bIns="0" rtlCol="0" anchor="ctr"/>
          <a:lstStyle/>
          <a:p>
            <a:pPr indent="0" marL="0">
              <a:buNone/>
            </a:pPr>
            <a:r>
              <a:rPr lang="en-US" sz="1350" b="1" dirty="0">
                <a:solidFill>
                  <a:srgbClr val="1B1F24"/>
                </a:solidFill>
                <a:latin typeface="Arial" pitchFamily="34" charset="0"/>
                <a:ea typeface="Arial" pitchFamily="34" charset="-122"/>
                <a:cs typeface="Arial" pitchFamily="34" charset="-120"/>
              </a:rPr>
              <a:t>Mission starts</a:t>
            </a:r>
            <a:endParaRPr lang="en-US" sz="1350" dirty="0"/>
          </a:p>
        </p:txBody>
      </p:sp>
      <p:sp>
        <p:nvSpPr>
          <p:cNvPr id="13" name="Text 10"/>
          <p:cNvSpPr txBox="1"/>
          <p:nvPr/>
        </p:nvSpPr>
        <p:spPr>
          <a:xfrm>
            <a:off x="713232" y="2743200"/>
            <a:ext cx="1330909" cy="804672"/>
          </a:xfrm>
          <a:prstGeom prst="rect">
            <a:avLst/>
          </a:prstGeom>
          <a:noFill/>
          <a:ln/>
        </p:spPr>
        <p:txBody>
          <a:bodyPr wrap="square" lIns="0" tIns="0" rIns="0" bIns="0" rtlCol="0" anchor="t"/>
          <a:lstStyle/>
          <a:p>
            <a:pPr indent="0" marL="0">
              <a:buNone/>
            </a:pPr>
            <a:r>
              <a:rPr lang="en-US" sz="1150" dirty="0">
                <a:solidFill>
                  <a:srgbClr val="5E6875"/>
                </a:solidFill>
                <a:latin typeface="Calibri" pitchFamily="34" charset="0"/>
                <a:ea typeface="Calibri" pitchFamily="34" charset="-122"/>
                <a:cs typeface="Calibri" pitchFamily="34" charset="-120"/>
              </a:rPr>
              <a:t>Dispatcher assigns an ambulance; target set by acuity and area.</a:t>
            </a:r>
            <a:endParaRPr lang="en-US" sz="1150" dirty="0"/>
          </a:p>
        </p:txBody>
      </p:sp>
      <p:sp>
        <p:nvSpPr>
          <p:cNvPr id="14" name="Shape 11"/>
          <p:cNvSpPr/>
          <p:nvPr/>
        </p:nvSpPr>
        <p:spPr>
          <a:xfrm>
            <a:off x="2217877" y="2560320"/>
            <a:ext cx="164592" cy="219456"/>
          </a:xfrm>
          <a:prstGeom prst="rightArrow">
            <a:avLst/>
          </a:prstGeom>
          <a:solidFill>
            <a:srgbClr val="9AA4B1"/>
          </a:solidFill>
          <a:ln w="12700">
            <a:solidFill>
              <a:srgbClr val="9AA4B1"/>
            </a:solidFill>
            <a:prstDash val="solid"/>
          </a:ln>
        </p:spPr>
      </p:sp>
      <p:sp>
        <p:nvSpPr>
          <p:cNvPr id="15" name="Shape 12"/>
          <p:cNvSpPr/>
          <p:nvPr/>
        </p:nvSpPr>
        <p:spPr>
          <a:xfrm>
            <a:off x="2446477" y="1737360"/>
            <a:ext cx="1605229" cy="1874520"/>
          </a:xfrm>
          <a:prstGeom prst="roundRect">
            <a:avLst>
              <a:gd name="adj" fmla="val 4557"/>
            </a:avLst>
          </a:prstGeom>
          <a:solidFill>
            <a:srgbClr val="FFFFFF"/>
          </a:solidFill>
          <a:ln w="12700">
            <a:solidFill>
              <a:srgbClr val="FFFFFF"/>
            </a:solidFill>
            <a:prstDash val="solid"/>
          </a:ln>
          <a:effectLst>
            <a:outerShdw sx="100000" sy="100000" kx="0" ky="0" algn="bl" rotWithShape="0" blurRad="76200" dist="19050" dir="5400000">
              <a:srgbClr val="000000">
                <a:alpha val="8000"/>
              </a:srgbClr>
            </a:outerShdw>
          </a:effectLst>
        </p:spPr>
      </p:sp>
      <p:sp>
        <p:nvSpPr>
          <p:cNvPr id="16" name="Shape 13"/>
          <p:cNvSpPr/>
          <p:nvPr/>
        </p:nvSpPr>
        <p:spPr>
          <a:xfrm>
            <a:off x="2611069" y="1901952"/>
            <a:ext cx="457200" cy="457200"/>
          </a:xfrm>
          <a:prstGeom prst="ellipse">
            <a:avLst/>
          </a:prstGeom>
          <a:solidFill>
            <a:srgbClr val="12161C"/>
          </a:solidFill>
          <a:ln w="12700">
            <a:solidFill>
              <a:srgbClr val="12161C"/>
            </a:solidFill>
            <a:prstDash val="solid"/>
          </a:ln>
        </p:spPr>
      </p:sp>
      <p:pic>
        <p:nvPicPr>
          <p:cNvPr id="17" name="Image 1" descr="preencoded.png">    </p:cNvPr>
          <p:cNvPicPr>
            <a:picLocks noChangeAspect="1"/>
          </p:cNvPicPr>
          <p:nvPr/>
        </p:nvPicPr>
        <p:blipFill>
          <a:blip r:embed="rId2"/>
          <a:stretch>
            <a:fillRect/>
          </a:stretch>
        </p:blipFill>
        <p:spPr>
          <a:xfrm>
            <a:off x="2725369" y="2016252"/>
            <a:ext cx="228600" cy="228600"/>
          </a:xfrm>
          <a:prstGeom prst="rect">
            <a:avLst/>
          </a:prstGeom>
        </p:spPr>
      </p:pic>
      <p:sp>
        <p:nvSpPr>
          <p:cNvPr id="18" name="Text 14"/>
          <p:cNvSpPr txBox="1"/>
          <p:nvPr/>
        </p:nvSpPr>
        <p:spPr>
          <a:xfrm>
            <a:off x="3457346" y="1920240"/>
            <a:ext cx="457200" cy="274320"/>
          </a:xfrm>
          <a:prstGeom prst="rect">
            <a:avLst/>
          </a:prstGeom>
          <a:noFill/>
          <a:ln/>
        </p:spPr>
        <p:txBody>
          <a:bodyPr wrap="square" lIns="0" tIns="0" rIns="0" bIns="0" rtlCol="0" anchor="ctr"/>
          <a:lstStyle/>
          <a:p>
            <a:pPr algn="r" indent="0" marL="0">
              <a:buNone/>
            </a:pPr>
            <a:r>
              <a:rPr lang="en-US" sz="1200" b="1" dirty="0">
                <a:solidFill>
                  <a:srgbClr val="B8C0CA"/>
                </a:solidFill>
                <a:latin typeface="Arial" pitchFamily="34" charset="0"/>
                <a:ea typeface="Arial" pitchFamily="34" charset="-122"/>
                <a:cs typeface="Arial" pitchFamily="34" charset="-120"/>
              </a:rPr>
              <a:t>02</a:t>
            </a:r>
            <a:endParaRPr lang="en-US" sz="1200" dirty="0"/>
          </a:p>
        </p:txBody>
      </p:sp>
      <p:sp>
        <p:nvSpPr>
          <p:cNvPr id="19" name="Text 15"/>
          <p:cNvSpPr txBox="1"/>
          <p:nvPr/>
        </p:nvSpPr>
        <p:spPr>
          <a:xfrm>
            <a:off x="2611069" y="2450592"/>
            <a:ext cx="1330909" cy="274320"/>
          </a:xfrm>
          <a:prstGeom prst="rect">
            <a:avLst/>
          </a:prstGeom>
          <a:noFill/>
          <a:ln/>
        </p:spPr>
        <p:txBody>
          <a:bodyPr wrap="square" lIns="0" tIns="0" rIns="0" bIns="0" rtlCol="0" anchor="ctr"/>
          <a:lstStyle/>
          <a:p>
            <a:pPr indent="0" marL="0">
              <a:buNone/>
            </a:pPr>
            <a:r>
              <a:rPr lang="en-US" sz="1350" b="1" dirty="0">
                <a:solidFill>
                  <a:srgbClr val="1B1F24"/>
                </a:solidFill>
                <a:latin typeface="Arial" pitchFamily="34" charset="0"/>
                <a:ea typeface="Arial" pitchFamily="34" charset="-122"/>
                <a:cs typeface="Arial" pitchFamily="34" charset="-120"/>
              </a:rPr>
              <a:t>Live state</a:t>
            </a:r>
            <a:endParaRPr lang="en-US" sz="1350" dirty="0"/>
          </a:p>
        </p:txBody>
      </p:sp>
      <p:sp>
        <p:nvSpPr>
          <p:cNvPr id="20" name="Text 16"/>
          <p:cNvSpPr txBox="1"/>
          <p:nvPr/>
        </p:nvSpPr>
        <p:spPr>
          <a:xfrm>
            <a:off x="2611069" y="2743200"/>
            <a:ext cx="1330909" cy="804672"/>
          </a:xfrm>
          <a:prstGeom prst="rect">
            <a:avLst/>
          </a:prstGeom>
          <a:noFill/>
          <a:ln/>
        </p:spPr>
        <p:txBody>
          <a:bodyPr wrap="square" lIns="0" tIns="0" rIns="0" bIns="0" rtlCol="0" anchor="t"/>
          <a:lstStyle/>
          <a:p>
            <a:pPr indent="0" marL="0">
              <a:buNone/>
            </a:pPr>
            <a:r>
              <a:rPr lang="en-US" sz="1150" dirty="0">
                <a:solidFill>
                  <a:srgbClr val="5E6875"/>
                </a:solidFill>
                <a:latin typeface="Calibri" pitchFamily="34" charset="0"/>
                <a:ea typeface="Calibri" pitchFamily="34" charset="-122"/>
                <a:cs typeface="Calibri" pitchFamily="34" charset="-120"/>
              </a:rPr>
              <a:t>GPS every 5–10 s, map-matched; traffic, weather and ED status streamed in.</a:t>
            </a:r>
            <a:endParaRPr lang="en-US" sz="1150" dirty="0"/>
          </a:p>
        </p:txBody>
      </p:sp>
      <p:sp>
        <p:nvSpPr>
          <p:cNvPr id="21" name="Shape 17"/>
          <p:cNvSpPr/>
          <p:nvPr/>
        </p:nvSpPr>
        <p:spPr>
          <a:xfrm>
            <a:off x="4115714" y="2560320"/>
            <a:ext cx="164592" cy="219456"/>
          </a:xfrm>
          <a:prstGeom prst="rightArrow">
            <a:avLst/>
          </a:prstGeom>
          <a:solidFill>
            <a:srgbClr val="9AA4B1"/>
          </a:solidFill>
          <a:ln w="12700">
            <a:solidFill>
              <a:srgbClr val="9AA4B1"/>
            </a:solidFill>
            <a:prstDash val="solid"/>
          </a:ln>
        </p:spPr>
      </p:sp>
      <p:sp>
        <p:nvSpPr>
          <p:cNvPr id="22" name="Shape 18"/>
          <p:cNvSpPr/>
          <p:nvPr/>
        </p:nvSpPr>
        <p:spPr>
          <a:xfrm>
            <a:off x="4344314" y="1737360"/>
            <a:ext cx="1605229" cy="1874520"/>
          </a:xfrm>
          <a:prstGeom prst="roundRect">
            <a:avLst>
              <a:gd name="adj" fmla="val 4557"/>
            </a:avLst>
          </a:prstGeom>
          <a:solidFill>
            <a:srgbClr val="FFFFFF"/>
          </a:solidFill>
          <a:ln w="12700">
            <a:solidFill>
              <a:srgbClr val="FFFFFF"/>
            </a:solidFill>
            <a:prstDash val="solid"/>
          </a:ln>
          <a:effectLst>
            <a:outerShdw sx="100000" sy="100000" kx="0" ky="0" algn="bl" rotWithShape="0" blurRad="76200" dist="19050" dir="5400000">
              <a:srgbClr val="000000">
                <a:alpha val="8000"/>
              </a:srgbClr>
            </a:outerShdw>
          </a:effectLst>
        </p:spPr>
      </p:sp>
      <p:sp>
        <p:nvSpPr>
          <p:cNvPr id="23" name="Shape 19"/>
          <p:cNvSpPr/>
          <p:nvPr/>
        </p:nvSpPr>
        <p:spPr>
          <a:xfrm>
            <a:off x="4508906" y="1901952"/>
            <a:ext cx="457200" cy="457200"/>
          </a:xfrm>
          <a:prstGeom prst="ellipse">
            <a:avLst/>
          </a:prstGeom>
          <a:solidFill>
            <a:srgbClr val="12161C"/>
          </a:solidFill>
          <a:ln w="12700">
            <a:solidFill>
              <a:srgbClr val="12161C"/>
            </a:solidFill>
            <a:prstDash val="solid"/>
          </a:ln>
        </p:spPr>
      </p:sp>
      <p:pic>
        <p:nvPicPr>
          <p:cNvPr id="24" name="Image 2" descr="preencoded.png">    </p:cNvPr>
          <p:cNvPicPr>
            <a:picLocks noChangeAspect="1"/>
          </p:cNvPicPr>
          <p:nvPr/>
        </p:nvPicPr>
        <p:blipFill>
          <a:blip r:embed="rId3"/>
          <a:stretch>
            <a:fillRect/>
          </a:stretch>
        </p:blipFill>
        <p:spPr>
          <a:xfrm>
            <a:off x="4623206" y="2016252"/>
            <a:ext cx="228600" cy="228600"/>
          </a:xfrm>
          <a:prstGeom prst="rect">
            <a:avLst/>
          </a:prstGeom>
        </p:spPr>
      </p:pic>
      <p:sp>
        <p:nvSpPr>
          <p:cNvPr id="25" name="Text 20"/>
          <p:cNvSpPr txBox="1"/>
          <p:nvPr/>
        </p:nvSpPr>
        <p:spPr>
          <a:xfrm>
            <a:off x="5355184" y="1920240"/>
            <a:ext cx="457200" cy="274320"/>
          </a:xfrm>
          <a:prstGeom prst="rect">
            <a:avLst/>
          </a:prstGeom>
          <a:noFill/>
          <a:ln/>
        </p:spPr>
        <p:txBody>
          <a:bodyPr wrap="square" lIns="0" tIns="0" rIns="0" bIns="0" rtlCol="0" anchor="ctr"/>
          <a:lstStyle/>
          <a:p>
            <a:pPr algn="r" indent="0" marL="0">
              <a:buNone/>
            </a:pPr>
            <a:r>
              <a:rPr lang="en-US" sz="1200" b="1" dirty="0">
                <a:solidFill>
                  <a:srgbClr val="B8C0CA"/>
                </a:solidFill>
                <a:latin typeface="Arial" pitchFamily="34" charset="0"/>
                <a:ea typeface="Arial" pitchFamily="34" charset="-122"/>
                <a:cs typeface="Arial" pitchFamily="34" charset="-120"/>
              </a:rPr>
              <a:t>03</a:t>
            </a:r>
            <a:endParaRPr lang="en-US" sz="1200" dirty="0"/>
          </a:p>
        </p:txBody>
      </p:sp>
      <p:sp>
        <p:nvSpPr>
          <p:cNvPr id="26" name="Text 21"/>
          <p:cNvSpPr txBox="1"/>
          <p:nvPr/>
        </p:nvSpPr>
        <p:spPr>
          <a:xfrm>
            <a:off x="4508906" y="2450592"/>
            <a:ext cx="1330909" cy="274320"/>
          </a:xfrm>
          <a:prstGeom prst="rect">
            <a:avLst/>
          </a:prstGeom>
          <a:noFill/>
          <a:ln/>
        </p:spPr>
        <p:txBody>
          <a:bodyPr wrap="square" lIns="0" tIns="0" rIns="0" bIns="0" rtlCol="0" anchor="ctr"/>
          <a:lstStyle/>
          <a:p>
            <a:pPr indent="0" marL="0">
              <a:buNone/>
            </a:pPr>
            <a:r>
              <a:rPr lang="en-US" sz="1350" b="1" dirty="0">
                <a:solidFill>
                  <a:srgbClr val="1B1F24"/>
                </a:solidFill>
                <a:latin typeface="Arial" pitchFamily="34" charset="0"/>
                <a:ea typeface="Arial" pitchFamily="34" charset="-122"/>
                <a:cs typeface="Arial" pitchFamily="34" charset="-120"/>
              </a:rPr>
              <a:t>Forecast risk</a:t>
            </a:r>
            <a:endParaRPr lang="en-US" sz="1350" dirty="0"/>
          </a:p>
        </p:txBody>
      </p:sp>
      <p:sp>
        <p:nvSpPr>
          <p:cNvPr id="27" name="Text 22"/>
          <p:cNvSpPr txBox="1"/>
          <p:nvPr/>
        </p:nvSpPr>
        <p:spPr>
          <a:xfrm>
            <a:off x="4508906" y="2743200"/>
            <a:ext cx="1330909" cy="804672"/>
          </a:xfrm>
          <a:prstGeom prst="rect">
            <a:avLst/>
          </a:prstGeom>
          <a:noFill/>
          <a:ln/>
        </p:spPr>
        <p:txBody>
          <a:bodyPr wrap="square" lIns="0" tIns="0" rIns="0" bIns="0" rtlCol="0" anchor="t"/>
          <a:lstStyle/>
          <a:p>
            <a:pPr indent="0" marL="0">
              <a:buNone/>
            </a:pPr>
            <a:r>
              <a:rPr lang="en-US" sz="1150" dirty="0">
                <a:solidFill>
                  <a:srgbClr val="5E6875"/>
                </a:solidFill>
                <a:latin typeface="Calibri" pitchFamily="34" charset="0"/>
                <a:ea typeface="Calibri" pitchFamily="34" charset="-122"/>
                <a:cs typeface="Calibri" pitchFamily="34" charset="-120"/>
              </a:rPr>
              <a:t>GNN + LSTM outputs failure probability and minutes late.</a:t>
            </a:r>
            <a:endParaRPr lang="en-US" sz="1150" dirty="0"/>
          </a:p>
        </p:txBody>
      </p:sp>
      <p:sp>
        <p:nvSpPr>
          <p:cNvPr id="28" name="Shape 23"/>
          <p:cNvSpPr/>
          <p:nvPr/>
        </p:nvSpPr>
        <p:spPr>
          <a:xfrm>
            <a:off x="6013552" y="2560320"/>
            <a:ext cx="164592" cy="219456"/>
          </a:xfrm>
          <a:prstGeom prst="rightArrow">
            <a:avLst/>
          </a:prstGeom>
          <a:solidFill>
            <a:srgbClr val="9AA4B1"/>
          </a:solidFill>
          <a:ln w="12700">
            <a:solidFill>
              <a:srgbClr val="9AA4B1"/>
            </a:solidFill>
            <a:prstDash val="solid"/>
          </a:ln>
        </p:spPr>
      </p:sp>
      <p:sp>
        <p:nvSpPr>
          <p:cNvPr id="29" name="Shape 24"/>
          <p:cNvSpPr/>
          <p:nvPr/>
        </p:nvSpPr>
        <p:spPr>
          <a:xfrm>
            <a:off x="6242152" y="1737360"/>
            <a:ext cx="1605229" cy="1874520"/>
          </a:xfrm>
          <a:prstGeom prst="roundRect">
            <a:avLst>
              <a:gd name="adj" fmla="val 4557"/>
            </a:avLst>
          </a:prstGeom>
          <a:solidFill>
            <a:srgbClr val="FFFFFF"/>
          </a:solidFill>
          <a:ln w="12700">
            <a:solidFill>
              <a:srgbClr val="FFFFFF"/>
            </a:solidFill>
            <a:prstDash val="solid"/>
          </a:ln>
          <a:effectLst>
            <a:outerShdw sx="100000" sy="100000" kx="0" ky="0" algn="bl" rotWithShape="0" blurRad="76200" dist="19050" dir="5400000">
              <a:srgbClr val="000000">
                <a:alpha val="8000"/>
              </a:srgbClr>
            </a:outerShdw>
          </a:effectLst>
        </p:spPr>
      </p:sp>
      <p:sp>
        <p:nvSpPr>
          <p:cNvPr id="30" name="Shape 25"/>
          <p:cNvSpPr/>
          <p:nvPr/>
        </p:nvSpPr>
        <p:spPr>
          <a:xfrm>
            <a:off x="6406744" y="1901952"/>
            <a:ext cx="457200" cy="457200"/>
          </a:xfrm>
          <a:prstGeom prst="ellipse">
            <a:avLst/>
          </a:prstGeom>
          <a:solidFill>
            <a:srgbClr val="12161C"/>
          </a:solidFill>
          <a:ln w="12700">
            <a:solidFill>
              <a:srgbClr val="12161C"/>
            </a:solidFill>
            <a:prstDash val="solid"/>
          </a:ln>
        </p:spPr>
      </p:sp>
      <p:pic>
        <p:nvPicPr>
          <p:cNvPr id="31" name="Image 3" descr="preencoded.png">    </p:cNvPr>
          <p:cNvPicPr>
            <a:picLocks noChangeAspect="1"/>
          </p:cNvPicPr>
          <p:nvPr/>
        </p:nvPicPr>
        <p:blipFill>
          <a:blip r:embed="rId4"/>
          <a:stretch>
            <a:fillRect/>
          </a:stretch>
        </p:blipFill>
        <p:spPr>
          <a:xfrm>
            <a:off x="6521044" y="2016252"/>
            <a:ext cx="228600" cy="228600"/>
          </a:xfrm>
          <a:prstGeom prst="rect">
            <a:avLst/>
          </a:prstGeom>
        </p:spPr>
      </p:pic>
      <p:sp>
        <p:nvSpPr>
          <p:cNvPr id="32" name="Text 26"/>
          <p:cNvSpPr txBox="1"/>
          <p:nvPr/>
        </p:nvSpPr>
        <p:spPr>
          <a:xfrm>
            <a:off x="7253021" y="1920240"/>
            <a:ext cx="457200" cy="274320"/>
          </a:xfrm>
          <a:prstGeom prst="rect">
            <a:avLst/>
          </a:prstGeom>
          <a:noFill/>
          <a:ln/>
        </p:spPr>
        <p:txBody>
          <a:bodyPr wrap="square" lIns="0" tIns="0" rIns="0" bIns="0" rtlCol="0" anchor="ctr"/>
          <a:lstStyle/>
          <a:p>
            <a:pPr algn="r" indent="0" marL="0">
              <a:buNone/>
            </a:pPr>
            <a:r>
              <a:rPr lang="en-US" sz="1200" b="1" dirty="0">
                <a:solidFill>
                  <a:srgbClr val="B8C0CA"/>
                </a:solidFill>
                <a:latin typeface="Arial" pitchFamily="34" charset="0"/>
                <a:ea typeface="Arial" pitchFamily="34" charset="-122"/>
                <a:cs typeface="Arial" pitchFamily="34" charset="-120"/>
              </a:rPr>
              <a:t>04</a:t>
            </a:r>
            <a:endParaRPr lang="en-US" sz="1200" dirty="0"/>
          </a:p>
        </p:txBody>
      </p:sp>
      <p:sp>
        <p:nvSpPr>
          <p:cNvPr id="33" name="Text 27"/>
          <p:cNvSpPr txBox="1"/>
          <p:nvPr/>
        </p:nvSpPr>
        <p:spPr>
          <a:xfrm>
            <a:off x="6406744" y="2450592"/>
            <a:ext cx="1330909" cy="274320"/>
          </a:xfrm>
          <a:prstGeom prst="rect">
            <a:avLst/>
          </a:prstGeom>
          <a:noFill/>
          <a:ln/>
        </p:spPr>
        <p:txBody>
          <a:bodyPr wrap="square" lIns="0" tIns="0" rIns="0" bIns="0" rtlCol="0" anchor="ctr"/>
          <a:lstStyle/>
          <a:p>
            <a:pPr indent="0" marL="0">
              <a:buNone/>
            </a:pPr>
            <a:r>
              <a:rPr lang="en-US" sz="1350" b="1" dirty="0">
                <a:solidFill>
                  <a:srgbClr val="1B1F24"/>
                </a:solidFill>
                <a:latin typeface="Arial" pitchFamily="34" charset="0"/>
                <a:ea typeface="Arial" pitchFamily="34" charset="-122"/>
                <a:cs typeface="Arial" pitchFamily="34" charset="-120"/>
              </a:rPr>
              <a:t>Explain</a:t>
            </a:r>
            <a:endParaRPr lang="en-US" sz="1350" dirty="0"/>
          </a:p>
        </p:txBody>
      </p:sp>
      <p:sp>
        <p:nvSpPr>
          <p:cNvPr id="34" name="Text 28"/>
          <p:cNvSpPr txBox="1"/>
          <p:nvPr/>
        </p:nvSpPr>
        <p:spPr>
          <a:xfrm>
            <a:off x="6406744" y="2743200"/>
            <a:ext cx="1330909" cy="804672"/>
          </a:xfrm>
          <a:prstGeom prst="rect">
            <a:avLst/>
          </a:prstGeom>
          <a:noFill/>
          <a:ln/>
        </p:spPr>
        <p:txBody>
          <a:bodyPr wrap="square" lIns="0" tIns="0" rIns="0" bIns="0" rtlCol="0" anchor="t"/>
          <a:lstStyle/>
          <a:p>
            <a:pPr indent="0" marL="0">
              <a:buNone/>
            </a:pPr>
            <a:r>
              <a:rPr lang="en-US" sz="1150" dirty="0">
                <a:solidFill>
                  <a:srgbClr val="5E6875"/>
                </a:solidFill>
                <a:latin typeface="Calibri" pitchFamily="34" charset="0"/>
                <a:ea typeface="Calibri" pitchFamily="34" charset="-122"/>
                <a:cs typeface="Calibri" pitchFamily="34" charset="-120"/>
              </a:rPr>
              <a:t>Six-factor attribution surfaces the dominant causes.</a:t>
            </a:r>
            <a:endParaRPr lang="en-US" sz="1150" dirty="0"/>
          </a:p>
        </p:txBody>
      </p:sp>
      <p:sp>
        <p:nvSpPr>
          <p:cNvPr id="35" name="Shape 29"/>
          <p:cNvSpPr/>
          <p:nvPr/>
        </p:nvSpPr>
        <p:spPr>
          <a:xfrm>
            <a:off x="7911389" y="2560320"/>
            <a:ext cx="164592" cy="219456"/>
          </a:xfrm>
          <a:prstGeom prst="rightArrow">
            <a:avLst/>
          </a:prstGeom>
          <a:solidFill>
            <a:srgbClr val="9AA4B1"/>
          </a:solidFill>
          <a:ln w="12700">
            <a:solidFill>
              <a:srgbClr val="9AA4B1"/>
            </a:solidFill>
            <a:prstDash val="solid"/>
          </a:ln>
        </p:spPr>
      </p:sp>
      <p:sp>
        <p:nvSpPr>
          <p:cNvPr id="36" name="Shape 30"/>
          <p:cNvSpPr/>
          <p:nvPr/>
        </p:nvSpPr>
        <p:spPr>
          <a:xfrm>
            <a:off x="8139989" y="1737360"/>
            <a:ext cx="1605229" cy="1874520"/>
          </a:xfrm>
          <a:prstGeom prst="roundRect">
            <a:avLst>
              <a:gd name="adj" fmla="val 4557"/>
            </a:avLst>
          </a:prstGeom>
          <a:solidFill>
            <a:srgbClr val="FFFFFF"/>
          </a:solidFill>
          <a:ln w="12700">
            <a:solidFill>
              <a:srgbClr val="FFFFFF"/>
            </a:solidFill>
            <a:prstDash val="solid"/>
          </a:ln>
          <a:effectLst>
            <a:outerShdw sx="100000" sy="100000" kx="0" ky="0" algn="bl" rotWithShape="0" blurRad="76200" dist="19050" dir="5400000">
              <a:srgbClr val="000000">
                <a:alpha val="8000"/>
              </a:srgbClr>
            </a:outerShdw>
          </a:effectLst>
        </p:spPr>
      </p:sp>
      <p:sp>
        <p:nvSpPr>
          <p:cNvPr id="37" name="Shape 31"/>
          <p:cNvSpPr/>
          <p:nvPr/>
        </p:nvSpPr>
        <p:spPr>
          <a:xfrm>
            <a:off x="8304581" y="1901952"/>
            <a:ext cx="457200" cy="457200"/>
          </a:xfrm>
          <a:prstGeom prst="ellipse">
            <a:avLst/>
          </a:prstGeom>
          <a:solidFill>
            <a:srgbClr val="12161C"/>
          </a:solidFill>
          <a:ln w="12700">
            <a:solidFill>
              <a:srgbClr val="12161C"/>
            </a:solidFill>
            <a:prstDash val="solid"/>
          </a:ln>
        </p:spPr>
      </p:sp>
      <p:pic>
        <p:nvPicPr>
          <p:cNvPr id="38" name="Image 4" descr="preencoded.png">    </p:cNvPr>
          <p:cNvPicPr>
            <a:picLocks noChangeAspect="1"/>
          </p:cNvPicPr>
          <p:nvPr/>
        </p:nvPicPr>
        <p:blipFill>
          <a:blip r:embed="rId5"/>
          <a:stretch>
            <a:fillRect/>
          </a:stretch>
        </p:blipFill>
        <p:spPr>
          <a:xfrm>
            <a:off x="8418881" y="2016252"/>
            <a:ext cx="228600" cy="228600"/>
          </a:xfrm>
          <a:prstGeom prst="rect">
            <a:avLst/>
          </a:prstGeom>
        </p:spPr>
      </p:pic>
      <p:sp>
        <p:nvSpPr>
          <p:cNvPr id="39" name="Text 32"/>
          <p:cNvSpPr txBox="1"/>
          <p:nvPr/>
        </p:nvSpPr>
        <p:spPr>
          <a:xfrm>
            <a:off x="9150858" y="1920240"/>
            <a:ext cx="457200" cy="274320"/>
          </a:xfrm>
          <a:prstGeom prst="rect">
            <a:avLst/>
          </a:prstGeom>
          <a:noFill/>
          <a:ln/>
        </p:spPr>
        <p:txBody>
          <a:bodyPr wrap="square" lIns="0" tIns="0" rIns="0" bIns="0" rtlCol="0" anchor="ctr"/>
          <a:lstStyle/>
          <a:p>
            <a:pPr algn="r" indent="0" marL="0">
              <a:buNone/>
            </a:pPr>
            <a:r>
              <a:rPr lang="en-US" sz="1200" b="1" dirty="0">
                <a:solidFill>
                  <a:srgbClr val="B8C0CA"/>
                </a:solidFill>
                <a:latin typeface="Arial" pitchFamily="34" charset="0"/>
                <a:ea typeface="Arial" pitchFamily="34" charset="-122"/>
                <a:cs typeface="Arial" pitchFamily="34" charset="-120"/>
              </a:rPr>
              <a:t>05</a:t>
            </a:r>
            <a:endParaRPr lang="en-US" sz="1200" dirty="0"/>
          </a:p>
        </p:txBody>
      </p:sp>
      <p:sp>
        <p:nvSpPr>
          <p:cNvPr id="40" name="Text 33"/>
          <p:cNvSpPr txBox="1"/>
          <p:nvPr/>
        </p:nvSpPr>
        <p:spPr>
          <a:xfrm>
            <a:off x="8304581" y="2450592"/>
            <a:ext cx="1330909" cy="274320"/>
          </a:xfrm>
          <a:prstGeom prst="rect">
            <a:avLst/>
          </a:prstGeom>
          <a:noFill/>
          <a:ln/>
        </p:spPr>
        <p:txBody>
          <a:bodyPr wrap="square" lIns="0" tIns="0" rIns="0" bIns="0" rtlCol="0" anchor="ctr"/>
          <a:lstStyle/>
          <a:p>
            <a:pPr indent="0" marL="0">
              <a:buNone/>
            </a:pPr>
            <a:r>
              <a:rPr lang="en-US" sz="1350" b="1" dirty="0">
                <a:solidFill>
                  <a:srgbClr val="1B1F24"/>
                </a:solidFill>
                <a:latin typeface="Arial" pitchFamily="34" charset="0"/>
                <a:ea typeface="Arial" pitchFamily="34" charset="-122"/>
                <a:cs typeface="Arial" pitchFamily="34" charset="-120"/>
              </a:rPr>
              <a:t>Recommend</a:t>
            </a:r>
            <a:endParaRPr lang="en-US" sz="1350" dirty="0"/>
          </a:p>
        </p:txBody>
      </p:sp>
      <p:sp>
        <p:nvSpPr>
          <p:cNvPr id="41" name="Text 34"/>
          <p:cNvSpPr txBox="1"/>
          <p:nvPr/>
        </p:nvSpPr>
        <p:spPr>
          <a:xfrm>
            <a:off x="8304581" y="2743200"/>
            <a:ext cx="1330909" cy="804672"/>
          </a:xfrm>
          <a:prstGeom prst="rect">
            <a:avLst/>
          </a:prstGeom>
          <a:noFill/>
          <a:ln/>
        </p:spPr>
        <p:txBody>
          <a:bodyPr wrap="square" lIns="0" tIns="0" rIns="0" bIns="0" rtlCol="0" anchor="t"/>
          <a:lstStyle/>
          <a:p>
            <a:pPr indent="0" marL="0">
              <a:buNone/>
            </a:pPr>
            <a:r>
              <a:rPr lang="en-US" sz="1150" dirty="0">
                <a:solidFill>
                  <a:srgbClr val="5E6875"/>
                </a:solidFill>
                <a:latin typeface="Calibri" pitchFamily="34" charset="0"/>
                <a:ea typeface="Calibri" pitchFamily="34" charset="-122"/>
                <a:cs typeface="Calibri" pitchFamily="34" charset="-120"/>
              </a:rPr>
              <a:t>What-if routes and eligible hospitals, ranked by time saved.</a:t>
            </a:r>
            <a:endParaRPr lang="en-US" sz="1150" dirty="0"/>
          </a:p>
        </p:txBody>
      </p:sp>
      <p:sp>
        <p:nvSpPr>
          <p:cNvPr id="42" name="Shape 35"/>
          <p:cNvSpPr/>
          <p:nvPr/>
        </p:nvSpPr>
        <p:spPr>
          <a:xfrm>
            <a:off x="9809226" y="2560320"/>
            <a:ext cx="164592" cy="219456"/>
          </a:xfrm>
          <a:prstGeom prst="rightArrow">
            <a:avLst/>
          </a:prstGeom>
          <a:solidFill>
            <a:srgbClr val="9AA4B1"/>
          </a:solidFill>
          <a:ln w="12700">
            <a:solidFill>
              <a:srgbClr val="9AA4B1"/>
            </a:solidFill>
            <a:prstDash val="solid"/>
          </a:ln>
        </p:spPr>
      </p:sp>
      <p:sp>
        <p:nvSpPr>
          <p:cNvPr id="43" name="Shape 36"/>
          <p:cNvSpPr/>
          <p:nvPr/>
        </p:nvSpPr>
        <p:spPr>
          <a:xfrm>
            <a:off x="10037826" y="1737360"/>
            <a:ext cx="1605229" cy="1874520"/>
          </a:xfrm>
          <a:prstGeom prst="roundRect">
            <a:avLst>
              <a:gd name="adj" fmla="val 4557"/>
            </a:avLst>
          </a:prstGeom>
          <a:solidFill>
            <a:srgbClr val="FFFFFF"/>
          </a:solidFill>
          <a:ln w="12700">
            <a:solidFill>
              <a:srgbClr val="FFFFFF"/>
            </a:solidFill>
            <a:prstDash val="solid"/>
          </a:ln>
          <a:effectLst>
            <a:outerShdw sx="100000" sy="100000" kx="0" ky="0" algn="bl" rotWithShape="0" blurRad="76200" dist="19050" dir="5400000">
              <a:srgbClr val="000000">
                <a:alpha val="8000"/>
              </a:srgbClr>
            </a:outerShdw>
          </a:effectLst>
        </p:spPr>
      </p:sp>
      <p:sp>
        <p:nvSpPr>
          <p:cNvPr id="44" name="Shape 37"/>
          <p:cNvSpPr/>
          <p:nvPr/>
        </p:nvSpPr>
        <p:spPr>
          <a:xfrm>
            <a:off x="10202418" y="1901952"/>
            <a:ext cx="457200" cy="457200"/>
          </a:xfrm>
          <a:prstGeom prst="ellipse">
            <a:avLst/>
          </a:prstGeom>
          <a:solidFill>
            <a:srgbClr val="E03E3E"/>
          </a:solidFill>
          <a:ln w="12700">
            <a:solidFill>
              <a:srgbClr val="E03E3E"/>
            </a:solidFill>
            <a:prstDash val="solid"/>
          </a:ln>
        </p:spPr>
      </p:sp>
      <p:pic>
        <p:nvPicPr>
          <p:cNvPr id="45" name="Image 5" descr="preencoded.png">    </p:cNvPr>
          <p:cNvPicPr>
            <a:picLocks noChangeAspect="1"/>
          </p:cNvPicPr>
          <p:nvPr/>
        </p:nvPicPr>
        <p:blipFill>
          <a:blip r:embed="rId6"/>
          <a:stretch>
            <a:fillRect/>
          </a:stretch>
        </p:blipFill>
        <p:spPr>
          <a:xfrm>
            <a:off x="10316718" y="2016252"/>
            <a:ext cx="228600" cy="228600"/>
          </a:xfrm>
          <a:prstGeom prst="rect">
            <a:avLst/>
          </a:prstGeom>
        </p:spPr>
      </p:pic>
      <p:sp>
        <p:nvSpPr>
          <p:cNvPr id="46" name="Text 38"/>
          <p:cNvSpPr txBox="1"/>
          <p:nvPr/>
        </p:nvSpPr>
        <p:spPr>
          <a:xfrm>
            <a:off x="11048695" y="1920240"/>
            <a:ext cx="457200" cy="274320"/>
          </a:xfrm>
          <a:prstGeom prst="rect">
            <a:avLst/>
          </a:prstGeom>
          <a:noFill/>
          <a:ln/>
        </p:spPr>
        <p:txBody>
          <a:bodyPr wrap="square" lIns="0" tIns="0" rIns="0" bIns="0" rtlCol="0" anchor="ctr"/>
          <a:lstStyle/>
          <a:p>
            <a:pPr algn="r" indent="0" marL="0">
              <a:buNone/>
            </a:pPr>
            <a:r>
              <a:rPr lang="en-US" sz="1200" b="1" dirty="0">
                <a:solidFill>
                  <a:srgbClr val="B8C0CA"/>
                </a:solidFill>
                <a:latin typeface="Arial" pitchFamily="34" charset="0"/>
                <a:ea typeface="Arial" pitchFamily="34" charset="-122"/>
                <a:cs typeface="Arial" pitchFamily="34" charset="-120"/>
              </a:rPr>
              <a:t>06</a:t>
            </a:r>
            <a:endParaRPr lang="en-US" sz="1200" dirty="0"/>
          </a:p>
        </p:txBody>
      </p:sp>
      <p:sp>
        <p:nvSpPr>
          <p:cNvPr id="47" name="Text 39"/>
          <p:cNvSpPr txBox="1"/>
          <p:nvPr/>
        </p:nvSpPr>
        <p:spPr>
          <a:xfrm>
            <a:off x="10202418" y="2450592"/>
            <a:ext cx="1330909" cy="274320"/>
          </a:xfrm>
          <a:prstGeom prst="rect">
            <a:avLst/>
          </a:prstGeom>
          <a:noFill/>
          <a:ln/>
        </p:spPr>
        <p:txBody>
          <a:bodyPr wrap="square" lIns="0" tIns="0" rIns="0" bIns="0" rtlCol="0" anchor="ctr"/>
          <a:lstStyle/>
          <a:p>
            <a:pPr indent="0" marL="0">
              <a:buNone/>
            </a:pPr>
            <a:r>
              <a:rPr lang="en-US" sz="1350" b="1" dirty="0">
                <a:solidFill>
                  <a:srgbClr val="1B1F24"/>
                </a:solidFill>
                <a:latin typeface="Arial" pitchFamily="34" charset="0"/>
                <a:ea typeface="Arial" pitchFamily="34" charset="-122"/>
                <a:cs typeface="Arial" pitchFamily="34" charset="-120"/>
              </a:rPr>
              <a:t>Approve &amp; act</a:t>
            </a:r>
            <a:endParaRPr lang="en-US" sz="1350" dirty="0"/>
          </a:p>
        </p:txBody>
      </p:sp>
      <p:sp>
        <p:nvSpPr>
          <p:cNvPr id="48" name="Text 40"/>
          <p:cNvSpPr txBox="1"/>
          <p:nvPr/>
        </p:nvSpPr>
        <p:spPr>
          <a:xfrm>
            <a:off x="10202418" y="2743200"/>
            <a:ext cx="1330909" cy="804672"/>
          </a:xfrm>
          <a:prstGeom prst="rect">
            <a:avLst/>
          </a:prstGeom>
          <a:noFill/>
          <a:ln/>
        </p:spPr>
        <p:txBody>
          <a:bodyPr wrap="square" lIns="0" tIns="0" rIns="0" bIns="0" rtlCol="0" anchor="t"/>
          <a:lstStyle/>
          <a:p>
            <a:pPr indent="0" marL="0">
              <a:buNone/>
            </a:pPr>
            <a:r>
              <a:rPr lang="en-US" sz="1150" dirty="0">
                <a:solidFill>
                  <a:srgbClr val="5E6875"/>
                </a:solidFill>
                <a:latin typeface="Calibri" pitchFamily="34" charset="0"/>
                <a:ea typeface="Calibri" pitchFamily="34" charset="-122"/>
                <a:cs typeface="Calibri" pitchFamily="34" charset="-120"/>
              </a:rPr>
              <a:t>Dispatcher approves: reroute, pre-alert ED, notify traffic. Loop repeats.</a:t>
            </a:r>
            <a:endParaRPr lang="en-US" sz="1150" dirty="0"/>
          </a:p>
        </p:txBody>
      </p:sp>
      <p:sp>
        <p:nvSpPr>
          <p:cNvPr id="49" name="Text 41"/>
          <p:cNvSpPr txBox="1"/>
          <p:nvPr/>
        </p:nvSpPr>
        <p:spPr>
          <a:xfrm>
            <a:off x="548640" y="3840480"/>
            <a:ext cx="8229600" cy="320040"/>
          </a:xfrm>
          <a:prstGeom prst="rect">
            <a:avLst/>
          </a:prstGeom>
          <a:noFill/>
          <a:ln/>
        </p:spPr>
        <p:txBody>
          <a:bodyPr wrap="square" lIns="0" tIns="0" rIns="0" bIns="0" rtlCol="0" anchor="ctr"/>
          <a:lstStyle/>
          <a:p>
            <a:pPr indent="0" marL="0">
              <a:buNone/>
            </a:pPr>
            <a:r>
              <a:rPr lang="en-US" sz="1100" b="1" spc="200" kern="0" dirty="0">
                <a:solidFill>
                  <a:srgbClr val="5E6875"/>
                </a:solidFill>
                <a:latin typeface="Arial" pitchFamily="34" charset="0"/>
                <a:ea typeface="Arial" pitchFamily="34" charset="-122"/>
                <a:cs typeface="Arial" pitchFamily="34" charset="-120"/>
              </a:rPr>
              <a:t>WALKTHROUGH   </a:t>
            </a:r>
            <a:pPr indent="0" marL="0">
              <a:buNone/>
            </a:pPr>
            <a:r>
              <a:rPr lang="en-US" sz="1400" b="1" dirty="0">
                <a:solidFill>
                  <a:srgbClr val="1B1F24"/>
                </a:solidFill>
                <a:latin typeface="Calibri" pitchFamily="34" charset="0"/>
                <a:ea typeface="Calibri" pitchFamily="34" charset="-122"/>
                <a:cs typeface="Calibri" pitchFamily="34" charset="-120"/>
              </a:rPr>
              <a:t>AMB-204  ·  suspected stroke  ·  target 20 min</a:t>
            </a:r>
            <a:endParaRPr lang="en-US" sz="1100" dirty="0"/>
          </a:p>
        </p:txBody>
      </p:sp>
      <p:sp>
        <p:nvSpPr>
          <p:cNvPr id="50" name="Shape 42"/>
          <p:cNvSpPr/>
          <p:nvPr/>
        </p:nvSpPr>
        <p:spPr>
          <a:xfrm>
            <a:off x="548640" y="4297680"/>
            <a:ext cx="2240280" cy="1783080"/>
          </a:xfrm>
          <a:prstGeom prst="roundRect">
            <a:avLst>
              <a:gd name="adj" fmla="val 4103"/>
            </a:avLst>
          </a:prstGeom>
          <a:solidFill>
            <a:srgbClr val="FFFFFF"/>
          </a:solidFill>
          <a:ln w="12700">
            <a:solidFill>
              <a:srgbClr val="FFFFFF"/>
            </a:solidFill>
            <a:prstDash val="solid"/>
          </a:ln>
          <a:effectLst>
            <a:outerShdw sx="100000" sy="100000" kx="0" ky="0" algn="bl" rotWithShape="0" blurRad="76200" dist="19050" dir="5400000">
              <a:srgbClr val="000000">
                <a:alpha val="8000"/>
              </a:srgbClr>
            </a:outerShdw>
          </a:effectLst>
        </p:spPr>
      </p:sp>
      <p:sp>
        <p:nvSpPr>
          <p:cNvPr id="51" name="Text 43"/>
          <p:cNvSpPr txBox="1"/>
          <p:nvPr/>
        </p:nvSpPr>
        <p:spPr>
          <a:xfrm>
            <a:off x="749808" y="4462272"/>
            <a:ext cx="1097280" cy="256032"/>
          </a:xfrm>
          <a:prstGeom prst="rect">
            <a:avLst/>
          </a:prstGeom>
          <a:noFill/>
          <a:ln/>
        </p:spPr>
        <p:txBody>
          <a:bodyPr wrap="square" lIns="0" tIns="0" rIns="0" bIns="0" rtlCol="0" anchor="ctr"/>
          <a:lstStyle/>
          <a:p>
            <a:pPr indent="0" marL="0">
              <a:buNone/>
            </a:pPr>
            <a:r>
              <a:rPr lang="en-US" sz="1200" dirty="0">
                <a:solidFill>
                  <a:srgbClr val="5E6875"/>
                </a:solidFill>
                <a:latin typeface="Calibri" pitchFamily="34" charset="0"/>
                <a:ea typeface="Calibri" pitchFamily="34" charset="-122"/>
                <a:cs typeface="Calibri" pitchFamily="34" charset="-120"/>
              </a:rPr>
              <a:t>Dispatch</a:t>
            </a:r>
            <a:endParaRPr lang="en-US" sz="1200" dirty="0"/>
          </a:p>
        </p:txBody>
      </p:sp>
      <p:sp>
        <p:nvSpPr>
          <p:cNvPr id="52" name="Shape 44"/>
          <p:cNvSpPr/>
          <p:nvPr/>
        </p:nvSpPr>
        <p:spPr>
          <a:xfrm>
            <a:off x="2404872" y="4498848"/>
            <a:ext cx="182880" cy="182880"/>
          </a:xfrm>
          <a:prstGeom prst="ellipse">
            <a:avLst/>
          </a:prstGeom>
          <a:solidFill>
            <a:srgbClr val="2FA36B"/>
          </a:solidFill>
          <a:ln w="12700">
            <a:solidFill>
              <a:srgbClr val="2FA36B"/>
            </a:solidFill>
            <a:prstDash val="solid"/>
          </a:ln>
        </p:spPr>
      </p:sp>
      <p:sp>
        <p:nvSpPr>
          <p:cNvPr id="53" name="Text 45"/>
          <p:cNvSpPr txBox="1"/>
          <p:nvPr/>
        </p:nvSpPr>
        <p:spPr>
          <a:xfrm>
            <a:off x="749808" y="4736592"/>
            <a:ext cx="1874520" cy="502920"/>
          </a:xfrm>
          <a:prstGeom prst="rect">
            <a:avLst/>
          </a:prstGeom>
          <a:noFill/>
          <a:ln/>
        </p:spPr>
        <p:txBody>
          <a:bodyPr wrap="square" lIns="0" tIns="0" rIns="0" bIns="0" rtlCol="0" anchor="ctr"/>
          <a:lstStyle/>
          <a:p>
            <a:pPr indent="0" marL="0">
              <a:buNone/>
            </a:pPr>
            <a:r>
              <a:rPr lang="en-US" sz="2600" b="1" dirty="0">
                <a:solidFill>
                  <a:srgbClr val="1B1F24"/>
                </a:solidFill>
                <a:latin typeface="Arial" pitchFamily="34" charset="0"/>
                <a:ea typeface="Arial" pitchFamily="34" charset="-122"/>
                <a:cs typeface="Arial" pitchFamily="34" charset="-120"/>
              </a:rPr>
              <a:t>12%  </a:t>
            </a:r>
            <a:pPr indent="0" marL="0">
              <a:buNone/>
            </a:pPr>
            <a:r>
              <a:rPr lang="en-US" sz="1400" b="1" dirty="0">
                <a:solidFill>
                  <a:srgbClr val="2FA36B"/>
                </a:solidFill>
                <a:latin typeface="Calibri" pitchFamily="34" charset="0"/>
                <a:ea typeface="Calibri" pitchFamily="34" charset="-122"/>
                <a:cs typeface="Calibri" pitchFamily="34" charset="-120"/>
              </a:rPr>
              <a:t>Stable</a:t>
            </a:r>
            <a:endParaRPr lang="en-US" sz="2600" dirty="0"/>
          </a:p>
        </p:txBody>
      </p:sp>
      <p:sp>
        <p:nvSpPr>
          <p:cNvPr id="54" name="Text 46"/>
          <p:cNvSpPr txBox="1"/>
          <p:nvPr/>
        </p:nvSpPr>
        <p:spPr>
          <a:xfrm>
            <a:off x="749808" y="5303520"/>
            <a:ext cx="1874520" cy="685800"/>
          </a:xfrm>
          <a:prstGeom prst="rect">
            <a:avLst/>
          </a:prstGeom>
          <a:noFill/>
          <a:ln/>
        </p:spPr>
        <p:txBody>
          <a:bodyPr wrap="square" lIns="0" tIns="0" rIns="0" bIns="0" rtlCol="0" anchor="t"/>
          <a:lstStyle/>
          <a:p>
            <a:pPr indent="0" marL="0">
              <a:buNone/>
            </a:pPr>
            <a:r>
              <a:rPr lang="en-US" sz="1200" dirty="0">
                <a:solidFill>
                  <a:srgbClr val="5E6875"/>
                </a:solidFill>
                <a:latin typeface="Calibri" pitchFamily="34" charset="0"/>
                <a:ea typeface="Calibri" pitchFamily="34" charset="-122"/>
                <a:cs typeface="Calibri" pitchFamily="34" charset="-120"/>
              </a:rPr>
              <a:t>Predicted arrival 18 min. Nothing to do yet.</a:t>
            </a:r>
            <a:endParaRPr lang="en-US" sz="1200" dirty="0"/>
          </a:p>
        </p:txBody>
      </p:sp>
      <p:sp>
        <p:nvSpPr>
          <p:cNvPr id="55" name="Shape 47"/>
          <p:cNvSpPr/>
          <p:nvPr/>
        </p:nvSpPr>
        <p:spPr>
          <a:xfrm>
            <a:off x="3063240" y="4297680"/>
            <a:ext cx="2240280" cy="1783080"/>
          </a:xfrm>
          <a:prstGeom prst="roundRect">
            <a:avLst>
              <a:gd name="adj" fmla="val 4103"/>
            </a:avLst>
          </a:prstGeom>
          <a:solidFill>
            <a:srgbClr val="FFFFFF"/>
          </a:solidFill>
          <a:ln w="12700">
            <a:solidFill>
              <a:srgbClr val="FFFFFF"/>
            </a:solidFill>
            <a:prstDash val="solid"/>
          </a:ln>
          <a:effectLst>
            <a:outerShdw sx="100000" sy="100000" kx="0" ky="0" algn="bl" rotWithShape="0" blurRad="76200" dist="19050" dir="5400000">
              <a:srgbClr val="000000">
                <a:alpha val="8000"/>
              </a:srgbClr>
            </a:outerShdw>
          </a:effectLst>
        </p:spPr>
      </p:sp>
      <p:sp>
        <p:nvSpPr>
          <p:cNvPr id="56" name="Text 48"/>
          <p:cNvSpPr txBox="1"/>
          <p:nvPr/>
        </p:nvSpPr>
        <p:spPr>
          <a:xfrm>
            <a:off x="3264408" y="4462272"/>
            <a:ext cx="1097280" cy="256032"/>
          </a:xfrm>
          <a:prstGeom prst="rect">
            <a:avLst/>
          </a:prstGeom>
          <a:noFill/>
          <a:ln/>
        </p:spPr>
        <p:txBody>
          <a:bodyPr wrap="square" lIns="0" tIns="0" rIns="0" bIns="0" rtlCol="0" anchor="ctr"/>
          <a:lstStyle/>
          <a:p>
            <a:pPr indent="0" marL="0">
              <a:buNone/>
            </a:pPr>
            <a:r>
              <a:rPr lang="en-US" sz="1200" dirty="0">
                <a:solidFill>
                  <a:srgbClr val="5E6875"/>
                </a:solidFill>
                <a:latin typeface="Calibri" pitchFamily="34" charset="0"/>
                <a:ea typeface="Calibri" pitchFamily="34" charset="-122"/>
                <a:cs typeface="Calibri" pitchFamily="34" charset="-120"/>
              </a:rPr>
              <a:t>+5 min</a:t>
            </a:r>
            <a:endParaRPr lang="en-US" sz="1200" dirty="0"/>
          </a:p>
        </p:txBody>
      </p:sp>
      <p:sp>
        <p:nvSpPr>
          <p:cNvPr id="57" name="Shape 49"/>
          <p:cNvSpPr/>
          <p:nvPr/>
        </p:nvSpPr>
        <p:spPr>
          <a:xfrm>
            <a:off x="4919472" y="4498848"/>
            <a:ext cx="182880" cy="182880"/>
          </a:xfrm>
          <a:prstGeom prst="ellipse">
            <a:avLst/>
          </a:prstGeom>
          <a:solidFill>
            <a:srgbClr val="F2A52B"/>
          </a:solidFill>
          <a:ln w="12700">
            <a:solidFill>
              <a:srgbClr val="F2A52B"/>
            </a:solidFill>
            <a:prstDash val="solid"/>
          </a:ln>
        </p:spPr>
      </p:sp>
      <p:sp>
        <p:nvSpPr>
          <p:cNvPr id="58" name="Text 50"/>
          <p:cNvSpPr txBox="1"/>
          <p:nvPr/>
        </p:nvSpPr>
        <p:spPr>
          <a:xfrm>
            <a:off x="3264408" y="4736592"/>
            <a:ext cx="1874520" cy="502920"/>
          </a:xfrm>
          <a:prstGeom prst="rect">
            <a:avLst/>
          </a:prstGeom>
          <a:noFill/>
          <a:ln/>
        </p:spPr>
        <p:txBody>
          <a:bodyPr wrap="square" lIns="0" tIns="0" rIns="0" bIns="0" rtlCol="0" anchor="ctr"/>
          <a:lstStyle/>
          <a:p>
            <a:pPr indent="0" marL="0">
              <a:buNone/>
            </a:pPr>
            <a:r>
              <a:rPr lang="en-US" sz="2600" b="1" dirty="0">
                <a:solidFill>
                  <a:srgbClr val="1B1F24"/>
                </a:solidFill>
                <a:latin typeface="Arial" pitchFamily="34" charset="0"/>
                <a:ea typeface="Arial" pitchFamily="34" charset="-122"/>
                <a:cs typeface="Arial" pitchFamily="34" charset="-120"/>
              </a:rPr>
              <a:t>58%  </a:t>
            </a:r>
            <a:pPr indent="0" marL="0">
              <a:buNone/>
            </a:pPr>
            <a:r>
              <a:rPr lang="en-US" sz="1400" b="1" dirty="0">
                <a:solidFill>
                  <a:srgbClr val="F2A52B"/>
                </a:solidFill>
                <a:latin typeface="Calibri" pitchFamily="34" charset="0"/>
                <a:ea typeface="Calibri" pitchFamily="34" charset="-122"/>
                <a:cs typeface="Calibri" pitchFamily="34" charset="-120"/>
              </a:rPr>
              <a:t>At risk</a:t>
            </a:r>
            <a:endParaRPr lang="en-US" sz="2600" dirty="0"/>
          </a:p>
        </p:txBody>
      </p:sp>
      <p:sp>
        <p:nvSpPr>
          <p:cNvPr id="59" name="Text 51"/>
          <p:cNvSpPr txBox="1"/>
          <p:nvPr/>
        </p:nvSpPr>
        <p:spPr>
          <a:xfrm>
            <a:off x="3264408" y="5303520"/>
            <a:ext cx="1874520" cy="685800"/>
          </a:xfrm>
          <a:prstGeom prst="rect">
            <a:avLst/>
          </a:prstGeom>
          <a:noFill/>
          <a:ln/>
        </p:spPr>
        <p:txBody>
          <a:bodyPr wrap="square" lIns="0" tIns="0" rIns="0" bIns="0" rtlCol="0" anchor="t"/>
          <a:lstStyle/>
          <a:p>
            <a:pPr indent="0" marL="0">
              <a:buNone/>
            </a:pPr>
            <a:r>
              <a:rPr lang="en-US" sz="1200" dirty="0">
                <a:solidFill>
                  <a:srgbClr val="5E6875"/>
                </a:solidFill>
                <a:latin typeface="Calibri" pitchFamily="34" charset="0"/>
                <a:ea typeface="Calibri" pitchFamily="34" charset="-122"/>
                <a:cs typeface="Calibri" pitchFamily="34" charset="-120"/>
              </a:rPr>
              <a:t>Downstream traffic drops from 42 to 23 km/h and is spreading.</a:t>
            </a:r>
            <a:endParaRPr lang="en-US" sz="1200" dirty="0"/>
          </a:p>
        </p:txBody>
      </p:sp>
      <p:sp>
        <p:nvSpPr>
          <p:cNvPr id="60" name="Shape 52"/>
          <p:cNvSpPr/>
          <p:nvPr/>
        </p:nvSpPr>
        <p:spPr>
          <a:xfrm>
            <a:off x="5577840" y="4297680"/>
            <a:ext cx="2240280" cy="1783080"/>
          </a:xfrm>
          <a:prstGeom prst="roundRect">
            <a:avLst>
              <a:gd name="adj" fmla="val 4103"/>
            </a:avLst>
          </a:prstGeom>
          <a:solidFill>
            <a:srgbClr val="FFFFFF"/>
          </a:solidFill>
          <a:ln w="12700">
            <a:solidFill>
              <a:srgbClr val="FFFFFF"/>
            </a:solidFill>
            <a:prstDash val="solid"/>
          </a:ln>
          <a:effectLst>
            <a:outerShdw sx="100000" sy="100000" kx="0" ky="0" algn="bl" rotWithShape="0" blurRad="76200" dist="19050" dir="5400000">
              <a:srgbClr val="000000">
                <a:alpha val="8000"/>
              </a:srgbClr>
            </a:outerShdw>
          </a:effectLst>
        </p:spPr>
      </p:sp>
      <p:sp>
        <p:nvSpPr>
          <p:cNvPr id="61" name="Text 53"/>
          <p:cNvSpPr txBox="1"/>
          <p:nvPr/>
        </p:nvSpPr>
        <p:spPr>
          <a:xfrm>
            <a:off x="5779008" y="4462272"/>
            <a:ext cx="1097280" cy="256032"/>
          </a:xfrm>
          <a:prstGeom prst="rect">
            <a:avLst/>
          </a:prstGeom>
          <a:noFill/>
          <a:ln/>
        </p:spPr>
        <p:txBody>
          <a:bodyPr wrap="square" lIns="0" tIns="0" rIns="0" bIns="0" rtlCol="0" anchor="ctr"/>
          <a:lstStyle/>
          <a:p>
            <a:pPr indent="0" marL="0">
              <a:buNone/>
            </a:pPr>
            <a:r>
              <a:rPr lang="en-US" sz="1200" dirty="0">
                <a:solidFill>
                  <a:srgbClr val="5E6875"/>
                </a:solidFill>
                <a:latin typeface="Calibri" pitchFamily="34" charset="0"/>
                <a:ea typeface="Calibri" pitchFamily="34" charset="-122"/>
                <a:cs typeface="Calibri" pitchFamily="34" charset="-120"/>
              </a:rPr>
              <a:t>+8 min</a:t>
            </a:r>
            <a:endParaRPr lang="en-US" sz="1200" dirty="0"/>
          </a:p>
        </p:txBody>
      </p:sp>
      <p:sp>
        <p:nvSpPr>
          <p:cNvPr id="62" name="Shape 54"/>
          <p:cNvSpPr/>
          <p:nvPr/>
        </p:nvSpPr>
        <p:spPr>
          <a:xfrm>
            <a:off x="7434072" y="4498848"/>
            <a:ext cx="182880" cy="182880"/>
          </a:xfrm>
          <a:prstGeom prst="ellipse">
            <a:avLst/>
          </a:prstGeom>
          <a:solidFill>
            <a:srgbClr val="E03E3E"/>
          </a:solidFill>
          <a:ln w="12700">
            <a:solidFill>
              <a:srgbClr val="E03E3E"/>
            </a:solidFill>
            <a:prstDash val="solid"/>
          </a:ln>
        </p:spPr>
      </p:sp>
      <p:sp>
        <p:nvSpPr>
          <p:cNvPr id="63" name="Text 55"/>
          <p:cNvSpPr txBox="1"/>
          <p:nvPr/>
        </p:nvSpPr>
        <p:spPr>
          <a:xfrm>
            <a:off x="5779008" y="4736592"/>
            <a:ext cx="1874520" cy="502920"/>
          </a:xfrm>
          <a:prstGeom prst="rect">
            <a:avLst/>
          </a:prstGeom>
          <a:noFill/>
          <a:ln/>
        </p:spPr>
        <p:txBody>
          <a:bodyPr wrap="square" lIns="0" tIns="0" rIns="0" bIns="0" rtlCol="0" anchor="ctr"/>
          <a:lstStyle/>
          <a:p>
            <a:pPr indent="0" marL="0">
              <a:buNone/>
            </a:pPr>
            <a:r>
              <a:rPr lang="en-US" sz="2600" b="1" dirty="0">
                <a:solidFill>
                  <a:srgbClr val="1B1F24"/>
                </a:solidFill>
                <a:latin typeface="Arial" pitchFamily="34" charset="0"/>
                <a:ea typeface="Arial" pitchFamily="34" charset="-122"/>
                <a:cs typeface="Arial" pitchFamily="34" charset="-120"/>
              </a:rPr>
              <a:t>87%  </a:t>
            </a:r>
            <a:pPr indent="0" marL="0">
              <a:buNone/>
            </a:pPr>
            <a:r>
              <a:rPr lang="en-US" sz="1400" b="1" dirty="0">
                <a:solidFill>
                  <a:srgbClr val="E03E3E"/>
                </a:solidFill>
                <a:latin typeface="Calibri" pitchFamily="34" charset="0"/>
                <a:ea typeface="Calibri" pitchFamily="34" charset="-122"/>
                <a:cs typeface="Calibri" pitchFamily="34" charset="-120"/>
              </a:rPr>
              <a:t>Critical</a:t>
            </a:r>
            <a:endParaRPr lang="en-US" sz="2600" dirty="0"/>
          </a:p>
        </p:txBody>
      </p:sp>
      <p:sp>
        <p:nvSpPr>
          <p:cNvPr id="64" name="Text 56"/>
          <p:cNvSpPr txBox="1"/>
          <p:nvPr/>
        </p:nvSpPr>
        <p:spPr>
          <a:xfrm>
            <a:off x="5779008" y="5303520"/>
            <a:ext cx="1874520" cy="685800"/>
          </a:xfrm>
          <a:prstGeom prst="rect">
            <a:avLst/>
          </a:prstGeom>
          <a:noFill/>
          <a:ln/>
        </p:spPr>
        <p:txBody>
          <a:bodyPr wrap="square" lIns="0" tIns="0" rIns="0" bIns="0" rtlCol="0" anchor="t"/>
          <a:lstStyle/>
          <a:p>
            <a:pPr indent="0" marL="0">
              <a:buNone/>
            </a:pPr>
            <a:r>
              <a:rPr lang="en-US" sz="1200" dirty="0">
                <a:solidFill>
                  <a:srgbClr val="5E6875"/>
                </a:solidFill>
                <a:latin typeface="Calibri" pitchFamily="34" charset="0"/>
                <a:ea typeface="Calibri" pitchFamily="34" charset="-122"/>
                <a:cs typeface="Calibri" pitchFamily="34" charset="-120"/>
              </a:rPr>
              <a:t>Hospital A reports 5 ambulances queued, ~12 min handover.</a:t>
            </a:r>
            <a:endParaRPr lang="en-US" sz="1200" dirty="0"/>
          </a:p>
        </p:txBody>
      </p:sp>
      <p:sp>
        <p:nvSpPr>
          <p:cNvPr id="65" name="Shape 57"/>
          <p:cNvSpPr/>
          <p:nvPr/>
        </p:nvSpPr>
        <p:spPr>
          <a:xfrm>
            <a:off x="8092440" y="4297680"/>
            <a:ext cx="3550615" cy="1783080"/>
          </a:xfrm>
          <a:prstGeom prst="roundRect">
            <a:avLst>
              <a:gd name="adj" fmla="val 4103"/>
            </a:avLst>
          </a:prstGeom>
          <a:solidFill>
            <a:srgbClr val="12161C"/>
          </a:solidFill>
          <a:ln w="12700">
            <a:solidFill>
              <a:srgbClr val="12161C"/>
            </a:solidFill>
            <a:prstDash val="solid"/>
          </a:ln>
        </p:spPr>
      </p:sp>
      <p:sp>
        <p:nvSpPr>
          <p:cNvPr id="66" name="Text 58"/>
          <p:cNvSpPr txBox="1"/>
          <p:nvPr/>
        </p:nvSpPr>
        <p:spPr>
          <a:xfrm>
            <a:off x="8366760" y="4462272"/>
            <a:ext cx="3001975" cy="228600"/>
          </a:xfrm>
          <a:prstGeom prst="rect">
            <a:avLst/>
          </a:prstGeom>
          <a:noFill/>
          <a:ln/>
        </p:spPr>
        <p:txBody>
          <a:bodyPr wrap="square" lIns="0" tIns="0" rIns="0" bIns="0" rtlCol="0" anchor="ctr"/>
          <a:lstStyle/>
          <a:p>
            <a:pPr indent="0" marL="0">
              <a:buNone/>
            </a:pPr>
            <a:r>
              <a:rPr lang="en-US" sz="1000" b="1" spc="200" kern="0" dirty="0">
                <a:solidFill>
                  <a:srgbClr val="F2A52B"/>
                </a:solidFill>
                <a:latin typeface="Arial" pitchFamily="34" charset="0"/>
                <a:ea typeface="Arial" pitchFamily="34" charset="-122"/>
                <a:cs typeface="Arial" pitchFamily="34" charset="-120"/>
              </a:rPr>
              <a:t>RECOMMENDATION</a:t>
            </a:r>
            <a:endParaRPr lang="en-US" sz="1000" dirty="0"/>
          </a:p>
        </p:txBody>
      </p:sp>
      <p:sp>
        <p:nvSpPr>
          <p:cNvPr id="67" name="Text 59"/>
          <p:cNvSpPr txBox="1"/>
          <p:nvPr/>
        </p:nvSpPr>
        <p:spPr>
          <a:xfrm>
            <a:off x="8366760" y="4754880"/>
            <a:ext cx="2087575"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Hospital A, as planned</a:t>
            </a:r>
            <a:endParaRPr lang="en-US" sz="1300" dirty="0"/>
          </a:p>
          <a:p>
            <a:pPr indent="0" marL="0">
              <a:buNone/>
            </a:pPr>
            <a:r>
              <a:rPr lang="en-US" sz="1100" dirty="0">
                <a:solidFill>
                  <a:srgbClr val="9DA7B3"/>
                </a:solidFill>
                <a:latin typeface="Calibri" pitchFamily="34" charset="0"/>
                <a:ea typeface="Calibri" pitchFamily="34" charset="-122"/>
                <a:cs typeface="Calibri" pitchFamily="34" charset="-120"/>
              </a:rPr>
              <a:t>27 drive + 12 handover</a:t>
            </a:r>
            <a:endParaRPr lang="en-US" sz="1300" dirty="0"/>
          </a:p>
        </p:txBody>
      </p:sp>
      <p:sp>
        <p:nvSpPr>
          <p:cNvPr id="68" name="Text 60"/>
          <p:cNvSpPr txBox="1"/>
          <p:nvPr/>
        </p:nvSpPr>
        <p:spPr>
          <a:xfrm>
            <a:off x="10454335" y="4754880"/>
            <a:ext cx="914400" cy="457200"/>
          </a:xfrm>
          <a:prstGeom prst="rect">
            <a:avLst/>
          </a:prstGeom>
          <a:noFill/>
          <a:ln/>
        </p:spPr>
        <p:txBody>
          <a:bodyPr wrap="square" lIns="0" tIns="0" rIns="0" bIns="0" rtlCol="0" anchor="ctr"/>
          <a:lstStyle/>
          <a:p>
            <a:pPr algn="r" indent="0" marL="0">
              <a:buNone/>
            </a:pPr>
            <a:r>
              <a:rPr lang="en-US" sz="1800" b="1" dirty="0">
                <a:solidFill>
                  <a:srgbClr val="FFFFFF"/>
                </a:solidFill>
                <a:latin typeface="Arial" pitchFamily="34" charset="0"/>
                <a:ea typeface="Arial" pitchFamily="34" charset="-122"/>
                <a:cs typeface="Arial" pitchFamily="34" charset="-120"/>
              </a:rPr>
              <a:t>39 min</a:t>
            </a:r>
            <a:endParaRPr lang="en-US" sz="1800" dirty="0"/>
          </a:p>
        </p:txBody>
      </p:sp>
      <p:sp>
        <p:nvSpPr>
          <p:cNvPr id="69" name="Text 61"/>
          <p:cNvSpPr txBox="1"/>
          <p:nvPr/>
        </p:nvSpPr>
        <p:spPr>
          <a:xfrm>
            <a:off x="8366760" y="5257800"/>
            <a:ext cx="2087575" cy="4572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Hospital B, stroke-capable</a:t>
            </a:r>
            <a:endParaRPr lang="en-US" sz="1300" dirty="0"/>
          </a:p>
          <a:p>
            <a:pPr indent="0" marL="0">
              <a:buNone/>
            </a:pPr>
            <a:r>
              <a:rPr lang="en-US" sz="1100" dirty="0">
                <a:solidFill>
                  <a:srgbClr val="9DA7B3"/>
                </a:solidFill>
                <a:latin typeface="Calibri" pitchFamily="34" charset="0"/>
                <a:ea typeface="Calibri" pitchFamily="34" charset="-122"/>
                <a:cs typeface="Calibri" pitchFamily="34" charset="-120"/>
              </a:rPr>
              <a:t>21 drive + 2 handover</a:t>
            </a:r>
            <a:endParaRPr lang="en-US" sz="1300" dirty="0"/>
          </a:p>
        </p:txBody>
      </p:sp>
      <p:sp>
        <p:nvSpPr>
          <p:cNvPr id="70" name="Text 62"/>
          <p:cNvSpPr txBox="1"/>
          <p:nvPr/>
        </p:nvSpPr>
        <p:spPr>
          <a:xfrm>
            <a:off x="10454335" y="5257800"/>
            <a:ext cx="914400" cy="457200"/>
          </a:xfrm>
          <a:prstGeom prst="rect">
            <a:avLst/>
          </a:prstGeom>
          <a:noFill/>
          <a:ln/>
        </p:spPr>
        <p:txBody>
          <a:bodyPr wrap="square" lIns="0" tIns="0" rIns="0" bIns="0" rtlCol="0" anchor="ctr"/>
          <a:lstStyle/>
          <a:p>
            <a:pPr algn="r" indent="0" marL="0">
              <a:buNone/>
            </a:pPr>
            <a:r>
              <a:rPr lang="en-US" sz="1800" b="1" dirty="0">
                <a:solidFill>
                  <a:srgbClr val="2FA36B"/>
                </a:solidFill>
                <a:latin typeface="Arial" pitchFamily="34" charset="0"/>
                <a:ea typeface="Arial" pitchFamily="34" charset="-122"/>
                <a:cs typeface="Arial" pitchFamily="34" charset="-120"/>
              </a:rPr>
              <a:t>23 min</a:t>
            </a:r>
            <a:endParaRPr lang="en-US" sz="1800" dirty="0"/>
          </a:p>
        </p:txBody>
      </p:sp>
      <p:sp>
        <p:nvSpPr>
          <p:cNvPr id="71" name="Text 63"/>
          <p:cNvSpPr txBox="1"/>
          <p:nvPr/>
        </p:nvSpPr>
        <p:spPr>
          <a:xfrm>
            <a:off x="8366760" y="5742432"/>
            <a:ext cx="3001975" cy="256032"/>
          </a:xfrm>
          <a:prstGeom prst="rect">
            <a:avLst/>
          </a:prstGeom>
          <a:noFill/>
          <a:ln/>
        </p:spPr>
        <p:txBody>
          <a:bodyPr wrap="square" lIns="0" tIns="0" rIns="0" bIns="0" rtlCol="0" anchor="ctr"/>
          <a:lstStyle/>
          <a:p>
            <a:pPr indent="0" marL="0">
              <a:buNone/>
            </a:pPr>
            <a:r>
              <a:rPr lang="en-US" sz="1300" b="1" dirty="0">
                <a:solidFill>
                  <a:srgbClr val="2FA36B"/>
                </a:solidFill>
                <a:latin typeface="Calibri" pitchFamily="34" charset="0"/>
                <a:ea typeface="Calibri" pitchFamily="34" charset="-122"/>
                <a:cs typeface="Calibri" pitchFamily="34" charset="-120"/>
              </a:rPr>
              <a:t>≈16 min saved: reroute + pre-alert 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161C"/>
        </a:solidFill>
      </p:bgPr>
    </p:bg>
    <p:spTree>
      <p:nvGrpSpPr>
        <p:cNvPr id="1" name=""/>
        <p:cNvGrpSpPr/>
        <p:nvPr/>
      </p:nvGrpSpPr>
      <p:grpSpPr>
        <a:xfrm>
          <a:off x="0" y="0"/>
          <a:ext cx="0" cy="0"/>
          <a:chOff x="0" y="0"/>
          <a:chExt cx="0" cy="0"/>
        </a:xfrm>
      </p:grpSpPr>
      <p:sp>
        <p:nvSpPr>
          <p:cNvPr id="2" name="Shape 0"/>
          <p:cNvSpPr/>
          <p:nvPr/>
        </p:nvSpPr>
        <p:spPr>
          <a:xfrm>
            <a:off x="548640" y="457200"/>
            <a:ext cx="109728" cy="109728"/>
          </a:xfrm>
          <a:prstGeom prst="ellipse">
            <a:avLst/>
          </a:prstGeom>
          <a:solidFill>
            <a:srgbClr val="2FA36B"/>
          </a:solidFill>
          <a:ln w="12700">
            <a:solidFill>
              <a:srgbClr val="2FA36B"/>
            </a:solidFill>
            <a:prstDash val="solid"/>
          </a:ln>
        </p:spPr>
      </p:sp>
      <p:sp>
        <p:nvSpPr>
          <p:cNvPr id="3" name="Shape 1"/>
          <p:cNvSpPr/>
          <p:nvPr/>
        </p:nvSpPr>
        <p:spPr>
          <a:xfrm>
            <a:off x="722376" y="457200"/>
            <a:ext cx="109728" cy="109728"/>
          </a:xfrm>
          <a:prstGeom prst="ellipse">
            <a:avLst/>
          </a:prstGeom>
          <a:solidFill>
            <a:srgbClr val="F2A52B"/>
          </a:solidFill>
          <a:ln w="12700">
            <a:solidFill>
              <a:srgbClr val="F2A52B"/>
            </a:solidFill>
            <a:prstDash val="solid"/>
          </a:ln>
        </p:spPr>
      </p:sp>
      <p:sp>
        <p:nvSpPr>
          <p:cNvPr id="4" name="Shape 2"/>
          <p:cNvSpPr/>
          <p:nvPr/>
        </p:nvSpPr>
        <p:spPr>
          <a:xfrm>
            <a:off x="896112" y="457200"/>
            <a:ext cx="109728" cy="109728"/>
          </a:xfrm>
          <a:prstGeom prst="ellipse">
            <a:avLst/>
          </a:prstGeom>
          <a:solidFill>
            <a:srgbClr val="E03E3E"/>
          </a:solidFill>
          <a:ln w="12700">
            <a:solidFill>
              <a:srgbClr val="E03E3E"/>
            </a:solidFill>
            <a:prstDash val="solid"/>
          </a:ln>
        </p:spPr>
      </p:sp>
      <p:sp>
        <p:nvSpPr>
          <p:cNvPr id="5" name="Text 3"/>
          <p:cNvSpPr txBox="1"/>
          <p:nvPr/>
        </p:nvSpPr>
        <p:spPr>
          <a:xfrm>
            <a:off x="1170432" y="393192"/>
            <a:ext cx="7315200" cy="237744"/>
          </a:xfrm>
          <a:prstGeom prst="rect">
            <a:avLst/>
          </a:prstGeom>
          <a:noFill/>
          <a:ln/>
        </p:spPr>
        <p:txBody>
          <a:bodyPr wrap="square" lIns="0" tIns="0" rIns="0" bIns="0" rtlCol="0" anchor="ctr"/>
          <a:lstStyle/>
          <a:p>
            <a:pPr indent="0" marL="0">
              <a:buNone/>
            </a:pPr>
            <a:r>
              <a:rPr lang="en-US" sz="1100" b="1" spc="200" kern="0" dirty="0">
                <a:solidFill>
                  <a:srgbClr val="9DA7B3"/>
                </a:solidFill>
                <a:latin typeface="Arial" pitchFamily="34" charset="0"/>
                <a:ea typeface="Arial" pitchFamily="34" charset="-122"/>
                <a:cs typeface="Arial" pitchFamily="34" charset="-120"/>
              </a:rPr>
              <a:t>WHAT MAKES OUR SOLUTION DIFFERENT</a:t>
            </a:r>
            <a:endParaRPr lang="en-US" sz="1100" dirty="0"/>
          </a:p>
        </p:txBody>
      </p:sp>
      <p:sp>
        <p:nvSpPr>
          <p:cNvPr id="6" name="Text 4"/>
          <p:cNvSpPr txBox="1"/>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9DA7B3"/>
                </a:solidFill>
                <a:latin typeface="Calibri" pitchFamily="34" charset="0"/>
                <a:ea typeface="Calibri" pitchFamily="34" charset="-122"/>
                <a:cs typeface="Calibri" pitchFamily="34" charset="-120"/>
              </a:rPr>
              <a:t>07</a:t>
            </a:r>
            <a:endParaRPr lang="en-US" sz="1000" dirty="0"/>
          </a:p>
        </p:txBody>
      </p:sp>
      <p:sp>
        <p:nvSpPr>
          <p:cNvPr id="7" name="Text 5"/>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Not another navigation app</a:t>
            </a:r>
            <a:endParaRPr lang="en-US" sz="3200" dirty="0"/>
          </a:p>
        </p:txBody>
      </p:sp>
      <p:sp>
        <p:nvSpPr>
          <p:cNvPr id="8" name="Text 6"/>
          <p:cNvSpPr txBox="1"/>
          <p:nvPr/>
        </p:nvSpPr>
        <p:spPr>
          <a:xfrm>
            <a:off x="548640" y="1783080"/>
            <a:ext cx="3657600" cy="228600"/>
          </a:xfrm>
          <a:prstGeom prst="rect">
            <a:avLst/>
          </a:prstGeom>
          <a:noFill/>
          <a:ln/>
        </p:spPr>
        <p:txBody>
          <a:bodyPr wrap="square" lIns="0" tIns="0" rIns="0" bIns="0" rtlCol="0" anchor="ctr"/>
          <a:lstStyle/>
          <a:p>
            <a:pPr indent="0" marL="0">
              <a:buNone/>
            </a:pPr>
            <a:r>
              <a:rPr lang="en-US" sz="1000" b="1" spc="200" kern="0" dirty="0">
                <a:solidFill>
                  <a:srgbClr val="9DA7B3"/>
                </a:solidFill>
                <a:latin typeface="Arial" pitchFamily="34" charset="0"/>
                <a:ea typeface="Arial" pitchFamily="34" charset="-122"/>
                <a:cs typeface="Arial" pitchFamily="34" charset="-120"/>
              </a:rPr>
              <a:t>ROUTING ASKS</a:t>
            </a:r>
            <a:endParaRPr lang="en-US" sz="1000" dirty="0"/>
          </a:p>
        </p:txBody>
      </p:sp>
      <p:sp>
        <p:nvSpPr>
          <p:cNvPr id="9" name="Text 7"/>
          <p:cNvSpPr txBox="1"/>
          <p:nvPr/>
        </p:nvSpPr>
        <p:spPr>
          <a:xfrm>
            <a:off x="548640" y="2011680"/>
            <a:ext cx="402336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Where should I go?</a:t>
            </a:r>
            <a:endParaRPr lang="en-US" sz="1800" dirty="0"/>
          </a:p>
        </p:txBody>
      </p:sp>
      <p:sp>
        <p:nvSpPr>
          <p:cNvPr id="10" name="Text 8"/>
          <p:cNvSpPr txBox="1"/>
          <p:nvPr/>
        </p:nvSpPr>
        <p:spPr>
          <a:xfrm>
            <a:off x="548640" y="2560320"/>
            <a:ext cx="3657600" cy="228600"/>
          </a:xfrm>
          <a:prstGeom prst="rect">
            <a:avLst/>
          </a:prstGeom>
          <a:noFill/>
          <a:ln/>
        </p:spPr>
        <p:txBody>
          <a:bodyPr wrap="square" lIns="0" tIns="0" rIns="0" bIns="0" rtlCol="0" anchor="ctr"/>
          <a:lstStyle/>
          <a:p>
            <a:pPr indent="0" marL="0">
              <a:buNone/>
            </a:pPr>
            <a:r>
              <a:rPr lang="en-US" sz="1000" b="1" spc="200" kern="0" dirty="0">
                <a:solidFill>
                  <a:srgbClr val="9DA7B3"/>
                </a:solidFill>
                <a:latin typeface="Arial" pitchFamily="34" charset="0"/>
                <a:ea typeface="Arial" pitchFamily="34" charset="-122"/>
                <a:cs typeface="Arial" pitchFamily="34" charset="-120"/>
              </a:rPr>
              <a:t>ETA MODELS ASK</a:t>
            </a:r>
            <a:endParaRPr lang="en-US" sz="1000" dirty="0"/>
          </a:p>
        </p:txBody>
      </p:sp>
      <p:sp>
        <p:nvSpPr>
          <p:cNvPr id="11" name="Text 9"/>
          <p:cNvSpPr txBox="1"/>
          <p:nvPr/>
        </p:nvSpPr>
        <p:spPr>
          <a:xfrm>
            <a:off x="548640" y="2788920"/>
            <a:ext cx="4023360" cy="36576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When will I arrive?</a:t>
            </a:r>
            <a:endParaRPr lang="en-US" sz="1800" dirty="0"/>
          </a:p>
        </p:txBody>
      </p:sp>
      <p:sp>
        <p:nvSpPr>
          <p:cNvPr id="12" name="Text 10"/>
          <p:cNvSpPr txBox="1"/>
          <p:nvPr/>
        </p:nvSpPr>
        <p:spPr>
          <a:xfrm>
            <a:off x="548640" y="3337560"/>
            <a:ext cx="3657600" cy="228600"/>
          </a:xfrm>
          <a:prstGeom prst="rect">
            <a:avLst/>
          </a:prstGeom>
          <a:noFill/>
          <a:ln/>
        </p:spPr>
        <p:txBody>
          <a:bodyPr wrap="square" lIns="0" tIns="0" rIns="0" bIns="0" rtlCol="0" anchor="ctr"/>
          <a:lstStyle/>
          <a:p>
            <a:pPr indent="0" marL="0">
              <a:buNone/>
            </a:pPr>
            <a:r>
              <a:rPr lang="en-US" sz="1000" b="1" spc="200" kern="0" dirty="0">
                <a:solidFill>
                  <a:srgbClr val="E03E3E"/>
                </a:solidFill>
                <a:latin typeface="Arial" pitchFamily="34" charset="0"/>
                <a:ea typeface="Arial" pitchFamily="34" charset="-122"/>
                <a:cs typeface="Arial" pitchFamily="34" charset="-120"/>
              </a:rPr>
              <a:t>OUR LAYER ASKS</a:t>
            </a:r>
            <a:endParaRPr lang="en-US" sz="1000" dirty="0"/>
          </a:p>
        </p:txBody>
      </p:sp>
      <p:sp>
        <p:nvSpPr>
          <p:cNvPr id="13" name="Text 11"/>
          <p:cNvSpPr txBox="1"/>
          <p:nvPr/>
        </p:nvSpPr>
        <p:spPr>
          <a:xfrm>
            <a:off x="548640" y="3630168"/>
            <a:ext cx="274320" cy="329184"/>
          </a:xfrm>
          <a:prstGeom prst="rect">
            <a:avLst/>
          </a:prstGeom>
          <a:noFill/>
          <a:ln/>
        </p:spPr>
        <p:txBody>
          <a:bodyPr wrap="square" lIns="0" tIns="0" rIns="0" bIns="0" rtlCol="0" anchor="ctr"/>
          <a:lstStyle/>
          <a:p>
            <a:pPr indent="0" marL="0">
              <a:buNone/>
            </a:pPr>
            <a:r>
              <a:rPr lang="en-US" sz="1500" b="1" dirty="0">
                <a:solidFill>
                  <a:srgbClr val="E03E3E"/>
                </a:solidFill>
                <a:latin typeface="Arial" pitchFamily="34" charset="0"/>
                <a:ea typeface="Arial" pitchFamily="34" charset="-122"/>
                <a:cs typeface="Arial" pitchFamily="34" charset="-120"/>
              </a:rPr>
              <a:t>1</a:t>
            </a:r>
            <a:endParaRPr lang="en-US" sz="1500" dirty="0"/>
          </a:p>
        </p:txBody>
      </p:sp>
      <p:sp>
        <p:nvSpPr>
          <p:cNvPr id="14" name="Text 12"/>
          <p:cNvSpPr txBox="1"/>
          <p:nvPr/>
        </p:nvSpPr>
        <p:spPr>
          <a:xfrm>
            <a:off x="868680" y="3630168"/>
            <a:ext cx="393192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Will this mission miss its target?</a:t>
            </a:r>
            <a:endParaRPr lang="en-US" sz="1600" dirty="0"/>
          </a:p>
        </p:txBody>
      </p:sp>
      <p:sp>
        <p:nvSpPr>
          <p:cNvPr id="15" name="Text 13"/>
          <p:cNvSpPr txBox="1"/>
          <p:nvPr/>
        </p:nvSpPr>
        <p:spPr>
          <a:xfrm>
            <a:off x="548640" y="4059936"/>
            <a:ext cx="274320" cy="329184"/>
          </a:xfrm>
          <a:prstGeom prst="rect">
            <a:avLst/>
          </a:prstGeom>
          <a:noFill/>
          <a:ln/>
        </p:spPr>
        <p:txBody>
          <a:bodyPr wrap="square" lIns="0" tIns="0" rIns="0" bIns="0" rtlCol="0" anchor="ctr"/>
          <a:lstStyle/>
          <a:p>
            <a:pPr indent="0" marL="0">
              <a:buNone/>
            </a:pPr>
            <a:r>
              <a:rPr lang="en-US" sz="1500" b="1" dirty="0">
                <a:solidFill>
                  <a:srgbClr val="E03E3E"/>
                </a:solidFill>
                <a:latin typeface="Arial" pitchFamily="34" charset="0"/>
                <a:ea typeface="Arial" pitchFamily="34" charset="-122"/>
                <a:cs typeface="Arial" pitchFamily="34" charset="-120"/>
              </a:rPr>
              <a:t>2</a:t>
            </a:r>
            <a:endParaRPr lang="en-US" sz="1500" dirty="0"/>
          </a:p>
        </p:txBody>
      </p:sp>
      <p:sp>
        <p:nvSpPr>
          <p:cNvPr id="16" name="Text 14"/>
          <p:cNvSpPr txBox="1"/>
          <p:nvPr/>
        </p:nvSpPr>
        <p:spPr>
          <a:xfrm>
            <a:off x="868680" y="4059936"/>
            <a:ext cx="393192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Why?</a:t>
            </a:r>
            <a:endParaRPr lang="en-US" sz="1600" dirty="0"/>
          </a:p>
        </p:txBody>
      </p:sp>
      <p:sp>
        <p:nvSpPr>
          <p:cNvPr id="17" name="Text 15"/>
          <p:cNvSpPr txBox="1"/>
          <p:nvPr/>
        </p:nvSpPr>
        <p:spPr>
          <a:xfrm>
            <a:off x="548640" y="4489704"/>
            <a:ext cx="274320" cy="329184"/>
          </a:xfrm>
          <a:prstGeom prst="rect">
            <a:avLst/>
          </a:prstGeom>
          <a:noFill/>
          <a:ln/>
        </p:spPr>
        <p:txBody>
          <a:bodyPr wrap="square" lIns="0" tIns="0" rIns="0" bIns="0" rtlCol="0" anchor="ctr"/>
          <a:lstStyle/>
          <a:p>
            <a:pPr indent="0" marL="0">
              <a:buNone/>
            </a:pPr>
            <a:r>
              <a:rPr lang="en-US" sz="1500" b="1" dirty="0">
                <a:solidFill>
                  <a:srgbClr val="E03E3E"/>
                </a:solidFill>
                <a:latin typeface="Arial" pitchFamily="34" charset="0"/>
                <a:ea typeface="Arial" pitchFamily="34" charset="-122"/>
                <a:cs typeface="Arial" pitchFamily="34" charset="-120"/>
              </a:rPr>
              <a:t>3</a:t>
            </a:r>
            <a:endParaRPr lang="en-US" sz="1500" dirty="0"/>
          </a:p>
        </p:txBody>
      </p:sp>
      <p:sp>
        <p:nvSpPr>
          <p:cNvPr id="18" name="Text 16"/>
          <p:cNvSpPr txBox="1"/>
          <p:nvPr/>
        </p:nvSpPr>
        <p:spPr>
          <a:xfrm>
            <a:off x="868680" y="4489704"/>
            <a:ext cx="393192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How many minutes will it lose?</a:t>
            </a:r>
            <a:endParaRPr lang="en-US" sz="1600" dirty="0"/>
          </a:p>
        </p:txBody>
      </p:sp>
      <p:sp>
        <p:nvSpPr>
          <p:cNvPr id="19" name="Text 17"/>
          <p:cNvSpPr txBox="1"/>
          <p:nvPr/>
        </p:nvSpPr>
        <p:spPr>
          <a:xfrm>
            <a:off x="548640" y="4919472"/>
            <a:ext cx="274320" cy="329184"/>
          </a:xfrm>
          <a:prstGeom prst="rect">
            <a:avLst/>
          </a:prstGeom>
          <a:noFill/>
          <a:ln/>
        </p:spPr>
        <p:txBody>
          <a:bodyPr wrap="square" lIns="0" tIns="0" rIns="0" bIns="0" rtlCol="0" anchor="ctr"/>
          <a:lstStyle/>
          <a:p>
            <a:pPr indent="0" marL="0">
              <a:buNone/>
            </a:pPr>
            <a:r>
              <a:rPr lang="en-US" sz="1500" b="1" dirty="0">
                <a:solidFill>
                  <a:srgbClr val="E03E3E"/>
                </a:solidFill>
                <a:latin typeface="Arial" pitchFamily="34" charset="0"/>
                <a:ea typeface="Arial" pitchFamily="34" charset="-122"/>
                <a:cs typeface="Arial" pitchFamily="34" charset="-120"/>
              </a:rPr>
              <a:t>4</a:t>
            </a:r>
            <a:endParaRPr lang="en-US" sz="1500" dirty="0"/>
          </a:p>
        </p:txBody>
      </p:sp>
      <p:sp>
        <p:nvSpPr>
          <p:cNvPr id="20" name="Text 18"/>
          <p:cNvSpPr txBox="1"/>
          <p:nvPr/>
        </p:nvSpPr>
        <p:spPr>
          <a:xfrm>
            <a:off x="868680" y="4919472"/>
            <a:ext cx="393192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Can another route or hospital prevent it?</a:t>
            </a:r>
            <a:endParaRPr lang="en-US" sz="1600" dirty="0"/>
          </a:p>
        </p:txBody>
      </p:sp>
      <p:sp>
        <p:nvSpPr>
          <p:cNvPr id="21" name="Text 19"/>
          <p:cNvSpPr txBox="1"/>
          <p:nvPr/>
        </p:nvSpPr>
        <p:spPr>
          <a:xfrm>
            <a:off x="548640" y="5349240"/>
            <a:ext cx="274320" cy="329184"/>
          </a:xfrm>
          <a:prstGeom prst="rect">
            <a:avLst/>
          </a:prstGeom>
          <a:noFill/>
          <a:ln/>
        </p:spPr>
        <p:txBody>
          <a:bodyPr wrap="square" lIns="0" tIns="0" rIns="0" bIns="0" rtlCol="0" anchor="ctr"/>
          <a:lstStyle/>
          <a:p>
            <a:pPr indent="0" marL="0">
              <a:buNone/>
            </a:pPr>
            <a:r>
              <a:rPr lang="en-US" sz="1500" b="1" dirty="0">
                <a:solidFill>
                  <a:srgbClr val="E03E3E"/>
                </a:solidFill>
                <a:latin typeface="Arial" pitchFamily="34" charset="0"/>
                <a:ea typeface="Arial" pitchFamily="34" charset="-122"/>
                <a:cs typeface="Arial" pitchFamily="34" charset="-120"/>
              </a:rPr>
              <a:t>5</a:t>
            </a:r>
            <a:endParaRPr lang="en-US" sz="1500" dirty="0"/>
          </a:p>
        </p:txBody>
      </p:sp>
      <p:sp>
        <p:nvSpPr>
          <p:cNvPr id="22" name="Text 20"/>
          <p:cNvSpPr txBox="1"/>
          <p:nvPr/>
        </p:nvSpPr>
        <p:spPr>
          <a:xfrm>
            <a:off x="868680" y="5349240"/>
            <a:ext cx="393192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should happen now?</a:t>
            </a:r>
            <a:endParaRPr lang="en-US" sz="1600" dirty="0"/>
          </a:p>
        </p:txBody>
      </p:sp>
      <p:sp>
        <p:nvSpPr>
          <p:cNvPr id="23" name="Shape 21"/>
          <p:cNvSpPr/>
          <p:nvPr/>
        </p:nvSpPr>
        <p:spPr>
          <a:xfrm>
            <a:off x="10780547" y="1691640"/>
            <a:ext cx="825932" cy="4160520"/>
          </a:xfrm>
          <a:prstGeom prst="roundRect">
            <a:avLst>
              <a:gd name="adj" fmla="val 8857"/>
            </a:avLst>
          </a:prstGeom>
          <a:solidFill>
            <a:srgbClr val="1E252E"/>
          </a:solidFill>
          <a:ln w="15875">
            <a:solidFill>
              <a:srgbClr val="E03E3E"/>
            </a:solidFill>
            <a:prstDash val="solid"/>
          </a:ln>
        </p:spPr>
      </p:sp>
      <p:sp>
        <p:nvSpPr>
          <p:cNvPr id="24" name="Text 22"/>
          <p:cNvSpPr txBox="1"/>
          <p:nvPr/>
        </p:nvSpPr>
        <p:spPr>
          <a:xfrm>
            <a:off x="8046720" y="1783080"/>
            <a:ext cx="899084" cy="457200"/>
          </a:xfrm>
          <a:prstGeom prst="rect">
            <a:avLst/>
          </a:prstGeom>
          <a:noFill/>
          <a:ln/>
        </p:spPr>
        <p:txBody>
          <a:bodyPr wrap="square" lIns="0" tIns="0" rIns="0" bIns="0" rtlCol="0" anchor="ctr"/>
          <a:lstStyle/>
          <a:p>
            <a:pPr algn="ctr" indent="0" marL="0">
              <a:buNone/>
            </a:pPr>
            <a:r>
              <a:rPr lang="en-US" sz="1100" b="1" dirty="0">
                <a:solidFill>
                  <a:srgbClr val="9DA7B3"/>
                </a:solidFill>
                <a:latin typeface="Arial" pitchFamily="34" charset="0"/>
                <a:ea typeface="Arial" pitchFamily="34" charset="-122"/>
                <a:cs typeface="Arial" pitchFamily="34" charset="-120"/>
              </a:rPr>
              <a:t>Consumer maps</a:t>
            </a:r>
            <a:endParaRPr lang="en-US" sz="1100" dirty="0"/>
          </a:p>
        </p:txBody>
      </p:sp>
      <p:sp>
        <p:nvSpPr>
          <p:cNvPr id="25" name="Text 23"/>
          <p:cNvSpPr txBox="1"/>
          <p:nvPr/>
        </p:nvSpPr>
        <p:spPr>
          <a:xfrm>
            <a:off x="8945804" y="1783080"/>
            <a:ext cx="899084" cy="457200"/>
          </a:xfrm>
          <a:prstGeom prst="rect">
            <a:avLst/>
          </a:prstGeom>
          <a:noFill/>
          <a:ln/>
        </p:spPr>
        <p:txBody>
          <a:bodyPr wrap="square" lIns="0" tIns="0" rIns="0" bIns="0" rtlCol="0" anchor="ctr"/>
          <a:lstStyle/>
          <a:p>
            <a:pPr algn="ctr" indent="0" marL="0">
              <a:buNone/>
            </a:pPr>
            <a:r>
              <a:rPr lang="en-US" sz="1100" b="1" dirty="0">
                <a:solidFill>
                  <a:srgbClr val="9DA7B3"/>
                </a:solidFill>
                <a:latin typeface="Arial" pitchFamily="34" charset="0"/>
                <a:ea typeface="Arial" pitchFamily="34" charset="-122"/>
                <a:cs typeface="Arial" pitchFamily="34" charset="-120"/>
              </a:rPr>
              <a:t>OSRM</a:t>
            </a:r>
            <a:endParaRPr lang="en-US" sz="1100" dirty="0"/>
          </a:p>
        </p:txBody>
      </p:sp>
      <p:sp>
        <p:nvSpPr>
          <p:cNvPr id="26" name="Text 24"/>
          <p:cNvSpPr txBox="1"/>
          <p:nvPr/>
        </p:nvSpPr>
        <p:spPr>
          <a:xfrm>
            <a:off x="9844888" y="1783080"/>
            <a:ext cx="899084" cy="457200"/>
          </a:xfrm>
          <a:prstGeom prst="rect">
            <a:avLst/>
          </a:prstGeom>
          <a:noFill/>
          <a:ln/>
        </p:spPr>
        <p:txBody>
          <a:bodyPr wrap="square" lIns="0" tIns="0" rIns="0" bIns="0" rtlCol="0" anchor="ctr"/>
          <a:lstStyle/>
          <a:p>
            <a:pPr algn="ctr" indent="0" marL="0">
              <a:buNone/>
            </a:pPr>
            <a:r>
              <a:rPr lang="en-US" sz="1100" b="1" dirty="0">
                <a:solidFill>
                  <a:srgbClr val="9DA7B3"/>
                </a:solidFill>
                <a:latin typeface="Arial" pitchFamily="34" charset="0"/>
                <a:ea typeface="Arial" pitchFamily="34" charset="-122"/>
                <a:cs typeface="Arial" pitchFamily="34" charset="-120"/>
              </a:rPr>
              <a:t>ETA models</a:t>
            </a:r>
            <a:endParaRPr lang="en-US" sz="1100" dirty="0"/>
          </a:p>
        </p:txBody>
      </p:sp>
      <p:sp>
        <p:nvSpPr>
          <p:cNvPr id="27" name="Text 25"/>
          <p:cNvSpPr txBox="1"/>
          <p:nvPr/>
        </p:nvSpPr>
        <p:spPr>
          <a:xfrm>
            <a:off x="10743971" y="1783080"/>
            <a:ext cx="899084"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Our layer</a:t>
            </a:r>
            <a:endParaRPr lang="en-US" sz="1100" dirty="0"/>
          </a:p>
        </p:txBody>
      </p:sp>
      <p:sp>
        <p:nvSpPr>
          <p:cNvPr id="28" name="Shape 26"/>
          <p:cNvSpPr/>
          <p:nvPr/>
        </p:nvSpPr>
        <p:spPr>
          <a:xfrm>
            <a:off x="5257800" y="2331720"/>
            <a:ext cx="5486171" cy="0"/>
          </a:xfrm>
          <a:prstGeom prst="line">
            <a:avLst/>
          </a:prstGeom>
          <a:noFill/>
          <a:ln w="12700">
            <a:solidFill>
              <a:srgbClr val="2C3440"/>
            </a:solidFill>
            <a:prstDash val="solid"/>
          </a:ln>
        </p:spPr>
      </p:sp>
      <p:sp>
        <p:nvSpPr>
          <p:cNvPr id="29" name="Text 27"/>
          <p:cNvSpPr txBox="1"/>
          <p:nvPr/>
        </p:nvSpPr>
        <p:spPr>
          <a:xfrm>
            <a:off x="5257800" y="2331720"/>
            <a:ext cx="2697480" cy="5486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Live traffic awareness</a:t>
            </a:r>
            <a:endParaRPr lang="en-US" sz="1350" dirty="0"/>
          </a:p>
        </p:txBody>
      </p:sp>
      <p:pic>
        <p:nvPicPr>
          <p:cNvPr id="30" name="Image 0" descr="preencoded.png">    </p:cNvPr>
          <p:cNvPicPr>
            <a:picLocks noChangeAspect="1"/>
          </p:cNvPicPr>
          <p:nvPr/>
        </p:nvPicPr>
        <p:blipFill>
          <a:blip r:embed="rId1"/>
          <a:stretch>
            <a:fillRect/>
          </a:stretch>
        </p:blipFill>
        <p:spPr>
          <a:xfrm>
            <a:off x="8386534" y="2496312"/>
            <a:ext cx="219456" cy="219456"/>
          </a:xfrm>
          <a:prstGeom prst="rect">
            <a:avLst/>
          </a:prstGeom>
        </p:spPr>
      </p:pic>
      <p:pic>
        <p:nvPicPr>
          <p:cNvPr id="31" name="Image 1" descr="preencoded.png">    </p:cNvPr>
          <p:cNvPicPr>
            <a:picLocks noChangeAspect="1"/>
          </p:cNvPicPr>
          <p:nvPr/>
        </p:nvPicPr>
        <p:blipFill>
          <a:blip r:embed="rId2"/>
          <a:stretch>
            <a:fillRect/>
          </a:stretch>
        </p:blipFill>
        <p:spPr>
          <a:xfrm>
            <a:off x="9285618" y="2496312"/>
            <a:ext cx="219456" cy="219456"/>
          </a:xfrm>
          <a:prstGeom prst="rect">
            <a:avLst/>
          </a:prstGeom>
        </p:spPr>
      </p:pic>
      <p:pic>
        <p:nvPicPr>
          <p:cNvPr id="32" name="Image 2" descr="preencoded.png">    </p:cNvPr>
          <p:cNvPicPr>
            <a:picLocks noChangeAspect="1"/>
          </p:cNvPicPr>
          <p:nvPr/>
        </p:nvPicPr>
        <p:blipFill>
          <a:blip r:embed="rId3"/>
          <a:stretch>
            <a:fillRect/>
          </a:stretch>
        </p:blipFill>
        <p:spPr>
          <a:xfrm>
            <a:off x="10184702" y="2496312"/>
            <a:ext cx="219456" cy="219456"/>
          </a:xfrm>
          <a:prstGeom prst="rect">
            <a:avLst/>
          </a:prstGeom>
        </p:spPr>
      </p:pic>
      <p:pic>
        <p:nvPicPr>
          <p:cNvPr id="33" name="Image 3" descr="preencoded.png">    </p:cNvPr>
          <p:cNvPicPr>
            <a:picLocks noChangeAspect="1"/>
          </p:cNvPicPr>
          <p:nvPr/>
        </p:nvPicPr>
        <p:blipFill>
          <a:blip r:embed="rId4"/>
          <a:stretch>
            <a:fillRect/>
          </a:stretch>
        </p:blipFill>
        <p:spPr>
          <a:xfrm>
            <a:off x="11083785" y="2496312"/>
            <a:ext cx="219456" cy="219456"/>
          </a:xfrm>
          <a:prstGeom prst="rect">
            <a:avLst/>
          </a:prstGeom>
        </p:spPr>
      </p:pic>
      <p:sp>
        <p:nvSpPr>
          <p:cNvPr id="34" name="Shape 28"/>
          <p:cNvSpPr/>
          <p:nvPr/>
        </p:nvSpPr>
        <p:spPr>
          <a:xfrm>
            <a:off x="5257800" y="2880360"/>
            <a:ext cx="5486171" cy="0"/>
          </a:xfrm>
          <a:prstGeom prst="line">
            <a:avLst/>
          </a:prstGeom>
          <a:noFill/>
          <a:ln w="12700">
            <a:solidFill>
              <a:srgbClr val="2C3440"/>
            </a:solidFill>
            <a:prstDash val="solid"/>
          </a:ln>
        </p:spPr>
      </p:sp>
      <p:sp>
        <p:nvSpPr>
          <p:cNvPr id="35" name="Text 29"/>
          <p:cNvSpPr txBox="1"/>
          <p:nvPr/>
        </p:nvSpPr>
        <p:spPr>
          <a:xfrm>
            <a:off x="5257800" y="2880360"/>
            <a:ext cx="2697480" cy="5486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Predicts target failure in advance</a:t>
            </a:r>
            <a:endParaRPr lang="en-US" sz="1350" dirty="0"/>
          </a:p>
        </p:txBody>
      </p:sp>
      <p:pic>
        <p:nvPicPr>
          <p:cNvPr id="36" name="Image 4" descr="preencoded.png">    </p:cNvPr>
          <p:cNvPicPr>
            <a:picLocks noChangeAspect="1"/>
          </p:cNvPicPr>
          <p:nvPr/>
        </p:nvPicPr>
        <p:blipFill>
          <a:blip r:embed="rId5"/>
          <a:stretch>
            <a:fillRect/>
          </a:stretch>
        </p:blipFill>
        <p:spPr>
          <a:xfrm>
            <a:off x="8386534" y="3044952"/>
            <a:ext cx="219456" cy="219456"/>
          </a:xfrm>
          <a:prstGeom prst="rect">
            <a:avLst/>
          </a:prstGeom>
        </p:spPr>
      </p:pic>
      <p:pic>
        <p:nvPicPr>
          <p:cNvPr id="37" name="Image 5" descr="preencoded.png">    </p:cNvPr>
          <p:cNvPicPr>
            <a:picLocks noChangeAspect="1"/>
          </p:cNvPicPr>
          <p:nvPr/>
        </p:nvPicPr>
        <p:blipFill>
          <a:blip r:embed="rId6"/>
          <a:stretch>
            <a:fillRect/>
          </a:stretch>
        </p:blipFill>
        <p:spPr>
          <a:xfrm>
            <a:off x="9285618" y="3044952"/>
            <a:ext cx="219456" cy="219456"/>
          </a:xfrm>
          <a:prstGeom prst="rect">
            <a:avLst/>
          </a:prstGeom>
        </p:spPr>
      </p:pic>
      <p:pic>
        <p:nvPicPr>
          <p:cNvPr id="38" name="Image 6" descr="preencoded.png">    </p:cNvPr>
          <p:cNvPicPr>
            <a:picLocks noChangeAspect="1"/>
          </p:cNvPicPr>
          <p:nvPr/>
        </p:nvPicPr>
        <p:blipFill>
          <a:blip r:embed="rId7"/>
          <a:stretch>
            <a:fillRect/>
          </a:stretch>
        </p:blipFill>
        <p:spPr>
          <a:xfrm>
            <a:off x="10184702" y="3044952"/>
            <a:ext cx="219456" cy="219456"/>
          </a:xfrm>
          <a:prstGeom prst="rect">
            <a:avLst/>
          </a:prstGeom>
        </p:spPr>
      </p:pic>
      <p:pic>
        <p:nvPicPr>
          <p:cNvPr id="39" name="Image 7" descr="preencoded.png">    </p:cNvPr>
          <p:cNvPicPr>
            <a:picLocks noChangeAspect="1"/>
          </p:cNvPicPr>
          <p:nvPr/>
        </p:nvPicPr>
        <p:blipFill>
          <a:blip r:embed="rId8"/>
          <a:stretch>
            <a:fillRect/>
          </a:stretch>
        </p:blipFill>
        <p:spPr>
          <a:xfrm>
            <a:off x="11083785" y="3044952"/>
            <a:ext cx="219456" cy="219456"/>
          </a:xfrm>
          <a:prstGeom prst="rect">
            <a:avLst/>
          </a:prstGeom>
        </p:spPr>
      </p:pic>
      <p:sp>
        <p:nvSpPr>
          <p:cNvPr id="40" name="Shape 30"/>
          <p:cNvSpPr/>
          <p:nvPr/>
        </p:nvSpPr>
        <p:spPr>
          <a:xfrm>
            <a:off x="5257800" y="3429000"/>
            <a:ext cx="5486171" cy="0"/>
          </a:xfrm>
          <a:prstGeom prst="line">
            <a:avLst/>
          </a:prstGeom>
          <a:noFill/>
          <a:ln w="12700">
            <a:solidFill>
              <a:srgbClr val="2C3440"/>
            </a:solidFill>
            <a:prstDash val="solid"/>
          </a:ln>
        </p:spPr>
      </p:sp>
      <p:sp>
        <p:nvSpPr>
          <p:cNvPr id="41" name="Text 31"/>
          <p:cNvSpPr txBox="1"/>
          <p:nvPr/>
        </p:nvSpPr>
        <p:spPr>
          <a:xfrm>
            <a:off x="5257800" y="3429000"/>
            <a:ext cx="2697480" cy="5486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ED queue &amp; handover in the estimate</a:t>
            </a:r>
            <a:endParaRPr lang="en-US" sz="1350" dirty="0"/>
          </a:p>
        </p:txBody>
      </p:sp>
      <p:pic>
        <p:nvPicPr>
          <p:cNvPr id="42" name="Image 8" descr="preencoded.png">    </p:cNvPr>
          <p:cNvPicPr>
            <a:picLocks noChangeAspect="1"/>
          </p:cNvPicPr>
          <p:nvPr/>
        </p:nvPicPr>
        <p:blipFill>
          <a:blip r:embed="rId9"/>
          <a:stretch>
            <a:fillRect/>
          </a:stretch>
        </p:blipFill>
        <p:spPr>
          <a:xfrm>
            <a:off x="8386534" y="3593592"/>
            <a:ext cx="219456" cy="219456"/>
          </a:xfrm>
          <a:prstGeom prst="rect">
            <a:avLst/>
          </a:prstGeom>
        </p:spPr>
      </p:pic>
      <p:pic>
        <p:nvPicPr>
          <p:cNvPr id="43" name="Image 9" descr="preencoded.png">    </p:cNvPr>
          <p:cNvPicPr>
            <a:picLocks noChangeAspect="1"/>
          </p:cNvPicPr>
          <p:nvPr/>
        </p:nvPicPr>
        <p:blipFill>
          <a:blip r:embed="rId10"/>
          <a:stretch>
            <a:fillRect/>
          </a:stretch>
        </p:blipFill>
        <p:spPr>
          <a:xfrm>
            <a:off x="9285618" y="3593592"/>
            <a:ext cx="219456" cy="219456"/>
          </a:xfrm>
          <a:prstGeom prst="rect">
            <a:avLst/>
          </a:prstGeom>
        </p:spPr>
      </p:pic>
      <p:pic>
        <p:nvPicPr>
          <p:cNvPr id="44" name="Image 10" descr="preencoded.png">    </p:cNvPr>
          <p:cNvPicPr>
            <a:picLocks noChangeAspect="1"/>
          </p:cNvPicPr>
          <p:nvPr/>
        </p:nvPicPr>
        <p:blipFill>
          <a:blip r:embed="rId11"/>
          <a:stretch>
            <a:fillRect/>
          </a:stretch>
        </p:blipFill>
        <p:spPr>
          <a:xfrm>
            <a:off x="10184702" y="3593592"/>
            <a:ext cx="219456" cy="219456"/>
          </a:xfrm>
          <a:prstGeom prst="rect">
            <a:avLst/>
          </a:prstGeom>
        </p:spPr>
      </p:pic>
      <p:pic>
        <p:nvPicPr>
          <p:cNvPr id="45" name="Image 11" descr="preencoded.png">    </p:cNvPr>
          <p:cNvPicPr>
            <a:picLocks noChangeAspect="1"/>
          </p:cNvPicPr>
          <p:nvPr/>
        </p:nvPicPr>
        <p:blipFill>
          <a:blip r:embed="rId12"/>
          <a:stretch>
            <a:fillRect/>
          </a:stretch>
        </p:blipFill>
        <p:spPr>
          <a:xfrm>
            <a:off x="11083785" y="3593592"/>
            <a:ext cx="219456" cy="219456"/>
          </a:xfrm>
          <a:prstGeom prst="rect">
            <a:avLst/>
          </a:prstGeom>
        </p:spPr>
      </p:pic>
      <p:sp>
        <p:nvSpPr>
          <p:cNvPr id="46" name="Shape 32"/>
          <p:cNvSpPr/>
          <p:nvPr/>
        </p:nvSpPr>
        <p:spPr>
          <a:xfrm>
            <a:off x="5257800" y="3977640"/>
            <a:ext cx="5486171" cy="0"/>
          </a:xfrm>
          <a:prstGeom prst="line">
            <a:avLst/>
          </a:prstGeom>
          <a:noFill/>
          <a:ln w="12700">
            <a:solidFill>
              <a:srgbClr val="2C3440"/>
            </a:solidFill>
            <a:prstDash val="solid"/>
          </a:ln>
        </p:spPr>
      </p:sp>
      <p:sp>
        <p:nvSpPr>
          <p:cNvPr id="47" name="Text 33"/>
          <p:cNvSpPr txBox="1"/>
          <p:nvPr/>
        </p:nvSpPr>
        <p:spPr>
          <a:xfrm>
            <a:off x="5257800" y="3977640"/>
            <a:ext cx="2697480" cy="5486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Explains the cause (multi-label)</a:t>
            </a:r>
            <a:endParaRPr lang="en-US" sz="1350" dirty="0"/>
          </a:p>
        </p:txBody>
      </p:sp>
      <p:pic>
        <p:nvPicPr>
          <p:cNvPr id="48" name="Image 12" descr="preencoded.png">    </p:cNvPr>
          <p:cNvPicPr>
            <a:picLocks noChangeAspect="1"/>
          </p:cNvPicPr>
          <p:nvPr/>
        </p:nvPicPr>
        <p:blipFill>
          <a:blip r:embed="rId13"/>
          <a:stretch>
            <a:fillRect/>
          </a:stretch>
        </p:blipFill>
        <p:spPr>
          <a:xfrm>
            <a:off x="8386534" y="4142232"/>
            <a:ext cx="219456" cy="219456"/>
          </a:xfrm>
          <a:prstGeom prst="rect">
            <a:avLst/>
          </a:prstGeom>
        </p:spPr>
      </p:pic>
      <p:pic>
        <p:nvPicPr>
          <p:cNvPr id="49" name="Image 13" descr="preencoded.png">    </p:cNvPr>
          <p:cNvPicPr>
            <a:picLocks noChangeAspect="1"/>
          </p:cNvPicPr>
          <p:nvPr/>
        </p:nvPicPr>
        <p:blipFill>
          <a:blip r:embed="rId14"/>
          <a:stretch>
            <a:fillRect/>
          </a:stretch>
        </p:blipFill>
        <p:spPr>
          <a:xfrm>
            <a:off x="9285618" y="4142232"/>
            <a:ext cx="219456" cy="219456"/>
          </a:xfrm>
          <a:prstGeom prst="rect">
            <a:avLst/>
          </a:prstGeom>
        </p:spPr>
      </p:pic>
      <p:pic>
        <p:nvPicPr>
          <p:cNvPr id="50" name="Image 14" descr="preencoded.png">    </p:cNvPr>
          <p:cNvPicPr>
            <a:picLocks noChangeAspect="1"/>
          </p:cNvPicPr>
          <p:nvPr/>
        </p:nvPicPr>
        <p:blipFill>
          <a:blip r:embed="rId15"/>
          <a:stretch>
            <a:fillRect/>
          </a:stretch>
        </p:blipFill>
        <p:spPr>
          <a:xfrm>
            <a:off x="10184702" y="4142232"/>
            <a:ext cx="219456" cy="219456"/>
          </a:xfrm>
          <a:prstGeom prst="rect">
            <a:avLst/>
          </a:prstGeom>
        </p:spPr>
      </p:pic>
      <p:pic>
        <p:nvPicPr>
          <p:cNvPr id="51" name="Image 15" descr="preencoded.png">    </p:cNvPr>
          <p:cNvPicPr>
            <a:picLocks noChangeAspect="1"/>
          </p:cNvPicPr>
          <p:nvPr/>
        </p:nvPicPr>
        <p:blipFill>
          <a:blip r:embed="rId16"/>
          <a:stretch>
            <a:fillRect/>
          </a:stretch>
        </p:blipFill>
        <p:spPr>
          <a:xfrm>
            <a:off x="11083785" y="4142232"/>
            <a:ext cx="219456" cy="219456"/>
          </a:xfrm>
          <a:prstGeom prst="rect">
            <a:avLst/>
          </a:prstGeom>
        </p:spPr>
      </p:pic>
      <p:sp>
        <p:nvSpPr>
          <p:cNvPr id="52" name="Shape 34"/>
          <p:cNvSpPr/>
          <p:nvPr/>
        </p:nvSpPr>
        <p:spPr>
          <a:xfrm>
            <a:off x="5257800" y="4526280"/>
            <a:ext cx="5486171" cy="0"/>
          </a:xfrm>
          <a:prstGeom prst="line">
            <a:avLst/>
          </a:prstGeom>
          <a:noFill/>
          <a:ln w="12700">
            <a:solidFill>
              <a:srgbClr val="2C3440"/>
            </a:solidFill>
            <a:prstDash val="solid"/>
          </a:ln>
        </p:spPr>
      </p:sp>
      <p:sp>
        <p:nvSpPr>
          <p:cNvPr id="53" name="Text 35"/>
          <p:cNvSpPr txBox="1"/>
          <p:nvPr/>
        </p:nvSpPr>
        <p:spPr>
          <a:xfrm>
            <a:off x="5257800" y="4526280"/>
            <a:ext cx="2697480" cy="5486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What-if route alternatives</a:t>
            </a:r>
            <a:endParaRPr lang="en-US" sz="1350" dirty="0"/>
          </a:p>
        </p:txBody>
      </p:sp>
      <p:pic>
        <p:nvPicPr>
          <p:cNvPr id="54" name="Image 16" descr="preencoded.png">    </p:cNvPr>
          <p:cNvPicPr>
            <a:picLocks noChangeAspect="1"/>
          </p:cNvPicPr>
          <p:nvPr/>
        </p:nvPicPr>
        <p:blipFill>
          <a:blip r:embed="rId17"/>
          <a:stretch>
            <a:fillRect/>
          </a:stretch>
        </p:blipFill>
        <p:spPr>
          <a:xfrm>
            <a:off x="8386534" y="4690872"/>
            <a:ext cx="219456" cy="219456"/>
          </a:xfrm>
          <a:prstGeom prst="rect">
            <a:avLst/>
          </a:prstGeom>
        </p:spPr>
      </p:pic>
      <p:pic>
        <p:nvPicPr>
          <p:cNvPr id="55" name="Image 17" descr="preencoded.png">    </p:cNvPr>
          <p:cNvPicPr>
            <a:picLocks noChangeAspect="1"/>
          </p:cNvPicPr>
          <p:nvPr/>
        </p:nvPicPr>
        <p:blipFill>
          <a:blip r:embed="rId18"/>
          <a:stretch>
            <a:fillRect/>
          </a:stretch>
        </p:blipFill>
        <p:spPr>
          <a:xfrm>
            <a:off x="9285618" y="4690872"/>
            <a:ext cx="219456" cy="219456"/>
          </a:xfrm>
          <a:prstGeom prst="rect">
            <a:avLst/>
          </a:prstGeom>
        </p:spPr>
      </p:pic>
      <p:pic>
        <p:nvPicPr>
          <p:cNvPr id="56" name="Image 18" descr="preencoded.png">    </p:cNvPr>
          <p:cNvPicPr>
            <a:picLocks noChangeAspect="1"/>
          </p:cNvPicPr>
          <p:nvPr/>
        </p:nvPicPr>
        <p:blipFill>
          <a:blip r:embed="rId19"/>
          <a:stretch>
            <a:fillRect/>
          </a:stretch>
        </p:blipFill>
        <p:spPr>
          <a:xfrm>
            <a:off x="10184702" y="4690872"/>
            <a:ext cx="219456" cy="219456"/>
          </a:xfrm>
          <a:prstGeom prst="rect">
            <a:avLst/>
          </a:prstGeom>
        </p:spPr>
      </p:pic>
      <p:pic>
        <p:nvPicPr>
          <p:cNvPr id="57" name="Image 19" descr="preencoded.png">    </p:cNvPr>
          <p:cNvPicPr>
            <a:picLocks noChangeAspect="1"/>
          </p:cNvPicPr>
          <p:nvPr/>
        </p:nvPicPr>
        <p:blipFill>
          <a:blip r:embed="rId20"/>
          <a:stretch>
            <a:fillRect/>
          </a:stretch>
        </p:blipFill>
        <p:spPr>
          <a:xfrm>
            <a:off x="11083785" y="4690872"/>
            <a:ext cx="219456" cy="219456"/>
          </a:xfrm>
          <a:prstGeom prst="rect">
            <a:avLst/>
          </a:prstGeom>
        </p:spPr>
      </p:pic>
      <p:sp>
        <p:nvSpPr>
          <p:cNvPr id="58" name="Shape 36"/>
          <p:cNvSpPr/>
          <p:nvPr/>
        </p:nvSpPr>
        <p:spPr>
          <a:xfrm>
            <a:off x="5257800" y="5074920"/>
            <a:ext cx="5486171" cy="0"/>
          </a:xfrm>
          <a:prstGeom prst="line">
            <a:avLst/>
          </a:prstGeom>
          <a:noFill/>
          <a:ln w="12700">
            <a:solidFill>
              <a:srgbClr val="2C3440"/>
            </a:solidFill>
            <a:prstDash val="solid"/>
          </a:ln>
        </p:spPr>
      </p:sp>
      <p:sp>
        <p:nvSpPr>
          <p:cNvPr id="59" name="Text 37"/>
          <p:cNvSpPr txBox="1"/>
          <p:nvPr/>
        </p:nvSpPr>
        <p:spPr>
          <a:xfrm>
            <a:off x="5257800" y="5074920"/>
            <a:ext cx="2697480" cy="5486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Clinically constrained hospital choice</a:t>
            </a:r>
            <a:endParaRPr lang="en-US" sz="1350" dirty="0"/>
          </a:p>
        </p:txBody>
      </p:sp>
      <p:pic>
        <p:nvPicPr>
          <p:cNvPr id="60" name="Image 20" descr="preencoded.png">    </p:cNvPr>
          <p:cNvPicPr>
            <a:picLocks noChangeAspect="1"/>
          </p:cNvPicPr>
          <p:nvPr/>
        </p:nvPicPr>
        <p:blipFill>
          <a:blip r:embed="rId21"/>
          <a:stretch>
            <a:fillRect/>
          </a:stretch>
        </p:blipFill>
        <p:spPr>
          <a:xfrm>
            <a:off x="8386534" y="5239512"/>
            <a:ext cx="219456" cy="219456"/>
          </a:xfrm>
          <a:prstGeom prst="rect">
            <a:avLst/>
          </a:prstGeom>
        </p:spPr>
      </p:pic>
      <p:pic>
        <p:nvPicPr>
          <p:cNvPr id="61" name="Image 21" descr="preencoded.png">    </p:cNvPr>
          <p:cNvPicPr>
            <a:picLocks noChangeAspect="1"/>
          </p:cNvPicPr>
          <p:nvPr/>
        </p:nvPicPr>
        <p:blipFill>
          <a:blip r:embed="rId22"/>
          <a:stretch>
            <a:fillRect/>
          </a:stretch>
        </p:blipFill>
        <p:spPr>
          <a:xfrm>
            <a:off x="9285618" y="5239512"/>
            <a:ext cx="219456" cy="219456"/>
          </a:xfrm>
          <a:prstGeom prst="rect">
            <a:avLst/>
          </a:prstGeom>
        </p:spPr>
      </p:pic>
      <p:pic>
        <p:nvPicPr>
          <p:cNvPr id="62" name="Image 22" descr="preencoded.png">    </p:cNvPr>
          <p:cNvPicPr>
            <a:picLocks noChangeAspect="1"/>
          </p:cNvPicPr>
          <p:nvPr/>
        </p:nvPicPr>
        <p:blipFill>
          <a:blip r:embed="rId23"/>
          <a:stretch>
            <a:fillRect/>
          </a:stretch>
        </p:blipFill>
        <p:spPr>
          <a:xfrm>
            <a:off x="10184702" y="5239512"/>
            <a:ext cx="219456" cy="219456"/>
          </a:xfrm>
          <a:prstGeom prst="rect">
            <a:avLst/>
          </a:prstGeom>
        </p:spPr>
      </p:pic>
      <p:pic>
        <p:nvPicPr>
          <p:cNvPr id="63" name="Image 23" descr="preencoded.png">    </p:cNvPr>
          <p:cNvPicPr>
            <a:picLocks noChangeAspect="1"/>
          </p:cNvPicPr>
          <p:nvPr/>
        </p:nvPicPr>
        <p:blipFill>
          <a:blip r:embed="rId24"/>
          <a:stretch>
            <a:fillRect/>
          </a:stretch>
        </p:blipFill>
        <p:spPr>
          <a:xfrm>
            <a:off x="11083785" y="5239512"/>
            <a:ext cx="219456" cy="219456"/>
          </a:xfrm>
          <a:prstGeom prst="rect">
            <a:avLst/>
          </a:prstGeom>
        </p:spPr>
      </p:pic>
      <p:pic>
        <p:nvPicPr>
          <p:cNvPr id="64" name="Image 24" descr="preencoded.png">    </p:cNvPr>
          <p:cNvPicPr>
            <a:picLocks noChangeAspect="1"/>
          </p:cNvPicPr>
          <p:nvPr/>
        </p:nvPicPr>
        <p:blipFill>
          <a:blip r:embed="rId25"/>
          <a:stretch>
            <a:fillRect/>
          </a:stretch>
        </p:blipFill>
        <p:spPr>
          <a:xfrm>
            <a:off x="5257800" y="6071616"/>
            <a:ext cx="164592" cy="164592"/>
          </a:xfrm>
          <a:prstGeom prst="rect">
            <a:avLst/>
          </a:prstGeom>
        </p:spPr>
      </p:pic>
      <p:sp>
        <p:nvSpPr>
          <p:cNvPr id="65" name="Text 38"/>
          <p:cNvSpPr txBox="1"/>
          <p:nvPr/>
        </p:nvSpPr>
        <p:spPr>
          <a:xfrm>
            <a:off x="5513832" y="6035040"/>
            <a:ext cx="822960" cy="237744"/>
          </a:xfrm>
          <a:prstGeom prst="rect">
            <a:avLst/>
          </a:prstGeom>
          <a:noFill/>
          <a:ln/>
        </p:spPr>
        <p:txBody>
          <a:bodyPr wrap="square" lIns="0" tIns="0" rIns="0" bIns="0" rtlCol="0" anchor="ctr"/>
          <a:lstStyle/>
          <a:p>
            <a:pPr indent="0" marL="0">
              <a:buNone/>
            </a:pPr>
            <a:r>
              <a:rPr lang="en-US" sz="1100" dirty="0">
                <a:solidFill>
                  <a:srgbClr val="9DA7B3"/>
                </a:solidFill>
                <a:latin typeface="Calibri" pitchFamily="34" charset="0"/>
                <a:ea typeface="Calibri" pitchFamily="34" charset="-122"/>
                <a:cs typeface="Calibri" pitchFamily="34" charset="-120"/>
              </a:rPr>
              <a:t>Yes</a:t>
            </a:r>
            <a:endParaRPr lang="en-US" sz="1100" dirty="0"/>
          </a:p>
        </p:txBody>
      </p:sp>
      <p:pic>
        <p:nvPicPr>
          <p:cNvPr id="66" name="Image 25" descr="preencoded.png">    </p:cNvPr>
          <p:cNvPicPr>
            <a:picLocks noChangeAspect="1"/>
          </p:cNvPicPr>
          <p:nvPr/>
        </p:nvPicPr>
        <p:blipFill>
          <a:blip r:embed="rId26"/>
          <a:stretch>
            <a:fillRect/>
          </a:stretch>
        </p:blipFill>
        <p:spPr>
          <a:xfrm>
            <a:off x="6446520" y="6071616"/>
            <a:ext cx="164592" cy="164592"/>
          </a:xfrm>
          <a:prstGeom prst="rect">
            <a:avLst/>
          </a:prstGeom>
        </p:spPr>
      </p:pic>
      <p:sp>
        <p:nvSpPr>
          <p:cNvPr id="67" name="Text 39"/>
          <p:cNvSpPr txBox="1"/>
          <p:nvPr/>
        </p:nvSpPr>
        <p:spPr>
          <a:xfrm>
            <a:off x="6702552" y="6035040"/>
            <a:ext cx="822960" cy="237744"/>
          </a:xfrm>
          <a:prstGeom prst="rect">
            <a:avLst/>
          </a:prstGeom>
          <a:noFill/>
          <a:ln/>
        </p:spPr>
        <p:txBody>
          <a:bodyPr wrap="square" lIns="0" tIns="0" rIns="0" bIns="0" rtlCol="0" anchor="ctr"/>
          <a:lstStyle/>
          <a:p>
            <a:pPr indent="0" marL="0">
              <a:buNone/>
            </a:pPr>
            <a:r>
              <a:rPr lang="en-US" sz="1100" dirty="0">
                <a:solidFill>
                  <a:srgbClr val="9DA7B3"/>
                </a:solidFill>
                <a:latin typeface="Calibri" pitchFamily="34" charset="0"/>
                <a:ea typeface="Calibri" pitchFamily="34" charset="-122"/>
                <a:cs typeface="Calibri" pitchFamily="34" charset="-120"/>
              </a:rPr>
              <a:t>Partial</a:t>
            </a:r>
            <a:endParaRPr lang="en-US" sz="1100" dirty="0"/>
          </a:p>
        </p:txBody>
      </p:sp>
      <p:pic>
        <p:nvPicPr>
          <p:cNvPr id="68" name="Image 26" descr="preencoded.png">    </p:cNvPr>
          <p:cNvPicPr>
            <a:picLocks noChangeAspect="1"/>
          </p:cNvPicPr>
          <p:nvPr/>
        </p:nvPicPr>
        <p:blipFill>
          <a:blip r:embed="rId27"/>
          <a:stretch>
            <a:fillRect/>
          </a:stretch>
        </p:blipFill>
        <p:spPr>
          <a:xfrm>
            <a:off x="7635240" y="6071616"/>
            <a:ext cx="164592" cy="164592"/>
          </a:xfrm>
          <a:prstGeom prst="rect">
            <a:avLst/>
          </a:prstGeom>
        </p:spPr>
      </p:pic>
      <p:sp>
        <p:nvSpPr>
          <p:cNvPr id="69" name="Text 40"/>
          <p:cNvSpPr txBox="1"/>
          <p:nvPr/>
        </p:nvSpPr>
        <p:spPr>
          <a:xfrm>
            <a:off x="7891272" y="6035040"/>
            <a:ext cx="822960" cy="237744"/>
          </a:xfrm>
          <a:prstGeom prst="rect">
            <a:avLst/>
          </a:prstGeom>
          <a:noFill/>
          <a:ln/>
        </p:spPr>
        <p:txBody>
          <a:bodyPr wrap="square" lIns="0" tIns="0" rIns="0" bIns="0" rtlCol="0" anchor="ctr"/>
          <a:lstStyle/>
          <a:p>
            <a:pPr indent="0" marL="0">
              <a:buNone/>
            </a:pPr>
            <a:r>
              <a:rPr lang="en-US" sz="1100" dirty="0">
                <a:solidFill>
                  <a:srgbClr val="9DA7B3"/>
                </a:solidFill>
                <a:latin typeface="Calibri" pitchFamily="34" charset="0"/>
                <a:ea typeface="Calibri" pitchFamily="34" charset="-122"/>
                <a:cs typeface="Calibri" pitchFamily="34" charset="-120"/>
              </a:rPr>
              <a:t>No</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109728" cy="109728"/>
          </a:xfrm>
          <a:prstGeom prst="ellipse">
            <a:avLst/>
          </a:prstGeom>
          <a:solidFill>
            <a:srgbClr val="2FA36B"/>
          </a:solidFill>
          <a:ln w="12700">
            <a:solidFill>
              <a:srgbClr val="2FA36B"/>
            </a:solidFill>
            <a:prstDash val="solid"/>
          </a:ln>
        </p:spPr>
      </p:sp>
      <p:sp>
        <p:nvSpPr>
          <p:cNvPr id="3" name="Shape 1"/>
          <p:cNvSpPr/>
          <p:nvPr/>
        </p:nvSpPr>
        <p:spPr>
          <a:xfrm>
            <a:off x="722376" y="457200"/>
            <a:ext cx="109728" cy="109728"/>
          </a:xfrm>
          <a:prstGeom prst="ellipse">
            <a:avLst/>
          </a:prstGeom>
          <a:solidFill>
            <a:srgbClr val="F2A52B"/>
          </a:solidFill>
          <a:ln w="12700">
            <a:solidFill>
              <a:srgbClr val="F2A52B"/>
            </a:solidFill>
            <a:prstDash val="solid"/>
          </a:ln>
        </p:spPr>
      </p:sp>
      <p:sp>
        <p:nvSpPr>
          <p:cNvPr id="4" name="Shape 2"/>
          <p:cNvSpPr/>
          <p:nvPr/>
        </p:nvSpPr>
        <p:spPr>
          <a:xfrm>
            <a:off x="896112" y="457200"/>
            <a:ext cx="109728" cy="109728"/>
          </a:xfrm>
          <a:prstGeom prst="ellipse">
            <a:avLst/>
          </a:prstGeom>
          <a:solidFill>
            <a:srgbClr val="E03E3E"/>
          </a:solidFill>
          <a:ln w="12700">
            <a:solidFill>
              <a:srgbClr val="E03E3E"/>
            </a:solidFill>
            <a:prstDash val="solid"/>
          </a:ln>
        </p:spPr>
      </p:sp>
      <p:sp>
        <p:nvSpPr>
          <p:cNvPr id="5" name="Text 3"/>
          <p:cNvSpPr txBox="1"/>
          <p:nvPr/>
        </p:nvSpPr>
        <p:spPr>
          <a:xfrm>
            <a:off x="1170432" y="393192"/>
            <a:ext cx="7315200" cy="237744"/>
          </a:xfrm>
          <a:prstGeom prst="rect">
            <a:avLst/>
          </a:prstGeom>
          <a:noFill/>
          <a:ln/>
        </p:spPr>
        <p:txBody>
          <a:bodyPr wrap="square" lIns="0" tIns="0" rIns="0" bIns="0" rtlCol="0" anchor="ctr"/>
          <a:lstStyle/>
          <a:p>
            <a:pPr indent="0" marL="0">
              <a:buNone/>
            </a:pPr>
            <a:r>
              <a:rPr lang="en-US" sz="1100" b="1" spc="200" kern="0" dirty="0">
                <a:solidFill>
                  <a:srgbClr val="5E6875"/>
                </a:solidFill>
                <a:latin typeface="Arial" pitchFamily="34" charset="0"/>
                <a:ea typeface="Arial" pitchFamily="34" charset="-122"/>
                <a:cs typeface="Arial" pitchFamily="34" charset="-120"/>
              </a:rPr>
              <a:t>BASIC IMPLEMENTATION APPROACH</a:t>
            </a:r>
            <a:endParaRPr lang="en-US" sz="1100" dirty="0"/>
          </a:p>
        </p:txBody>
      </p:sp>
      <p:sp>
        <p:nvSpPr>
          <p:cNvPr id="6" name="Text 4"/>
          <p:cNvSpPr txBox="1"/>
          <p:nvPr/>
        </p:nvSpPr>
        <p:spPr>
          <a:xfrm>
            <a:off x="10728655" y="6400800"/>
            <a:ext cx="914400" cy="228600"/>
          </a:xfrm>
          <a:prstGeom prst="rect">
            <a:avLst/>
          </a:prstGeom>
          <a:noFill/>
          <a:ln/>
        </p:spPr>
        <p:txBody>
          <a:bodyPr wrap="square" lIns="0" tIns="0" rIns="0" bIns="0" rtlCol="0" anchor="ctr"/>
          <a:lstStyle/>
          <a:p>
            <a:pPr algn="r" indent="0" marL="0">
              <a:buNone/>
            </a:pPr>
            <a:r>
              <a:rPr lang="en-US" sz="1000" dirty="0">
                <a:solidFill>
                  <a:srgbClr val="5E6875"/>
                </a:solidFill>
                <a:latin typeface="Calibri" pitchFamily="34" charset="0"/>
                <a:ea typeface="Calibri" pitchFamily="34" charset="-122"/>
                <a:cs typeface="Calibri" pitchFamily="34" charset="-120"/>
              </a:rPr>
              <a:t>08</a:t>
            </a:r>
            <a:endParaRPr lang="en-US" sz="1000" dirty="0"/>
          </a:p>
        </p:txBody>
      </p:sp>
      <p:sp>
        <p:nvSpPr>
          <p:cNvPr id="7" name="Text 5"/>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200" b="1" dirty="0">
                <a:solidFill>
                  <a:srgbClr val="1B1F24"/>
                </a:solidFill>
                <a:latin typeface="Arial" pitchFamily="34" charset="0"/>
                <a:ea typeface="Arial" pitchFamily="34" charset="-122"/>
                <a:cs typeface="Arial" pitchFamily="34" charset="-120"/>
              </a:rPr>
              <a:t>Hackathon MVP: open data, proven tools</a:t>
            </a:r>
            <a:endParaRPr lang="en-US" sz="3200" dirty="0"/>
          </a:p>
        </p:txBody>
      </p:sp>
      <p:sp>
        <p:nvSpPr>
          <p:cNvPr id="8" name="Shape 6"/>
          <p:cNvSpPr/>
          <p:nvPr/>
        </p:nvSpPr>
        <p:spPr>
          <a:xfrm>
            <a:off x="548640" y="1737360"/>
            <a:ext cx="1940905" cy="1691640"/>
          </a:xfrm>
          <a:prstGeom prst="roundRect">
            <a:avLst>
              <a:gd name="adj" fmla="val 4324"/>
            </a:avLst>
          </a:prstGeom>
          <a:solidFill>
            <a:srgbClr val="F3F5F7"/>
          </a:solidFill>
          <a:ln w="12700">
            <a:solidFill>
              <a:srgbClr val="F3F5F7"/>
            </a:solidFill>
            <a:prstDash val="solid"/>
          </a:ln>
        </p:spPr>
      </p:sp>
      <p:sp>
        <p:nvSpPr>
          <p:cNvPr id="9" name="Text 7"/>
          <p:cNvSpPr txBox="1"/>
          <p:nvPr/>
        </p:nvSpPr>
        <p:spPr>
          <a:xfrm>
            <a:off x="731520" y="1874520"/>
            <a:ext cx="1575145" cy="201168"/>
          </a:xfrm>
          <a:prstGeom prst="rect">
            <a:avLst/>
          </a:prstGeom>
          <a:noFill/>
          <a:ln/>
        </p:spPr>
        <p:txBody>
          <a:bodyPr wrap="square" lIns="0" tIns="0" rIns="0" bIns="0" rtlCol="0" anchor="ctr"/>
          <a:lstStyle/>
          <a:p>
            <a:pPr indent="0" marL="0">
              <a:buNone/>
            </a:pPr>
            <a:r>
              <a:rPr lang="en-US" sz="950" b="1" spc="200" kern="0" dirty="0">
                <a:solidFill>
                  <a:srgbClr val="E03E3E"/>
                </a:solidFill>
                <a:latin typeface="Arial" pitchFamily="34" charset="0"/>
                <a:ea typeface="Arial" pitchFamily="34" charset="-122"/>
                <a:cs typeface="Arial" pitchFamily="34" charset="-120"/>
              </a:rPr>
              <a:t>DATA</a:t>
            </a:r>
            <a:endParaRPr lang="en-US" sz="950" dirty="0"/>
          </a:p>
        </p:txBody>
      </p:sp>
      <p:sp>
        <p:nvSpPr>
          <p:cNvPr id="10" name="Text 8"/>
          <p:cNvSpPr txBox="1"/>
          <p:nvPr/>
        </p:nvSpPr>
        <p:spPr>
          <a:xfrm>
            <a:off x="731520" y="2084832"/>
            <a:ext cx="1575145" cy="292608"/>
          </a:xfrm>
          <a:prstGeom prst="rect">
            <a:avLst/>
          </a:prstGeom>
          <a:noFill/>
          <a:ln/>
        </p:spPr>
        <p:txBody>
          <a:bodyPr wrap="square" lIns="0" tIns="0" rIns="0" bIns="0" rtlCol="0" anchor="ctr"/>
          <a:lstStyle/>
          <a:p>
            <a:pPr indent="0" marL="0">
              <a:buNone/>
            </a:pPr>
            <a:r>
              <a:rPr lang="en-US" sz="1400" b="1" dirty="0">
                <a:solidFill>
                  <a:srgbClr val="1B1F24"/>
                </a:solidFill>
                <a:latin typeface="Arial" pitchFamily="34" charset="0"/>
                <a:ea typeface="Arial" pitchFamily="34" charset="-122"/>
                <a:cs typeface="Arial" pitchFamily="34" charset="-120"/>
              </a:rPr>
              <a:t>Sources</a:t>
            </a:r>
            <a:endParaRPr lang="en-US" sz="1400" dirty="0"/>
          </a:p>
        </p:txBody>
      </p:sp>
      <p:sp>
        <p:nvSpPr>
          <p:cNvPr id="11" name="Text 9"/>
          <p:cNvSpPr txBox="1"/>
          <p:nvPr/>
        </p:nvSpPr>
        <p:spPr>
          <a:xfrm>
            <a:off x="731520" y="2414016"/>
            <a:ext cx="1620865" cy="960120"/>
          </a:xfrm>
          <a:prstGeom prst="rect">
            <a:avLst/>
          </a:prstGeom>
          <a:noFill/>
          <a:ln/>
        </p:spPr>
        <p:txBody>
          <a:bodyPr wrap="square" lIns="0" tIns="0" rIns="0" bIns="0" rtlCol="0" anchor="t"/>
          <a:lstStyle/>
          <a:p>
            <a:pPr indent="0" marL="0">
              <a:buNone/>
            </a:pPr>
            <a:r>
              <a:rPr lang="en-US" sz="1150" dirty="0">
                <a:solidFill>
                  <a:srgbClr val="5E6875"/>
                </a:solidFill>
                <a:latin typeface="Calibri" pitchFamily="34" charset="0"/>
                <a:ea typeface="Calibri" pitchFamily="34" charset="-122"/>
                <a:cs typeface="Calibri" pitchFamily="34" charset="-120"/>
              </a:rPr>
              <a:t>OSM road graph, historical or simulated ambulance traces, live weather API, synthetic ED congestion, event injection</a:t>
            </a:r>
            <a:endParaRPr lang="en-US" sz="1150" dirty="0"/>
          </a:p>
        </p:txBody>
      </p:sp>
      <p:sp>
        <p:nvSpPr>
          <p:cNvPr id="12" name="Shape 10"/>
          <p:cNvSpPr/>
          <p:nvPr/>
        </p:nvSpPr>
        <p:spPr>
          <a:xfrm>
            <a:off x="2580985" y="2468880"/>
            <a:ext cx="164592" cy="219456"/>
          </a:xfrm>
          <a:prstGeom prst="rightArrow">
            <a:avLst/>
          </a:prstGeom>
          <a:solidFill>
            <a:srgbClr val="9AA4B1"/>
          </a:solidFill>
          <a:ln w="12700">
            <a:solidFill>
              <a:srgbClr val="9AA4B1"/>
            </a:solidFill>
            <a:prstDash val="solid"/>
          </a:ln>
        </p:spPr>
      </p:sp>
      <p:sp>
        <p:nvSpPr>
          <p:cNvPr id="13" name="Shape 11"/>
          <p:cNvSpPr/>
          <p:nvPr/>
        </p:nvSpPr>
        <p:spPr>
          <a:xfrm>
            <a:off x="2837017" y="1737360"/>
            <a:ext cx="1940905" cy="1691640"/>
          </a:xfrm>
          <a:prstGeom prst="roundRect">
            <a:avLst>
              <a:gd name="adj" fmla="val 4324"/>
            </a:avLst>
          </a:prstGeom>
          <a:solidFill>
            <a:srgbClr val="F3F5F7"/>
          </a:solidFill>
          <a:ln w="12700">
            <a:solidFill>
              <a:srgbClr val="F3F5F7"/>
            </a:solidFill>
            <a:prstDash val="solid"/>
          </a:ln>
        </p:spPr>
      </p:sp>
      <p:sp>
        <p:nvSpPr>
          <p:cNvPr id="14" name="Text 12"/>
          <p:cNvSpPr txBox="1"/>
          <p:nvPr/>
        </p:nvSpPr>
        <p:spPr>
          <a:xfrm>
            <a:off x="3019897" y="1874520"/>
            <a:ext cx="1575145" cy="201168"/>
          </a:xfrm>
          <a:prstGeom prst="rect">
            <a:avLst/>
          </a:prstGeom>
          <a:noFill/>
          <a:ln/>
        </p:spPr>
        <p:txBody>
          <a:bodyPr wrap="square" lIns="0" tIns="0" rIns="0" bIns="0" rtlCol="0" anchor="ctr"/>
          <a:lstStyle/>
          <a:p>
            <a:pPr indent="0" marL="0">
              <a:buNone/>
            </a:pPr>
            <a:r>
              <a:rPr lang="en-US" sz="950" b="1" spc="200" kern="0" dirty="0">
                <a:solidFill>
                  <a:srgbClr val="E03E3E"/>
                </a:solidFill>
                <a:latin typeface="Arial" pitchFamily="34" charset="0"/>
                <a:ea typeface="Arial" pitchFamily="34" charset="-122"/>
                <a:cs typeface="Arial" pitchFamily="34" charset="-120"/>
              </a:rPr>
              <a:t>INGEST</a:t>
            </a:r>
            <a:endParaRPr lang="en-US" sz="950" dirty="0"/>
          </a:p>
        </p:txBody>
      </p:sp>
      <p:sp>
        <p:nvSpPr>
          <p:cNvPr id="15" name="Text 13"/>
          <p:cNvSpPr txBox="1"/>
          <p:nvPr/>
        </p:nvSpPr>
        <p:spPr>
          <a:xfrm>
            <a:off x="3019897" y="2084832"/>
            <a:ext cx="1575145" cy="292608"/>
          </a:xfrm>
          <a:prstGeom prst="rect">
            <a:avLst/>
          </a:prstGeom>
          <a:noFill/>
          <a:ln/>
        </p:spPr>
        <p:txBody>
          <a:bodyPr wrap="square" lIns="0" tIns="0" rIns="0" bIns="0" rtlCol="0" anchor="ctr"/>
          <a:lstStyle/>
          <a:p>
            <a:pPr indent="0" marL="0">
              <a:buNone/>
            </a:pPr>
            <a:r>
              <a:rPr lang="en-US" sz="1400" b="1" dirty="0">
                <a:solidFill>
                  <a:srgbClr val="1B1F24"/>
                </a:solidFill>
                <a:latin typeface="Arial" pitchFamily="34" charset="0"/>
                <a:ea typeface="Arial" pitchFamily="34" charset="-122"/>
                <a:cs typeface="Arial" pitchFamily="34" charset="-120"/>
              </a:rPr>
              <a:t>Streaming</a:t>
            </a:r>
            <a:endParaRPr lang="en-US" sz="1400" dirty="0"/>
          </a:p>
        </p:txBody>
      </p:sp>
      <p:sp>
        <p:nvSpPr>
          <p:cNvPr id="16" name="Text 14"/>
          <p:cNvSpPr txBox="1"/>
          <p:nvPr/>
        </p:nvSpPr>
        <p:spPr>
          <a:xfrm>
            <a:off x="3019897" y="2414016"/>
            <a:ext cx="1620865" cy="960120"/>
          </a:xfrm>
          <a:prstGeom prst="rect">
            <a:avLst/>
          </a:prstGeom>
          <a:noFill/>
          <a:ln/>
        </p:spPr>
        <p:txBody>
          <a:bodyPr wrap="square" lIns="0" tIns="0" rIns="0" bIns="0" rtlCol="0" anchor="t"/>
          <a:lstStyle/>
          <a:p>
            <a:pPr indent="0" marL="0">
              <a:buNone/>
            </a:pPr>
            <a:r>
              <a:rPr lang="en-US" sz="1150" dirty="0">
                <a:solidFill>
                  <a:srgbClr val="5E6875"/>
                </a:solidFill>
                <a:latin typeface="Calibri" pitchFamily="34" charset="0"/>
                <a:ea typeface="Calibri" pitchFamily="34" charset="-122"/>
                <a:cs typeface="Calibri" pitchFamily="34" charset="-120"/>
              </a:rPr>
              <a:t>MQTT from vehicle to Kafka; GPS smoothing and OSRM map matching</a:t>
            </a:r>
            <a:endParaRPr lang="en-US" sz="1150" dirty="0"/>
          </a:p>
        </p:txBody>
      </p:sp>
      <p:sp>
        <p:nvSpPr>
          <p:cNvPr id="17" name="Shape 15"/>
          <p:cNvSpPr/>
          <p:nvPr/>
        </p:nvSpPr>
        <p:spPr>
          <a:xfrm>
            <a:off x="4869363" y="2468880"/>
            <a:ext cx="164592" cy="219456"/>
          </a:xfrm>
          <a:prstGeom prst="rightArrow">
            <a:avLst/>
          </a:prstGeom>
          <a:solidFill>
            <a:srgbClr val="9AA4B1"/>
          </a:solidFill>
          <a:ln w="12700">
            <a:solidFill>
              <a:srgbClr val="9AA4B1"/>
            </a:solidFill>
            <a:prstDash val="solid"/>
          </a:ln>
        </p:spPr>
      </p:sp>
      <p:sp>
        <p:nvSpPr>
          <p:cNvPr id="18" name="Shape 16"/>
          <p:cNvSpPr/>
          <p:nvPr/>
        </p:nvSpPr>
        <p:spPr>
          <a:xfrm>
            <a:off x="5125395" y="1737360"/>
            <a:ext cx="1940905" cy="1691640"/>
          </a:xfrm>
          <a:prstGeom prst="roundRect">
            <a:avLst>
              <a:gd name="adj" fmla="val 4324"/>
            </a:avLst>
          </a:prstGeom>
          <a:solidFill>
            <a:srgbClr val="F3F5F7"/>
          </a:solidFill>
          <a:ln w="12700">
            <a:solidFill>
              <a:srgbClr val="F3F5F7"/>
            </a:solidFill>
            <a:prstDash val="solid"/>
          </a:ln>
        </p:spPr>
      </p:sp>
      <p:sp>
        <p:nvSpPr>
          <p:cNvPr id="19" name="Text 17"/>
          <p:cNvSpPr txBox="1"/>
          <p:nvPr/>
        </p:nvSpPr>
        <p:spPr>
          <a:xfrm>
            <a:off x="5308275" y="1874520"/>
            <a:ext cx="1575145" cy="201168"/>
          </a:xfrm>
          <a:prstGeom prst="rect">
            <a:avLst/>
          </a:prstGeom>
          <a:noFill/>
          <a:ln/>
        </p:spPr>
        <p:txBody>
          <a:bodyPr wrap="square" lIns="0" tIns="0" rIns="0" bIns="0" rtlCol="0" anchor="ctr"/>
          <a:lstStyle/>
          <a:p>
            <a:pPr indent="0" marL="0">
              <a:buNone/>
            </a:pPr>
            <a:r>
              <a:rPr lang="en-US" sz="950" b="1" spc="200" kern="0" dirty="0">
                <a:solidFill>
                  <a:srgbClr val="E03E3E"/>
                </a:solidFill>
                <a:latin typeface="Arial" pitchFamily="34" charset="0"/>
                <a:ea typeface="Arial" pitchFamily="34" charset="-122"/>
                <a:cs typeface="Arial" pitchFamily="34" charset="-120"/>
              </a:rPr>
              <a:t>STORE</a:t>
            </a:r>
            <a:endParaRPr lang="en-US" sz="950" dirty="0"/>
          </a:p>
        </p:txBody>
      </p:sp>
      <p:sp>
        <p:nvSpPr>
          <p:cNvPr id="20" name="Text 18"/>
          <p:cNvSpPr txBox="1"/>
          <p:nvPr/>
        </p:nvSpPr>
        <p:spPr>
          <a:xfrm>
            <a:off x="5308275" y="2084832"/>
            <a:ext cx="1575145" cy="292608"/>
          </a:xfrm>
          <a:prstGeom prst="rect">
            <a:avLst/>
          </a:prstGeom>
          <a:noFill/>
          <a:ln/>
        </p:spPr>
        <p:txBody>
          <a:bodyPr wrap="square" lIns="0" tIns="0" rIns="0" bIns="0" rtlCol="0" anchor="ctr"/>
          <a:lstStyle/>
          <a:p>
            <a:pPr indent="0" marL="0">
              <a:buNone/>
            </a:pPr>
            <a:r>
              <a:rPr lang="en-US" sz="1400" b="1" dirty="0">
                <a:solidFill>
                  <a:srgbClr val="1B1F24"/>
                </a:solidFill>
                <a:latin typeface="Arial" pitchFamily="34" charset="0"/>
                <a:ea typeface="Arial" pitchFamily="34" charset="-122"/>
                <a:cs typeface="Arial" pitchFamily="34" charset="-120"/>
              </a:rPr>
              <a:t>State</a:t>
            </a:r>
            <a:endParaRPr lang="en-US" sz="1400" dirty="0"/>
          </a:p>
        </p:txBody>
      </p:sp>
      <p:sp>
        <p:nvSpPr>
          <p:cNvPr id="21" name="Text 19"/>
          <p:cNvSpPr txBox="1"/>
          <p:nvPr/>
        </p:nvSpPr>
        <p:spPr>
          <a:xfrm>
            <a:off x="5308275" y="2414016"/>
            <a:ext cx="1620865" cy="960120"/>
          </a:xfrm>
          <a:prstGeom prst="rect">
            <a:avLst/>
          </a:prstGeom>
          <a:noFill/>
          <a:ln/>
        </p:spPr>
        <p:txBody>
          <a:bodyPr wrap="square" lIns="0" tIns="0" rIns="0" bIns="0" rtlCol="0" anchor="t"/>
          <a:lstStyle/>
          <a:p>
            <a:pPr indent="0" marL="0">
              <a:buNone/>
            </a:pPr>
            <a:r>
              <a:rPr lang="en-US" sz="1150" dirty="0">
                <a:solidFill>
                  <a:srgbClr val="5E6875"/>
                </a:solidFill>
                <a:latin typeface="Calibri" pitchFamily="34" charset="0"/>
                <a:ea typeface="Calibri" pitchFamily="34" charset="-122"/>
                <a:cs typeface="Calibri" pitchFamily="34" charset="-120"/>
              </a:rPr>
              <a:t>PostGIS for roads and hospitals, TimescaleDB for telemetry, Redis for live state</a:t>
            </a:r>
            <a:endParaRPr lang="en-US" sz="1150" dirty="0"/>
          </a:p>
        </p:txBody>
      </p:sp>
      <p:sp>
        <p:nvSpPr>
          <p:cNvPr id="22" name="Shape 20"/>
          <p:cNvSpPr/>
          <p:nvPr/>
        </p:nvSpPr>
        <p:spPr>
          <a:xfrm>
            <a:off x="7157740" y="2468880"/>
            <a:ext cx="164592" cy="219456"/>
          </a:xfrm>
          <a:prstGeom prst="rightArrow">
            <a:avLst/>
          </a:prstGeom>
          <a:solidFill>
            <a:srgbClr val="9AA4B1"/>
          </a:solidFill>
          <a:ln w="12700">
            <a:solidFill>
              <a:srgbClr val="9AA4B1"/>
            </a:solidFill>
            <a:prstDash val="solid"/>
          </a:ln>
        </p:spPr>
      </p:sp>
      <p:sp>
        <p:nvSpPr>
          <p:cNvPr id="23" name="Shape 21"/>
          <p:cNvSpPr/>
          <p:nvPr/>
        </p:nvSpPr>
        <p:spPr>
          <a:xfrm>
            <a:off x="7413772" y="1737360"/>
            <a:ext cx="1940905" cy="1691640"/>
          </a:xfrm>
          <a:prstGeom prst="roundRect">
            <a:avLst>
              <a:gd name="adj" fmla="val 4324"/>
            </a:avLst>
          </a:prstGeom>
          <a:solidFill>
            <a:srgbClr val="F3F5F7"/>
          </a:solidFill>
          <a:ln w="12700">
            <a:solidFill>
              <a:srgbClr val="F3F5F7"/>
            </a:solidFill>
            <a:prstDash val="solid"/>
          </a:ln>
        </p:spPr>
      </p:sp>
      <p:sp>
        <p:nvSpPr>
          <p:cNvPr id="24" name="Text 22"/>
          <p:cNvSpPr txBox="1"/>
          <p:nvPr/>
        </p:nvSpPr>
        <p:spPr>
          <a:xfrm>
            <a:off x="7596652" y="1874520"/>
            <a:ext cx="1575145" cy="201168"/>
          </a:xfrm>
          <a:prstGeom prst="rect">
            <a:avLst/>
          </a:prstGeom>
          <a:noFill/>
          <a:ln/>
        </p:spPr>
        <p:txBody>
          <a:bodyPr wrap="square" lIns="0" tIns="0" rIns="0" bIns="0" rtlCol="0" anchor="ctr"/>
          <a:lstStyle/>
          <a:p>
            <a:pPr indent="0" marL="0">
              <a:buNone/>
            </a:pPr>
            <a:r>
              <a:rPr lang="en-US" sz="950" b="1" spc="200" kern="0" dirty="0">
                <a:solidFill>
                  <a:srgbClr val="E03E3E"/>
                </a:solidFill>
                <a:latin typeface="Arial" pitchFamily="34" charset="0"/>
                <a:ea typeface="Arial" pitchFamily="34" charset="-122"/>
                <a:cs typeface="Arial" pitchFamily="34" charset="-120"/>
              </a:rPr>
              <a:t>MODEL</a:t>
            </a:r>
            <a:endParaRPr lang="en-US" sz="950" dirty="0"/>
          </a:p>
        </p:txBody>
      </p:sp>
      <p:sp>
        <p:nvSpPr>
          <p:cNvPr id="25" name="Text 23"/>
          <p:cNvSpPr txBox="1"/>
          <p:nvPr/>
        </p:nvSpPr>
        <p:spPr>
          <a:xfrm>
            <a:off x="7596652" y="2084832"/>
            <a:ext cx="1575145" cy="292608"/>
          </a:xfrm>
          <a:prstGeom prst="rect">
            <a:avLst/>
          </a:prstGeom>
          <a:noFill/>
          <a:ln/>
        </p:spPr>
        <p:txBody>
          <a:bodyPr wrap="square" lIns="0" tIns="0" rIns="0" bIns="0" rtlCol="0" anchor="ctr"/>
          <a:lstStyle/>
          <a:p>
            <a:pPr indent="0" marL="0">
              <a:buNone/>
            </a:pPr>
            <a:r>
              <a:rPr lang="en-US" sz="1400" b="1" dirty="0">
                <a:solidFill>
                  <a:srgbClr val="1B1F24"/>
                </a:solidFill>
                <a:latin typeface="Arial" pitchFamily="34" charset="0"/>
                <a:ea typeface="Arial" pitchFamily="34" charset="-122"/>
                <a:cs typeface="Arial" pitchFamily="34" charset="-120"/>
              </a:rPr>
              <a:t>Prediction</a:t>
            </a:r>
            <a:endParaRPr lang="en-US" sz="1400" dirty="0"/>
          </a:p>
        </p:txBody>
      </p:sp>
      <p:sp>
        <p:nvSpPr>
          <p:cNvPr id="26" name="Text 24"/>
          <p:cNvSpPr txBox="1"/>
          <p:nvPr/>
        </p:nvSpPr>
        <p:spPr>
          <a:xfrm>
            <a:off x="7596652" y="2414016"/>
            <a:ext cx="1620865" cy="960120"/>
          </a:xfrm>
          <a:prstGeom prst="rect">
            <a:avLst/>
          </a:prstGeom>
          <a:noFill/>
          <a:ln/>
        </p:spPr>
        <p:txBody>
          <a:bodyPr wrap="square" lIns="0" tIns="0" rIns="0" bIns="0" rtlCol="0" anchor="t"/>
          <a:lstStyle/>
          <a:p>
            <a:pPr indent="0" marL="0">
              <a:buNone/>
            </a:pPr>
            <a:r>
              <a:rPr lang="en-US" sz="1150" dirty="0">
                <a:solidFill>
                  <a:srgbClr val="5E6875"/>
                </a:solidFill>
                <a:latin typeface="Calibri" pitchFamily="34" charset="0"/>
                <a:ea typeface="Calibri" pitchFamily="34" charset="-122"/>
                <a:cs typeface="Calibri" pitchFamily="34" charset="-120"/>
              </a:rPr>
              <a:t>GNN + LSTM fusion in PyTorch Geometric, with an XGBoost baseline</a:t>
            </a:r>
            <a:endParaRPr lang="en-US" sz="1150" dirty="0"/>
          </a:p>
        </p:txBody>
      </p:sp>
      <p:sp>
        <p:nvSpPr>
          <p:cNvPr id="27" name="Shape 25"/>
          <p:cNvSpPr/>
          <p:nvPr/>
        </p:nvSpPr>
        <p:spPr>
          <a:xfrm>
            <a:off x="9446118" y="2468880"/>
            <a:ext cx="164592" cy="219456"/>
          </a:xfrm>
          <a:prstGeom prst="rightArrow">
            <a:avLst/>
          </a:prstGeom>
          <a:solidFill>
            <a:srgbClr val="9AA4B1"/>
          </a:solidFill>
          <a:ln w="12700">
            <a:solidFill>
              <a:srgbClr val="9AA4B1"/>
            </a:solidFill>
            <a:prstDash val="solid"/>
          </a:ln>
        </p:spPr>
      </p:sp>
      <p:sp>
        <p:nvSpPr>
          <p:cNvPr id="28" name="Shape 26"/>
          <p:cNvSpPr/>
          <p:nvPr/>
        </p:nvSpPr>
        <p:spPr>
          <a:xfrm>
            <a:off x="9702150" y="1737360"/>
            <a:ext cx="1940905" cy="1691640"/>
          </a:xfrm>
          <a:prstGeom prst="roundRect">
            <a:avLst>
              <a:gd name="adj" fmla="val 4324"/>
            </a:avLst>
          </a:prstGeom>
          <a:solidFill>
            <a:srgbClr val="F3F5F7"/>
          </a:solidFill>
          <a:ln w="12700">
            <a:solidFill>
              <a:srgbClr val="F3F5F7"/>
            </a:solidFill>
            <a:prstDash val="solid"/>
          </a:ln>
        </p:spPr>
      </p:sp>
      <p:sp>
        <p:nvSpPr>
          <p:cNvPr id="29" name="Text 27"/>
          <p:cNvSpPr txBox="1"/>
          <p:nvPr/>
        </p:nvSpPr>
        <p:spPr>
          <a:xfrm>
            <a:off x="9885030" y="1874520"/>
            <a:ext cx="1575145" cy="201168"/>
          </a:xfrm>
          <a:prstGeom prst="rect">
            <a:avLst/>
          </a:prstGeom>
          <a:noFill/>
          <a:ln/>
        </p:spPr>
        <p:txBody>
          <a:bodyPr wrap="square" lIns="0" tIns="0" rIns="0" bIns="0" rtlCol="0" anchor="ctr"/>
          <a:lstStyle/>
          <a:p>
            <a:pPr indent="0" marL="0">
              <a:buNone/>
            </a:pPr>
            <a:r>
              <a:rPr lang="en-US" sz="950" b="1" spc="200" kern="0" dirty="0">
                <a:solidFill>
                  <a:srgbClr val="E03E3E"/>
                </a:solidFill>
                <a:latin typeface="Arial" pitchFamily="34" charset="0"/>
                <a:ea typeface="Arial" pitchFamily="34" charset="-122"/>
                <a:cs typeface="Arial" pitchFamily="34" charset="-120"/>
              </a:rPr>
              <a:t>DECIDE</a:t>
            </a:r>
            <a:endParaRPr lang="en-US" sz="950" dirty="0"/>
          </a:p>
        </p:txBody>
      </p:sp>
      <p:sp>
        <p:nvSpPr>
          <p:cNvPr id="30" name="Text 28"/>
          <p:cNvSpPr txBox="1"/>
          <p:nvPr/>
        </p:nvSpPr>
        <p:spPr>
          <a:xfrm>
            <a:off x="9885030" y="2084832"/>
            <a:ext cx="1575145" cy="292608"/>
          </a:xfrm>
          <a:prstGeom prst="rect">
            <a:avLst/>
          </a:prstGeom>
          <a:noFill/>
          <a:ln/>
        </p:spPr>
        <p:txBody>
          <a:bodyPr wrap="square" lIns="0" tIns="0" rIns="0" bIns="0" rtlCol="0" anchor="ctr"/>
          <a:lstStyle/>
          <a:p>
            <a:pPr indent="0" marL="0">
              <a:buNone/>
            </a:pPr>
            <a:r>
              <a:rPr lang="en-US" sz="1400" b="1" dirty="0">
                <a:solidFill>
                  <a:srgbClr val="1B1F24"/>
                </a:solidFill>
                <a:latin typeface="Arial" pitchFamily="34" charset="0"/>
                <a:ea typeface="Arial" pitchFamily="34" charset="-122"/>
                <a:cs typeface="Arial" pitchFamily="34" charset="-120"/>
              </a:rPr>
              <a:t>Action &amp; UI</a:t>
            </a:r>
            <a:endParaRPr lang="en-US" sz="1400" dirty="0"/>
          </a:p>
        </p:txBody>
      </p:sp>
      <p:sp>
        <p:nvSpPr>
          <p:cNvPr id="31" name="Text 29"/>
          <p:cNvSpPr txBox="1"/>
          <p:nvPr/>
        </p:nvSpPr>
        <p:spPr>
          <a:xfrm>
            <a:off x="9885030" y="2414016"/>
            <a:ext cx="1620865" cy="960120"/>
          </a:xfrm>
          <a:prstGeom prst="rect">
            <a:avLst/>
          </a:prstGeom>
          <a:noFill/>
          <a:ln/>
        </p:spPr>
        <p:txBody>
          <a:bodyPr wrap="square" lIns="0" tIns="0" rIns="0" bIns="0" rtlCol="0" anchor="t"/>
          <a:lstStyle/>
          <a:p>
            <a:pPr indent="0" marL="0">
              <a:buNone/>
            </a:pPr>
            <a:r>
              <a:rPr lang="en-US" sz="1150" dirty="0">
                <a:solidFill>
                  <a:srgbClr val="5E6875"/>
                </a:solidFill>
                <a:latin typeface="Calibri" pitchFamily="34" charset="0"/>
                <a:ea typeface="Calibri" pitchFamily="34" charset="-122"/>
                <a:cs typeface="Calibri" pitchFamily="34" charset="-120"/>
              </a:rPr>
              <a:t>Route scoring, hospital eligibility, human approval; FastAPI + React/Leaflet dashboard</a:t>
            </a:r>
            <a:endParaRPr lang="en-US" sz="1150" dirty="0"/>
          </a:p>
        </p:txBody>
      </p:sp>
      <p:sp>
        <p:nvSpPr>
          <p:cNvPr id="32" name="Text 30"/>
          <p:cNvSpPr txBox="1"/>
          <p:nvPr/>
        </p:nvSpPr>
        <p:spPr>
          <a:xfrm>
            <a:off x="548640" y="3657600"/>
            <a:ext cx="5394960" cy="320040"/>
          </a:xfrm>
          <a:prstGeom prst="rect">
            <a:avLst/>
          </a:prstGeom>
          <a:noFill/>
          <a:ln/>
        </p:spPr>
        <p:txBody>
          <a:bodyPr wrap="square" lIns="0" tIns="0" rIns="0" bIns="0" rtlCol="0" anchor="ctr"/>
          <a:lstStyle/>
          <a:p>
            <a:pPr indent="0" marL="0">
              <a:buNone/>
            </a:pPr>
            <a:r>
              <a:rPr lang="en-US" sz="1600" b="1" dirty="0">
                <a:solidFill>
                  <a:srgbClr val="1B1F24"/>
                </a:solidFill>
                <a:latin typeface="Arial" pitchFamily="34" charset="0"/>
                <a:ea typeface="Arial" pitchFamily="34" charset="-122"/>
                <a:cs typeface="Arial" pitchFamily="34" charset="-120"/>
              </a:rPr>
              <a:t>One model, three outputs</a:t>
            </a:r>
            <a:endParaRPr lang="en-US" sz="1600" dirty="0"/>
          </a:p>
        </p:txBody>
      </p:sp>
      <p:sp>
        <p:nvSpPr>
          <p:cNvPr id="33" name="Shape 31"/>
          <p:cNvSpPr/>
          <p:nvPr/>
        </p:nvSpPr>
        <p:spPr>
          <a:xfrm>
            <a:off x="548640" y="4069080"/>
            <a:ext cx="5440680" cy="731520"/>
          </a:xfrm>
          <a:prstGeom prst="roundRect">
            <a:avLst>
              <a:gd name="adj" fmla="val 10000"/>
            </a:avLst>
          </a:prstGeom>
          <a:solidFill>
            <a:srgbClr val="12161C"/>
          </a:solidFill>
          <a:ln w="12700">
            <a:solidFill>
              <a:srgbClr val="12161C"/>
            </a:solidFill>
            <a:prstDash val="solid"/>
          </a:ln>
        </p:spPr>
      </p:sp>
      <p:sp>
        <p:nvSpPr>
          <p:cNvPr id="34" name="Text 32"/>
          <p:cNvSpPr txBox="1"/>
          <p:nvPr/>
        </p:nvSpPr>
        <p:spPr>
          <a:xfrm>
            <a:off x="777240" y="4069080"/>
            <a:ext cx="4983480" cy="7315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Road GNN (spatial) + LSTM (temporal)</a:t>
            </a:r>
            <a:endParaRPr lang="en-US" sz="1300" dirty="0"/>
          </a:p>
          <a:p>
            <a:pPr indent="0" marL="0">
              <a:buNone/>
            </a:pPr>
            <a:r>
              <a:rPr lang="en-US" sz="1300" dirty="0">
                <a:solidFill>
                  <a:srgbClr val="9DA7B3"/>
                </a:solidFill>
                <a:latin typeface="Calibri" pitchFamily="34" charset="0"/>
                <a:ea typeface="Calibri" pitchFamily="34" charset="-122"/>
                <a:cs typeface="Calibri" pitchFamily="34" charset="-120"/>
              </a:rPr>
              <a:t>+ weather, ED and mission features  →  fusion MLP</a:t>
            </a:r>
            <a:endParaRPr lang="en-US" sz="1300" dirty="0"/>
          </a:p>
        </p:txBody>
      </p:sp>
      <p:sp>
        <p:nvSpPr>
          <p:cNvPr id="35" name="Shape 33"/>
          <p:cNvSpPr/>
          <p:nvPr/>
        </p:nvSpPr>
        <p:spPr>
          <a:xfrm>
            <a:off x="1394460" y="4800600"/>
            <a:ext cx="0" cy="228600"/>
          </a:xfrm>
          <a:prstGeom prst="line">
            <a:avLst/>
          </a:prstGeom>
          <a:noFill/>
          <a:ln w="19050">
            <a:solidFill>
              <a:srgbClr val="9AA4B1"/>
            </a:solidFill>
            <a:prstDash val="solid"/>
          </a:ln>
        </p:spPr>
      </p:sp>
      <p:sp>
        <p:nvSpPr>
          <p:cNvPr id="36" name="Shape 34"/>
          <p:cNvSpPr/>
          <p:nvPr/>
        </p:nvSpPr>
        <p:spPr>
          <a:xfrm>
            <a:off x="548640" y="5029200"/>
            <a:ext cx="1691640" cy="868680"/>
          </a:xfrm>
          <a:prstGeom prst="roundRect">
            <a:avLst>
              <a:gd name="adj" fmla="val 8421"/>
            </a:avLst>
          </a:prstGeom>
          <a:solidFill>
            <a:srgbClr val="F3F5F7"/>
          </a:solidFill>
          <a:ln w="12700">
            <a:solidFill>
              <a:srgbClr val="F3F5F7"/>
            </a:solidFill>
            <a:prstDash val="solid"/>
          </a:ln>
        </p:spPr>
      </p:sp>
      <p:sp>
        <p:nvSpPr>
          <p:cNvPr id="37" name="Text 35"/>
          <p:cNvSpPr txBox="1"/>
          <p:nvPr/>
        </p:nvSpPr>
        <p:spPr>
          <a:xfrm>
            <a:off x="685800" y="5029200"/>
            <a:ext cx="1417320" cy="868680"/>
          </a:xfrm>
          <a:prstGeom prst="rect">
            <a:avLst/>
          </a:prstGeom>
          <a:noFill/>
          <a:ln/>
        </p:spPr>
        <p:txBody>
          <a:bodyPr wrap="square" lIns="0" tIns="0" rIns="0" bIns="0" rtlCol="0" anchor="ctr"/>
          <a:lstStyle/>
          <a:p>
            <a:pPr algn="ctr" indent="0" marL="0">
              <a:spcAft>
                <a:spcPts val="200"/>
              </a:spcAft>
              <a:buNone/>
            </a:pPr>
            <a:r>
              <a:rPr lang="en-US" sz="1250" b="1" dirty="0">
                <a:solidFill>
                  <a:srgbClr val="1B1F24"/>
                </a:solidFill>
                <a:latin typeface="Calibri" pitchFamily="34" charset="0"/>
                <a:ea typeface="Calibri" pitchFamily="34" charset="-122"/>
                <a:cs typeface="Calibri" pitchFamily="34" charset="-120"/>
              </a:rPr>
              <a:t>Failure probability</a:t>
            </a:r>
            <a:endParaRPr lang="en-US" sz="1250" dirty="0"/>
          </a:p>
          <a:p>
            <a:pPr algn="ctr" indent="0" marL="0">
              <a:spcAft>
                <a:spcPts val="200"/>
              </a:spcAft>
              <a:buNone/>
            </a:pPr>
            <a:r>
              <a:rPr lang="en-US" sz="1150" dirty="0">
                <a:solidFill>
                  <a:srgbClr val="5E6875"/>
                </a:solidFill>
                <a:latin typeface="Calibri" pitchFamily="34" charset="0"/>
                <a:ea typeface="Calibri" pitchFamily="34" charset="-122"/>
                <a:cs typeface="Calibri" pitchFamily="34" charset="-120"/>
              </a:rPr>
              <a:t>Focal loss</a:t>
            </a:r>
            <a:endParaRPr lang="en-US" sz="1250" dirty="0"/>
          </a:p>
        </p:txBody>
      </p:sp>
      <p:sp>
        <p:nvSpPr>
          <p:cNvPr id="38" name="Shape 36"/>
          <p:cNvSpPr/>
          <p:nvPr/>
        </p:nvSpPr>
        <p:spPr>
          <a:xfrm>
            <a:off x="3268980" y="4800600"/>
            <a:ext cx="0" cy="228600"/>
          </a:xfrm>
          <a:prstGeom prst="line">
            <a:avLst/>
          </a:prstGeom>
          <a:noFill/>
          <a:ln w="19050">
            <a:solidFill>
              <a:srgbClr val="9AA4B1"/>
            </a:solidFill>
            <a:prstDash val="solid"/>
          </a:ln>
        </p:spPr>
      </p:sp>
      <p:sp>
        <p:nvSpPr>
          <p:cNvPr id="39" name="Shape 37"/>
          <p:cNvSpPr/>
          <p:nvPr/>
        </p:nvSpPr>
        <p:spPr>
          <a:xfrm>
            <a:off x="2423160" y="5029200"/>
            <a:ext cx="1691640" cy="868680"/>
          </a:xfrm>
          <a:prstGeom prst="roundRect">
            <a:avLst>
              <a:gd name="adj" fmla="val 8421"/>
            </a:avLst>
          </a:prstGeom>
          <a:solidFill>
            <a:srgbClr val="F3F5F7"/>
          </a:solidFill>
          <a:ln w="12700">
            <a:solidFill>
              <a:srgbClr val="F3F5F7"/>
            </a:solidFill>
            <a:prstDash val="solid"/>
          </a:ln>
        </p:spPr>
      </p:sp>
      <p:sp>
        <p:nvSpPr>
          <p:cNvPr id="40" name="Text 38"/>
          <p:cNvSpPr txBox="1"/>
          <p:nvPr/>
        </p:nvSpPr>
        <p:spPr>
          <a:xfrm>
            <a:off x="2560320" y="5029200"/>
            <a:ext cx="1417320" cy="868680"/>
          </a:xfrm>
          <a:prstGeom prst="rect">
            <a:avLst/>
          </a:prstGeom>
          <a:noFill/>
          <a:ln/>
        </p:spPr>
        <p:txBody>
          <a:bodyPr wrap="square" lIns="0" tIns="0" rIns="0" bIns="0" rtlCol="0" anchor="ctr"/>
          <a:lstStyle/>
          <a:p>
            <a:pPr algn="ctr" indent="0" marL="0">
              <a:spcAft>
                <a:spcPts val="200"/>
              </a:spcAft>
              <a:buNone/>
            </a:pPr>
            <a:r>
              <a:rPr lang="en-US" sz="1250" b="1" dirty="0">
                <a:solidFill>
                  <a:srgbClr val="1B1F24"/>
                </a:solidFill>
                <a:latin typeface="Calibri" pitchFamily="34" charset="0"/>
                <a:ea typeface="Calibri" pitchFamily="34" charset="-122"/>
                <a:cs typeface="Calibri" pitchFamily="34" charset="-120"/>
              </a:rPr>
              <a:t>Minutes late (ΔETA)</a:t>
            </a:r>
            <a:endParaRPr lang="en-US" sz="1250" dirty="0"/>
          </a:p>
          <a:p>
            <a:pPr algn="ctr" indent="0" marL="0">
              <a:spcAft>
                <a:spcPts val="200"/>
              </a:spcAft>
              <a:buNone/>
            </a:pPr>
            <a:r>
              <a:rPr lang="en-US" sz="1150" dirty="0">
                <a:solidFill>
                  <a:srgbClr val="5E6875"/>
                </a:solidFill>
                <a:latin typeface="Calibri" pitchFamily="34" charset="0"/>
                <a:ea typeface="Calibri" pitchFamily="34" charset="-122"/>
                <a:cs typeface="Calibri" pitchFamily="34" charset="-120"/>
              </a:rPr>
              <a:t>Huber loss</a:t>
            </a:r>
            <a:endParaRPr lang="en-US" sz="1250" dirty="0"/>
          </a:p>
        </p:txBody>
      </p:sp>
      <p:sp>
        <p:nvSpPr>
          <p:cNvPr id="41" name="Shape 39"/>
          <p:cNvSpPr/>
          <p:nvPr/>
        </p:nvSpPr>
        <p:spPr>
          <a:xfrm>
            <a:off x="5143500" y="4800600"/>
            <a:ext cx="0" cy="228600"/>
          </a:xfrm>
          <a:prstGeom prst="line">
            <a:avLst/>
          </a:prstGeom>
          <a:noFill/>
          <a:ln w="19050">
            <a:solidFill>
              <a:srgbClr val="9AA4B1"/>
            </a:solidFill>
            <a:prstDash val="solid"/>
          </a:ln>
        </p:spPr>
      </p:sp>
      <p:sp>
        <p:nvSpPr>
          <p:cNvPr id="42" name="Shape 40"/>
          <p:cNvSpPr/>
          <p:nvPr/>
        </p:nvSpPr>
        <p:spPr>
          <a:xfrm>
            <a:off x="4297680" y="5029200"/>
            <a:ext cx="1691640" cy="868680"/>
          </a:xfrm>
          <a:prstGeom prst="roundRect">
            <a:avLst>
              <a:gd name="adj" fmla="val 8421"/>
            </a:avLst>
          </a:prstGeom>
          <a:solidFill>
            <a:srgbClr val="F3F5F7"/>
          </a:solidFill>
          <a:ln w="12700">
            <a:solidFill>
              <a:srgbClr val="F3F5F7"/>
            </a:solidFill>
            <a:prstDash val="solid"/>
          </a:ln>
        </p:spPr>
      </p:sp>
      <p:sp>
        <p:nvSpPr>
          <p:cNvPr id="43" name="Text 41"/>
          <p:cNvSpPr txBox="1"/>
          <p:nvPr/>
        </p:nvSpPr>
        <p:spPr>
          <a:xfrm>
            <a:off x="4434840" y="5029200"/>
            <a:ext cx="1417320" cy="868680"/>
          </a:xfrm>
          <a:prstGeom prst="rect">
            <a:avLst/>
          </a:prstGeom>
          <a:noFill/>
          <a:ln/>
        </p:spPr>
        <p:txBody>
          <a:bodyPr wrap="square" lIns="0" tIns="0" rIns="0" bIns="0" rtlCol="0" anchor="ctr"/>
          <a:lstStyle/>
          <a:p>
            <a:pPr algn="ctr" indent="0" marL="0">
              <a:spcAft>
                <a:spcPts val="200"/>
              </a:spcAft>
              <a:buNone/>
            </a:pPr>
            <a:r>
              <a:rPr lang="en-US" sz="1250" b="1" dirty="0">
                <a:solidFill>
                  <a:srgbClr val="1B1F24"/>
                </a:solidFill>
                <a:latin typeface="Calibri" pitchFamily="34" charset="0"/>
                <a:ea typeface="Calibri" pitchFamily="34" charset="-122"/>
                <a:cs typeface="Calibri" pitchFamily="34" charset="-120"/>
              </a:rPr>
              <a:t>6-factor attribution</a:t>
            </a:r>
            <a:endParaRPr lang="en-US" sz="1250" dirty="0"/>
          </a:p>
          <a:p>
            <a:pPr algn="ctr" indent="0" marL="0">
              <a:spcAft>
                <a:spcPts val="200"/>
              </a:spcAft>
              <a:buNone/>
            </a:pPr>
            <a:r>
              <a:rPr lang="en-US" sz="1150" dirty="0">
                <a:solidFill>
                  <a:srgbClr val="5E6875"/>
                </a:solidFill>
                <a:latin typeface="Calibri" pitchFamily="34" charset="0"/>
                <a:ea typeface="Calibri" pitchFamily="34" charset="-122"/>
                <a:cs typeface="Calibri" pitchFamily="34" charset="-120"/>
              </a:rPr>
              <a:t>Multi-label BCE</a:t>
            </a:r>
            <a:endParaRPr lang="en-US" sz="1250" dirty="0"/>
          </a:p>
        </p:txBody>
      </p:sp>
      <p:sp>
        <p:nvSpPr>
          <p:cNvPr id="44" name="Text 42"/>
          <p:cNvSpPr txBox="1"/>
          <p:nvPr/>
        </p:nvSpPr>
        <p:spPr>
          <a:xfrm>
            <a:off x="6355080" y="3657600"/>
            <a:ext cx="5287975" cy="320040"/>
          </a:xfrm>
          <a:prstGeom prst="rect">
            <a:avLst/>
          </a:prstGeom>
          <a:noFill/>
          <a:ln/>
        </p:spPr>
        <p:txBody>
          <a:bodyPr wrap="square" lIns="0" tIns="0" rIns="0" bIns="0" rtlCol="0" anchor="ctr"/>
          <a:lstStyle/>
          <a:p>
            <a:pPr indent="0" marL="0">
              <a:buNone/>
            </a:pPr>
            <a:r>
              <a:rPr lang="en-US" sz="1600" b="1" dirty="0">
                <a:solidFill>
                  <a:srgbClr val="1B1F24"/>
                </a:solidFill>
                <a:latin typeface="Arial" pitchFamily="34" charset="0"/>
                <a:ea typeface="Arial" pitchFamily="34" charset="-122"/>
                <a:cs typeface="Arial" pitchFamily="34" charset="-120"/>
              </a:rPr>
              <a:t>How we prove it works</a:t>
            </a:r>
            <a:endParaRPr lang="en-US" sz="1600" dirty="0"/>
          </a:p>
        </p:txBody>
      </p:sp>
      <p:sp>
        <p:nvSpPr>
          <p:cNvPr id="45" name="Shape 43"/>
          <p:cNvSpPr/>
          <p:nvPr/>
        </p:nvSpPr>
        <p:spPr>
          <a:xfrm>
            <a:off x="6355080" y="4069080"/>
            <a:ext cx="2148840" cy="1828800"/>
          </a:xfrm>
          <a:prstGeom prst="roundRect">
            <a:avLst>
              <a:gd name="adj" fmla="val 4000"/>
            </a:avLst>
          </a:prstGeom>
          <a:solidFill>
            <a:srgbClr val="E03E3E"/>
          </a:solidFill>
          <a:ln w="12700">
            <a:solidFill>
              <a:srgbClr val="E03E3E"/>
            </a:solidFill>
            <a:prstDash val="solid"/>
          </a:ln>
        </p:spPr>
      </p:sp>
      <p:sp>
        <p:nvSpPr>
          <p:cNvPr id="46" name="Text 44"/>
          <p:cNvSpPr txBox="1"/>
          <p:nvPr/>
        </p:nvSpPr>
        <p:spPr>
          <a:xfrm>
            <a:off x="6537960" y="4160520"/>
            <a:ext cx="1783080" cy="1645920"/>
          </a:xfrm>
          <a:prstGeom prst="rect">
            <a:avLst/>
          </a:prstGeom>
          <a:noFill/>
          <a:ln/>
        </p:spPr>
        <p:txBody>
          <a:bodyPr wrap="square" lIns="0" tIns="0" rIns="0" bIns="0" rtlCol="0" anchor="ctr"/>
          <a:lstStyle/>
          <a:p>
            <a:pPr indent="0" marL="0">
              <a:spcAft>
                <a:spcPts val="400"/>
              </a:spcAft>
              <a:buNone/>
            </a:pPr>
            <a:r>
              <a:rPr lang="en-US" sz="950" b="1" spc="100" kern="0" dirty="0">
                <a:solidFill>
                  <a:srgbClr val="FFFFFF"/>
                </a:solidFill>
                <a:latin typeface="Arial" pitchFamily="34" charset="0"/>
                <a:ea typeface="Arial" pitchFamily="34" charset="-122"/>
                <a:cs typeface="Arial" pitchFamily="34" charset="-120"/>
              </a:rPr>
              <a:t>HEADLINE METRIC</a:t>
            </a:r>
            <a:endParaRPr lang="en-US" sz="950" dirty="0"/>
          </a:p>
          <a:p>
            <a:pPr indent="0" marL="0">
              <a:spcAft>
                <a:spcPts val="400"/>
              </a:spcAft>
              <a:buNone/>
            </a:pPr>
            <a:r>
              <a:rPr lang="en-US" sz="2200" b="1" dirty="0">
                <a:solidFill>
                  <a:srgbClr val="FFFFFF"/>
                </a:solidFill>
                <a:latin typeface="Arial" pitchFamily="34" charset="0"/>
                <a:ea typeface="Arial" pitchFamily="34" charset="-122"/>
                <a:cs typeface="Arial" pitchFamily="34" charset="-120"/>
              </a:rPr>
              <a:t>Lead time</a:t>
            </a:r>
            <a:endParaRPr lang="en-US" sz="950" dirty="0"/>
          </a:p>
          <a:p>
            <a:pPr indent="0" marL="0">
              <a:spcAft>
                <a:spcPts val="400"/>
              </a:spcAft>
              <a:buNone/>
            </a:pPr>
            <a:r>
              <a:rPr lang="en-US" sz="1150" dirty="0">
                <a:solidFill>
                  <a:srgbClr val="FFFFFF"/>
                </a:solidFill>
                <a:latin typeface="Calibri" pitchFamily="34" charset="0"/>
                <a:ea typeface="Calibri" pitchFamily="34" charset="-122"/>
                <a:cs typeface="Calibri" pitchFamily="34" charset="-120"/>
              </a:rPr>
              <a:t>Minutes of warning before the real failure, plus minutes the recommendation would save.</a:t>
            </a:r>
            <a:endParaRPr lang="en-US" sz="950" dirty="0"/>
          </a:p>
        </p:txBody>
      </p:sp>
      <p:sp>
        <p:nvSpPr>
          <p:cNvPr id="47" name="Text 45"/>
          <p:cNvSpPr txBox="1"/>
          <p:nvPr/>
        </p:nvSpPr>
        <p:spPr>
          <a:xfrm>
            <a:off x="8686800" y="4069080"/>
            <a:ext cx="2956255" cy="182880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1F24"/>
                </a:solidFill>
                <a:latin typeface="Calibri" pitchFamily="34" charset="0"/>
                <a:ea typeface="Calibri" pitchFamily="34" charset="-122"/>
                <a:cs typeface="Calibri" pitchFamily="34" charset="-120"/>
              </a:rPr>
              <a:t>Historical replay: re-run past trips step by step as if live</a:t>
            </a:r>
            <a:endParaRPr lang="en-US" sz="1250" dirty="0"/>
          </a:p>
          <a:p>
            <a:pPr marL="342900" indent="-342900">
              <a:spcAft>
                <a:spcPts val="600"/>
              </a:spcAft>
              <a:buSzPct val="100000"/>
              <a:buChar char="•"/>
            </a:pPr>
            <a:r>
              <a:rPr lang="en-US" sz="1250" dirty="0">
                <a:solidFill>
                  <a:srgbClr val="1B1F24"/>
                </a:solidFill>
                <a:latin typeface="Calibri" pitchFamily="34" charset="0"/>
                <a:ea typeface="Calibri" pitchFamily="34" charset="-122"/>
                <a:cs typeface="Calibri" pitchFamily="34" charset="-120"/>
              </a:rPr>
              <a:t>Baselines: median ETA, XGBoost, LSTM vs. GNN + LSTM</a:t>
            </a:r>
            <a:endParaRPr lang="en-US" sz="1250" dirty="0"/>
          </a:p>
          <a:p>
            <a:pPr marL="342900" indent="-342900">
              <a:spcAft>
                <a:spcPts val="600"/>
              </a:spcAft>
              <a:buSzPct val="100000"/>
              <a:buChar char="•"/>
            </a:pPr>
            <a:r>
              <a:rPr lang="en-US" sz="1250" dirty="0">
                <a:solidFill>
                  <a:srgbClr val="1B1F24"/>
                </a:solidFill>
                <a:latin typeface="Calibri" pitchFamily="34" charset="0"/>
                <a:ea typeface="Calibri" pitchFamily="34" charset="-122"/>
                <a:cs typeface="Calibri" pitchFamily="34" charset="-120"/>
              </a:rPr>
              <a:t>Classifier: PR-AUC, recall, F1, Brier score</a:t>
            </a:r>
            <a:endParaRPr lang="en-US" sz="1250" dirty="0"/>
          </a:p>
          <a:p>
            <a:pPr marL="342900" indent="-342900">
              <a:spcAft>
                <a:spcPts val="600"/>
              </a:spcAft>
              <a:buSzPct val="100000"/>
              <a:buChar char="•"/>
            </a:pPr>
            <a:r>
              <a:rPr lang="en-US" sz="1250" dirty="0">
                <a:solidFill>
                  <a:srgbClr val="1B1F24"/>
                </a:solidFill>
                <a:latin typeface="Calibri" pitchFamily="34" charset="0"/>
                <a:ea typeface="Calibri" pitchFamily="34" charset="-122"/>
                <a:cs typeface="Calibri" pitchFamily="34" charset="-120"/>
              </a:rPr>
              <a:t>ETA: MAE and P90 error</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 Ambulance Arrival Failure Before It Happens</dc:title>
  <dc:subject>PptxGenJS Presentation</dc:subject>
  <dc:creator>PptxGenJS</dc:creator>
  <cp:lastModifiedBy>PptxGenJS</cp:lastModifiedBy>
  <cp:revision>1</cp:revision>
  <dcterms:created xsi:type="dcterms:W3CDTF">2026-09-15T06:51:47Z</dcterms:created>
  <dcterms:modified xsi:type="dcterms:W3CDTF">2026-09-15T06:51:47Z</dcterms:modified>
</cp:coreProperties>
</file>